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0F5355-3C33-4273-B26E-EE50FE2E5146}">
  <a:tblStyle styleId="{EE0F5355-3C33-4273-B26E-EE50FE2E5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7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font" Target="fonts/Montserra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302c6c6a_4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a1302c6c6a_4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302c6c6a_4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a1302c6c6a_4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24d489fa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a24d489fac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302c6c6a_4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a1302c6c6a_4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24d489fac_1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24d489fac_1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is to introduce the concept that frontier AI model takes lot of time to train. Focus on lot then in next slide we will define the lot formally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24d489fac_1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24d489fac_1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is to introduce the concept that frontier AI model takes lot of time to train. Focus on lot then in next slide we will define the lot formally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4d489fac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24d489fac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None/>
              <a:defRPr b="1" sz="34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7"/>
          <p:cNvSpPr txBox="1"/>
          <p:nvPr/>
        </p:nvSpPr>
        <p:spPr>
          <a:xfrm>
            <a:off x="661475" y="322225"/>
            <a:ext cx="2751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 </a:t>
            </a:r>
            <a:endParaRPr b="1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661475" y="1152475"/>
            <a:ext cx="817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8A4E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540300" y="2990425"/>
            <a:ext cx="8093700" cy="16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9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 Heading-Body">
  <p:cSld name="TITLE_AND_BODY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286500"/>
            <a:ext cx="343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283150"/>
            <a:ext cx="8520600" cy="3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0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ertion-Evidence">
  <p:cSld name="TITLE_AND_BODY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311700" y="216425"/>
            <a:ext cx="8520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311700" y="1405125"/>
            <a:ext cx="8520600" cy="3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21"/>
          <p:cNvSpPr/>
          <p:nvPr/>
        </p:nvSpPr>
        <p:spPr>
          <a:xfrm>
            <a:off x="0" y="216419"/>
            <a:ext cx="152400" cy="9348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1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ertion-Evidence 1">
  <p:cSld name="TITLE_AND_BODY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11700" y="216425"/>
            <a:ext cx="8520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2"/>
          <p:cNvSpPr/>
          <p:nvPr/>
        </p:nvSpPr>
        <p:spPr>
          <a:xfrm>
            <a:off x="0" y="216419"/>
            <a:ext cx="152400" cy="9348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2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lection Spot">
  <p:cSld name="TITLE_AND_BODY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1456750" y="390550"/>
            <a:ext cx="73623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3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3"/>
          <p:cNvGrpSpPr/>
          <p:nvPr/>
        </p:nvGrpSpPr>
        <p:grpSpPr>
          <a:xfrm>
            <a:off x="275437" y="298844"/>
            <a:ext cx="934800" cy="934800"/>
            <a:chOff x="170337" y="194819"/>
            <a:chExt cx="934800" cy="934800"/>
          </a:xfrm>
        </p:grpSpPr>
        <p:sp>
          <p:nvSpPr>
            <p:cNvPr id="104" name="Google Shape;104;p23"/>
            <p:cNvSpPr/>
            <p:nvPr/>
          </p:nvSpPr>
          <p:spPr>
            <a:xfrm>
              <a:off x="170337" y="194819"/>
              <a:ext cx="934800" cy="934800"/>
            </a:xfrm>
            <a:prstGeom prst="ellipse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3"/>
            <p:cNvSpPr/>
            <p:nvPr/>
          </p:nvSpPr>
          <p:spPr>
            <a:xfrm>
              <a:off x="447325" y="409432"/>
              <a:ext cx="152400" cy="49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3"/>
            <p:cNvSpPr/>
            <p:nvPr/>
          </p:nvSpPr>
          <p:spPr>
            <a:xfrm>
              <a:off x="689375" y="409432"/>
              <a:ext cx="152400" cy="49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905400" y="1537450"/>
            <a:ext cx="7333200" cy="2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ipped Assertion-Evidence">
  <p:cSld name="TITLE_AND_BODY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311700" y="4026425"/>
            <a:ext cx="8520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0" y="4026419"/>
            <a:ext cx="152400" cy="9348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4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311700" y="1275238"/>
            <a:ext cx="3999900" cy="3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5"/>
          <p:cNvSpPr txBox="1"/>
          <p:nvPr>
            <p:ph idx="2" type="body"/>
          </p:nvPr>
        </p:nvSpPr>
        <p:spPr>
          <a:xfrm>
            <a:off x="4832400" y="1275238"/>
            <a:ext cx="3999900" cy="3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5"/>
          <p:cNvSpPr txBox="1"/>
          <p:nvPr>
            <p:ph type="title"/>
          </p:nvPr>
        </p:nvSpPr>
        <p:spPr>
          <a:xfrm>
            <a:off x="311700" y="216425"/>
            <a:ext cx="8520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9" name="Google Shape;119;p25"/>
          <p:cNvSpPr/>
          <p:nvPr/>
        </p:nvSpPr>
        <p:spPr>
          <a:xfrm>
            <a:off x="0" y="216419"/>
            <a:ext cx="152400" cy="9348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311700" y="2142929"/>
            <a:ext cx="3999900" cy="2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832400" y="2142929"/>
            <a:ext cx="3999900" cy="2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6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6" name="Google Shape;126;p26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6"/>
          <p:cNvSpPr txBox="1"/>
          <p:nvPr>
            <p:ph idx="3" type="body"/>
          </p:nvPr>
        </p:nvSpPr>
        <p:spPr>
          <a:xfrm>
            <a:off x="344300" y="819000"/>
            <a:ext cx="39999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b="1" sz="14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b="1" sz="14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b="1" sz="14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b="1" sz="14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b="1" sz="1400"/>
            </a:lvl9pPr>
          </a:lstStyle>
          <a:p/>
        </p:txBody>
      </p:sp>
      <p:sp>
        <p:nvSpPr>
          <p:cNvPr id="128" name="Google Shape;128;p26"/>
          <p:cNvSpPr txBox="1"/>
          <p:nvPr>
            <p:ph idx="4" type="body"/>
          </p:nvPr>
        </p:nvSpPr>
        <p:spPr>
          <a:xfrm>
            <a:off x="4865000" y="819000"/>
            <a:ext cx="39999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b="1" sz="1400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b="1" sz="1400"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b="1" sz="1400"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b="1" sz="1400"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b="1" sz="14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idx="1" type="body"/>
          </p:nvPr>
        </p:nvSpPr>
        <p:spPr>
          <a:xfrm>
            <a:off x="311700" y="1228775"/>
            <a:ext cx="28080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7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216425"/>
            <a:ext cx="8520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34" name="Google Shape;134;p27"/>
          <p:cNvSpPr/>
          <p:nvPr/>
        </p:nvSpPr>
        <p:spPr>
          <a:xfrm>
            <a:off x="0" y="216419"/>
            <a:ext cx="152400" cy="9348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6" name="Google Shape;14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30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Frame">
  <p:cSld name="BIG_NUMBER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1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33"/>
          <p:cNvSpPr/>
          <p:nvPr/>
        </p:nvSpPr>
        <p:spPr>
          <a:xfrm>
            <a:off x="3408394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3"/>
          <p:cNvSpPr txBox="1"/>
          <p:nvPr>
            <p:ph type="title"/>
          </p:nvPr>
        </p:nvSpPr>
        <p:spPr>
          <a:xfrm>
            <a:off x="3764000" y="328450"/>
            <a:ext cx="343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bg>
      <p:bgPr>
        <a:solidFill>
          <a:srgbClr val="2074B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0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"/>
              <a:buChar char="●"/>
              <a:defRPr b="0" i="0" sz="1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679875" y="1134149"/>
            <a:ext cx="76305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" sz="4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KSS - Trustworthy AI</a:t>
            </a:r>
            <a:endParaRPr b="1" sz="4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lt107\Desktop\3x\Asset 2@3x.png" id="169" name="Google Shape;1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18" y="4781550"/>
            <a:ext cx="588358" cy="23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6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6"/>
          <p:cNvSpPr txBox="1"/>
          <p:nvPr/>
        </p:nvSpPr>
        <p:spPr>
          <a:xfrm>
            <a:off x="342900" y="372875"/>
            <a:ext cx="49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 i="0" sz="2600" u="none" cap="none" strike="noStrike">
              <a:solidFill>
                <a:srgbClr val="3A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36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36"/>
          <p:cNvCxnSpPr/>
          <p:nvPr/>
        </p:nvCxnSpPr>
        <p:spPr>
          <a:xfrm>
            <a:off x="342899" y="4629150"/>
            <a:ext cx="8343000" cy="0"/>
          </a:xfrm>
          <a:prstGeom prst="straightConnector1">
            <a:avLst/>
          </a:prstGeom>
          <a:noFill/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4" name="Google Shape;174;p36"/>
          <p:cNvGrpSpPr/>
          <p:nvPr/>
        </p:nvGrpSpPr>
        <p:grpSpPr>
          <a:xfrm>
            <a:off x="845337" y="1428750"/>
            <a:ext cx="6592014" cy="348600"/>
            <a:chOff x="712692" y="1608042"/>
            <a:chExt cx="6592014" cy="348600"/>
          </a:xfrm>
        </p:grpSpPr>
        <p:sp>
          <p:nvSpPr>
            <p:cNvPr id="175" name="Google Shape;175;p36"/>
            <p:cNvSpPr txBox="1"/>
            <p:nvPr/>
          </p:nvSpPr>
          <p:spPr>
            <a:xfrm>
              <a:off x="1219206" y="1659267"/>
              <a:ext cx="6085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" sz="1600">
                  <a:solidFill>
                    <a:srgbClr val="3A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Topic 1</a:t>
              </a:r>
              <a:endParaRPr b="1" i="0" sz="1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36"/>
            <p:cNvSpPr/>
            <p:nvPr/>
          </p:nvSpPr>
          <p:spPr>
            <a:xfrm>
              <a:off x="712692" y="1608042"/>
              <a:ext cx="348600" cy="348600"/>
            </a:xfrm>
            <a:prstGeom prst="rect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6"/>
            <p:cNvSpPr txBox="1"/>
            <p:nvPr/>
          </p:nvSpPr>
          <p:spPr>
            <a:xfrm>
              <a:off x="845337" y="1659255"/>
              <a:ext cx="83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8" name="Google Shape;178;p36"/>
          <p:cNvGrpSpPr/>
          <p:nvPr/>
        </p:nvGrpSpPr>
        <p:grpSpPr>
          <a:xfrm>
            <a:off x="845337" y="1945226"/>
            <a:ext cx="6592014" cy="348600"/>
            <a:chOff x="712692" y="1608042"/>
            <a:chExt cx="6592014" cy="348600"/>
          </a:xfrm>
        </p:grpSpPr>
        <p:sp>
          <p:nvSpPr>
            <p:cNvPr id="179" name="Google Shape;179;p36"/>
            <p:cNvSpPr txBox="1"/>
            <p:nvPr/>
          </p:nvSpPr>
          <p:spPr>
            <a:xfrm>
              <a:off x="1219206" y="1659267"/>
              <a:ext cx="6085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" sz="1600">
                  <a:solidFill>
                    <a:srgbClr val="3A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Topic 2</a:t>
              </a:r>
              <a:endParaRPr b="1" i="0" sz="1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36"/>
            <p:cNvSpPr/>
            <p:nvPr/>
          </p:nvSpPr>
          <p:spPr>
            <a:xfrm>
              <a:off x="712692" y="1608042"/>
              <a:ext cx="348600" cy="348600"/>
            </a:xfrm>
            <a:prstGeom prst="rect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lt107\Desktop\3x\Asset 2@3x.png" id="185" name="Google Shape;1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18" y="4781550"/>
            <a:ext cx="588358" cy="23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/>
          <p:nvPr/>
        </p:nvSpPr>
        <p:spPr>
          <a:xfrm>
            <a:off x="0" y="326707"/>
            <a:ext cx="152400" cy="492300"/>
          </a:xfrm>
          <a:prstGeom prst="rect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7"/>
          <p:cNvSpPr txBox="1"/>
          <p:nvPr/>
        </p:nvSpPr>
        <p:spPr>
          <a:xfrm>
            <a:off x="342900" y="372875"/>
            <a:ext cx="77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Overview : </a:t>
            </a:r>
            <a:r>
              <a:rPr b="1" lang="en" sz="2600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rPr>
              <a:t>(Continued)</a:t>
            </a:r>
            <a:endParaRPr b="1" i="0" sz="2600" u="none" cap="none" strike="noStrike">
              <a:solidFill>
                <a:srgbClr val="3A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7"/>
          <p:cNvSpPr/>
          <p:nvPr/>
        </p:nvSpPr>
        <p:spPr>
          <a:xfrm rot="10800000">
            <a:off x="8564662" y="827"/>
            <a:ext cx="585000" cy="572100"/>
          </a:xfrm>
          <a:prstGeom prst="rtTriangle">
            <a:avLst/>
          </a:prstGeom>
          <a:solidFill>
            <a:srgbClr val="2074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37"/>
          <p:cNvCxnSpPr/>
          <p:nvPr/>
        </p:nvCxnSpPr>
        <p:spPr>
          <a:xfrm>
            <a:off x="342899" y="4629150"/>
            <a:ext cx="8343000" cy="0"/>
          </a:xfrm>
          <a:prstGeom prst="straightConnector1">
            <a:avLst/>
          </a:prstGeom>
          <a:noFill/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0" name="Google Shape;190;p37"/>
          <p:cNvGrpSpPr/>
          <p:nvPr/>
        </p:nvGrpSpPr>
        <p:grpSpPr>
          <a:xfrm>
            <a:off x="845337" y="2461702"/>
            <a:ext cx="5658414" cy="348600"/>
            <a:chOff x="712692" y="2825337"/>
            <a:chExt cx="5658414" cy="348600"/>
          </a:xfrm>
        </p:grpSpPr>
        <p:sp>
          <p:nvSpPr>
            <p:cNvPr id="191" name="Google Shape;191;p37"/>
            <p:cNvSpPr txBox="1"/>
            <p:nvPr/>
          </p:nvSpPr>
          <p:spPr>
            <a:xfrm>
              <a:off x="1219206" y="2876559"/>
              <a:ext cx="5151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" sz="1600">
                  <a:solidFill>
                    <a:srgbClr val="3A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	</a:t>
              </a:r>
              <a:endParaRPr b="1" i="0" sz="1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37"/>
            <p:cNvSpPr/>
            <p:nvPr/>
          </p:nvSpPr>
          <p:spPr>
            <a:xfrm>
              <a:off x="712692" y="2825337"/>
              <a:ext cx="348600" cy="348600"/>
            </a:xfrm>
            <a:prstGeom prst="rect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37"/>
          <p:cNvGrpSpPr/>
          <p:nvPr/>
        </p:nvGrpSpPr>
        <p:grpSpPr>
          <a:xfrm>
            <a:off x="845337" y="1428750"/>
            <a:ext cx="6592014" cy="348600"/>
            <a:chOff x="712692" y="1608042"/>
            <a:chExt cx="6592014" cy="348600"/>
          </a:xfrm>
        </p:grpSpPr>
        <p:sp>
          <p:nvSpPr>
            <p:cNvPr id="194" name="Google Shape;194;p37"/>
            <p:cNvSpPr txBox="1"/>
            <p:nvPr/>
          </p:nvSpPr>
          <p:spPr>
            <a:xfrm>
              <a:off x="1219206" y="1659267"/>
              <a:ext cx="6085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37"/>
            <p:cNvSpPr/>
            <p:nvPr/>
          </p:nvSpPr>
          <p:spPr>
            <a:xfrm>
              <a:off x="712692" y="1608042"/>
              <a:ext cx="348600" cy="348600"/>
            </a:xfrm>
            <a:prstGeom prst="rect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7"/>
            <p:cNvSpPr txBox="1"/>
            <p:nvPr/>
          </p:nvSpPr>
          <p:spPr>
            <a:xfrm>
              <a:off x="845337" y="1659255"/>
              <a:ext cx="83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7" name="Google Shape;197;p37"/>
          <p:cNvGrpSpPr/>
          <p:nvPr/>
        </p:nvGrpSpPr>
        <p:grpSpPr>
          <a:xfrm>
            <a:off x="845337" y="1945226"/>
            <a:ext cx="6592014" cy="348600"/>
            <a:chOff x="712692" y="1608042"/>
            <a:chExt cx="6592014" cy="348600"/>
          </a:xfrm>
        </p:grpSpPr>
        <p:sp>
          <p:nvSpPr>
            <p:cNvPr id="198" name="Google Shape;198;p37"/>
            <p:cNvSpPr txBox="1"/>
            <p:nvPr/>
          </p:nvSpPr>
          <p:spPr>
            <a:xfrm>
              <a:off x="1219206" y="1659267"/>
              <a:ext cx="6085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rgbClr val="3A3A3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37"/>
            <p:cNvSpPr/>
            <p:nvPr/>
          </p:nvSpPr>
          <p:spPr>
            <a:xfrm>
              <a:off x="712692" y="1608042"/>
              <a:ext cx="348600" cy="348600"/>
            </a:xfrm>
            <a:prstGeom prst="rect">
              <a:avLst/>
            </a:prstGeom>
            <a:solidFill>
              <a:srgbClr val="2074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/>
              <a:t>ML Infrastructures</a:t>
            </a:r>
            <a:endParaRPr b="1"/>
          </a:p>
        </p:txBody>
      </p:sp>
      <p:sp>
        <p:nvSpPr>
          <p:cNvPr id="205" name="Google Shape;205;p38"/>
          <p:cNvSpPr txBox="1"/>
          <p:nvPr/>
        </p:nvSpPr>
        <p:spPr>
          <a:xfrm>
            <a:off x="350263" y="3455617"/>
            <a:ext cx="733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&lt;Notes&gt;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441503" y="744590"/>
            <a:ext cx="80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344428" y="1583436"/>
            <a:ext cx="313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"/>
              <a:buChar char="●"/>
            </a:pPr>
            <a:r>
              <a:t/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38" title="Gemini_Generated_Image_5j4kx75j4kx75j4k.png"/>
          <p:cNvPicPr preferRelativeResize="0"/>
          <p:nvPr/>
        </p:nvPicPr>
        <p:blipFill rotWithShape="1">
          <a:blip r:embed="rId3">
            <a:alphaModFix/>
          </a:blip>
          <a:srcRect b="12100" l="6140" r="6140" t="10140"/>
          <a:stretch/>
        </p:blipFill>
        <p:spPr>
          <a:xfrm>
            <a:off x="4149750" y="1412697"/>
            <a:ext cx="3032824" cy="2007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8"/>
          <p:cNvSpPr txBox="1"/>
          <p:nvPr/>
        </p:nvSpPr>
        <p:spPr>
          <a:xfrm>
            <a:off x="344425" y="859200"/>
            <a:ext cx="780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&lt;Text Here&gt;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</a:t>
            </a:r>
            <a:endParaRPr b="1"/>
          </a:p>
        </p:txBody>
      </p:sp>
      <p:sp>
        <p:nvSpPr>
          <p:cNvPr id="215" name="Google Shape;215;p39"/>
          <p:cNvSpPr txBox="1"/>
          <p:nvPr/>
        </p:nvSpPr>
        <p:spPr>
          <a:xfrm>
            <a:off x="2482650" y="1977000"/>
            <a:ext cx="41787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Something related to question</a:t>
            </a:r>
            <a:endParaRPr sz="1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 Why are we talking about CPUs &amp; GPUs?</a:t>
            </a:r>
            <a:endParaRPr b="1"/>
          </a:p>
        </p:txBody>
      </p:sp>
      <p:sp>
        <p:nvSpPr>
          <p:cNvPr id="221" name="Google Shape;221;p40"/>
          <p:cNvSpPr txBox="1"/>
          <p:nvPr/>
        </p:nvSpPr>
        <p:spPr>
          <a:xfrm>
            <a:off x="2482650" y="1977000"/>
            <a:ext cx="41787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b="1" lang="en" sz="26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Something related to question(in red)&gt;</a:t>
            </a:r>
            <a:endParaRPr b="1" sz="26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&lt;The answer</a:t>
            </a:r>
            <a:r>
              <a:rPr b="1" lang="en" sz="2600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b="1" sz="2600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311700" y="2865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Comparison</a:t>
            </a:r>
            <a:r>
              <a:rPr b="1" lang="en"/>
              <a:t> Table </a:t>
            </a:r>
            <a:endParaRPr b="1">
              <a:solidFill>
                <a:srgbClr val="FF00FF"/>
              </a:solidFill>
            </a:endParaRPr>
          </a:p>
        </p:txBody>
      </p:sp>
      <p:graphicFrame>
        <p:nvGraphicFramePr>
          <p:cNvPr id="227" name="Google Shape;227;p41"/>
          <p:cNvGraphicFramePr/>
          <p:nvPr/>
        </p:nvGraphicFramePr>
        <p:xfrm>
          <a:off x="952500" y="168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{EE0F5355-3C33-4273-B26E-EE50FE2E5146}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3A3A3A"/>
      </a:dk2>
      <a:lt2>
        <a:srgbClr val="4E4F50"/>
      </a:lt2>
      <a:accent1>
        <a:srgbClr val="2074B9"/>
      </a:accent1>
      <a:accent2>
        <a:srgbClr val="58A4E2"/>
      </a:accent2>
      <a:accent3>
        <a:srgbClr val="2EBFCA"/>
      </a:accent3>
      <a:accent4>
        <a:srgbClr val="FDBA4D"/>
      </a:accent4>
      <a:accent5>
        <a:srgbClr val="8BB762"/>
      </a:accent5>
      <a:accent6>
        <a:srgbClr val="E85B5B"/>
      </a:accent6>
      <a:hlink>
        <a:srgbClr val="2071B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