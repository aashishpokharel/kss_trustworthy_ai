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Today's session is about Trustworthy AI — not as a buzzword, but as an engineering discipline with concrete properties we can measure, verify, and build against. We'll work through what trustworthy AI actually means under the NIST AI RMF definition, why explainability alone isn't enough, the six core principles, how they connect to causal reasoning, and then we'll ground it all in what our own codebase implements against each principle. The goal is that you leave with a shared vocabulary and a mental model you can apply to your own work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so everyone knows where we're headed. Six sections, each building on the last. We start with motivation — why this isn't optional anymore — then the conceptual hinge: why the industry's default answer ('just make it explainable') isn't sufficient. From there we build up the actual principles, map the vocabulary you'll hear in the wild, connect to causal reasoning, and then ground everything in our own implementation. The last section is the payoff — here's the framework, here's what we built against it, and here's where we're honest about the gaps.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anchor on a precise definition immediately so we have one shared vocabulary for the rest of the session. The NIST AI Risk Management Framework defines trustworthy AI through seven characteristics: valid and reliable, safe, secure and resilient, accountable and transparent, explainable and interpretable, privacy-enhanced, and fair with harmful bias managed.</a:t>
            </a:r>
          </a:p>
          <a:p/>
          <a:p>
            <a:r>
              <a:t>I want to call out explicitly: explainability is ONE of seven. It's not the whole definition. A lot of industry discourse treats 'explainable' as synonymous with 'trustworthy,' and that conflation is exactly what we'll unpack in the next section. Trust is a property of the whole system — data, model, deployment, monitoring, human oversight — not a property you get for free once you can visualize attention weights.</a:t>
            </a:r>
          </a:p>
          <a:p/>
          <a:p>
            <a:r>
              <a:t>Source: NIST AI RMF 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fundamental shift: AI moved from recommending movies to making consequential decisions about people's lives. The failure modes are qualitatively different now.</a:t>
            </a:r>
          </a:p>
          <a:p/>
          <a:p>
            <a:r>
              <a:t>I want to ground this in three concrete categories rather than abstract claims. First, silent failure — the model is confidently wrong and there's no error signal. This is the hallucination problem but broader: any time the model is wrong with high confidence and no uncertainty flag.</a:t>
            </a:r>
          </a:p>
          <a:p/>
          <a:p>
            <a:r>
              <a:t>Second, adversarial failure — a bad actor deliberately manipulates the system. Prompt injection, data poisoning, jailbreaks. The model itself is functioning as designed; the input distribution has been weaponized.</a:t>
            </a:r>
          </a:p>
          <a:p/>
          <a:p>
            <a:r>
              <a:t>Third, systemic failure — every individual prediction might be correct by the training objective, but the aggregate outcome is harmful. Disparate impact is the canonical example: no single prediction is wrong, but a protected group is systematically disadvantaged. This is why you can't evaluate trustworthiness one prediction at a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is a driver here, not just ethics. The EU AI Act is binding law with four risk tiers — most rules take effect August 2026, with high-risk obligations phasing in through 2026–2027. If you're deploying AI that makes consequential decisions about people, you're likely in the high-risk tier and there are concrete obligations you need to meet.</a:t>
            </a:r>
          </a:p>
          <a:p/>
          <a:p>
            <a:r>
              <a:t>NIST's AI RMF is voluntary but globally referenced. Its four functions — Govern, Map, Measure, Manage — give you an operational cycle. The Generative AI Profile from 2024 exists specifically because generic AI risk guidance wasn't sufficient once LLMs and agentic systems became mainstream.</a:t>
            </a:r>
          </a:p>
          <a:p/>
          <a:p>
            <a:r>
              <a:t>The closing line here isn't marketing — it's context. The reason our codebase has a governance plane, an eval suite, and an incident review loop is because these frameworks demand them. We'll see the 1:1 mapping at the end.</a:t>
            </a:r>
          </a:p>
          <a:p/>
          <a:p>
            <a:r>
              <a:t>Sources: EU AI Act official text; NIST AI RMF 1.0; NIST AI 600-1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hinge of the entire talk, so let's spend real time here.</a:t>
            </a:r>
          </a:p>
          <a:p/>
          <a:p>
            <a:r>
              <a:t>The historical assumption was reasonable: early XAI methods like LIME and SHAP emerged when models were simpler and stakes were lower. The logic was: if we can surface which features drove a prediction, we can decide whether to trust it.</a:t>
            </a:r>
          </a:p>
          <a:p/>
          <a:p>
            <a:r>
              <a:t>That assumption has five failure modes today:</a:t>
            </a:r>
          </a:p>
          <a:p/>
          <a:p>
            <a:r>
              <a:t>1. SHAP values are locally faithful but globally silent. A feature attribution tells you about this one prediction — not whether the model's overall behavior is safe, fair, or robust.</a:t>
            </a:r>
          </a:p>
          <a:p/>
          <a:p>
            <a:r>
              <a:t>2. These are post-hoc, correlational explanations — not causal ones. A plausible-sounding explanation can accompany a completely wrong or unsafe decision. The explanation reads well, but it's explaining the wrong thing.</a:t>
            </a:r>
          </a:p>
          <a:p/>
          <a:p>
            <a:r>
              <a:t>3. Explainability is one of NIST's seven characteristics. An explainable model can fail on the other six — it can be unfair, insecure, non-private, unreliable. Explainability is necessary but not sufficient.</a:t>
            </a:r>
          </a:p>
          <a:p/>
          <a:p>
            <a:r>
              <a:t>4. LLMs have a unique problem: they can hallucinate their own explanations. Ask a model 'why did you say that' and it generates plausible rationale that may not reflect its actual internal process. This is a known, current interpretability research problem, not a hypothetical.</a:t>
            </a:r>
          </a:p>
          <a:p/>
          <a:p>
            <a:r>
              <a:t>5. Adversarial robustness is orthogonal to explainability. A model with a clean, interpretable decision boundary can be trivially fooled by an adversarial perturbation or prompt injection. Explainability tells you nothing about behavior under attack.</a:t>
            </a:r>
          </a:p>
          <a:p/>
          <a:p>
            <a:r>
              <a:t>Sources: Molnar, Interpretable Machine Learning (for LIME/SHAP mechanics); Samek et al., Explainable AI (for deep learning XAI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goes deeper on two particularly hard problems that don't get enough attention in XAI discussions.</a:t>
            </a:r>
          </a:p>
          <a:p/>
          <a:p>
            <a:r>
              <a:t>Left side — LLMs hallucinate their own explanations: when you ask an LLM 'why did you say that,' it generates plausible-sounding rationale. But there's no guarantee this reflects its actual internal process. This is a known, current interpretability research problem. The practical implication: treat model self-reported reasoning as a useful signal, not ground truth. Corroborate it with behavioral testing — counterfactuals, adversarial probes. The loan denial example on the slide is a concrete case: the explanation says 'income too low' but a counterfactual test with a higher-income identical applicant also gets denied, revealing the explanation was plausible but wrong about the actual cause.</a:t>
            </a:r>
          </a:p>
          <a:p/>
          <a:p>
            <a:r>
              <a:t>Right side — adversarial robustness is orthogonal: a model with a perfectly clean, interpretable decision boundary can still be trivially fooled by adversarial inputs. Explainability tools don't test for this. You need dedicated adversarial testing infrastructure — Garak, PyRIT, red-teaming harnesses. These are separate evaluation dimensions and passing one tells you nothing about the other.</a:t>
            </a:r>
          </a:p>
          <a:p/>
          <a:p>
            <a:r>
              <a:t>Source: Molnar, Interpretable Machine Learning; Samek et al., Explainable AI; NIST AI 600-1 (adversarial robustness for generative 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reframe I want everyone to leave with.</a:t>
            </a:r>
          </a:p>
          <a:p/>
          <a:p>
            <a:r>
              <a:t>The old model was: make it explainable → done, we can trust it. That's the mental model that LIME, SHAP, and attention visualization gave us — and it was useful for its time, but it's insufficient now.</a:t>
            </a:r>
          </a:p>
          <a:p/>
          <a:p>
            <a:r>
              <a:t>The new model: explainability is ONE input to a trust judgment. The trust judgment also needs data provenance, model behavior under distribution shift, adversarial robustness, privacy guarantees, fairness metrics across groups, human oversight structure, deployment monitoring, and incident response capability.</a:t>
            </a:r>
          </a:p>
          <a:p/>
          <a:p>
            <a:r>
              <a:t>Explainability is an input to trust, not the output of a trust assessment. And a trust judgment without the other inputs is incomplete — sometimes dangerously so, because a plausible-looking explanation can create over-trust in a system that's failing on dimensions you haven't measured yet.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is the most philosophically complex of the six principles because it sits at the intersection of technical metrics and normative values.</a:t>
            </a:r>
          </a:p>
          <a:p/>
          <a:p>
            <a:r>
              <a:t>The definition: disparate treatment is intentional discrimination — you explicitly treat people differently based on a protected attribute. Disparate impact is harder: a policy that's neutral on its face but produces disproportionately negative outcomes for a protected group.</a:t>
            </a:r>
          </a:p>
          <a:p/>
          <a:p>
            <a:r>
              <a:t>The impossibility result is worth sitting with: you generally cannot satisfy demographic parity, equalized odds, and calibration simultaneously outside of degenerate cases. This means choosing a fairness metric is inherently a normative decision — whose definition of fairness are we optimizing for? Technical teams should not make this choice in isolation.</a:t>
            </a:r>
          </a:p>
          <a:p/>
          <a:p>
            <a:r>
              <a:t>For technique: counterfactual testing is the most direct approach — swap protected attributes and measure output change. This is exactly what our codebase's counterfactual test suite (Section 8 of the architecture doc) does. Mitigation can happen at three stages: pre-processing the data, constraining the training process, or post-processing model outputs.</a:t>
            </a:r>
          </a:p>
          <a:p/>
          <a:p>
            <a:r>
              <a:t>Source: NIST AI RMF; Kleinberg et al. 'Inherent Trade-Offs in the Fair Determination of Risk Scores' (2016)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one of the most important in the entire talk. Transparency and explainability get used interchangeably constantly, and they shouldn't be.</a:t>
            </a:r>
          </a:p>
          <a:p/>
          <a:p>
            <a:r>
              <a:t>Transparency answers: can I see how this system was built? What data? What training? What evaluation? Who approved it? Explainability answers: can I understand this specific decision?</a:t>
            </a:r>
          </a:p>
          <a:p/>
          <a:p>
            <a:r>
              <a:t>The mechanisms for each are different. For transparency: model cards, datasheets for datasets, audit trails, governance documentation. For explainability: SHAP, LIME, attention maps, counterfactual explanations.</a:t>
            </a:r>
          </a:p>
          <a:p/>
          <a:p>
            <a:r>
              <a:t>A model can be explainable without being transparent (you can run SHAP on a model whose training data provenance is unknown), and transparent without being explainable (you have perfect documentation of how a black-box model was trained, but can't interpret individual decisions). Both matter.</a:t>
            </a:r>
          </a:p>
          <a:p/>
          <a:p>
            <a:r>
              <a:t>Our codebase implements transparency through the governance plane, audit log, and policy-versioned constitution document.</a:t>
            </a:r>
          </a:p>
          <a:p/>
          <a:p>
            <a:r>
              <a:t>Sources: Mitchell et al., 'Model Cards for Model Reporting' (2019); Gebru et al., 'Datasheets for Datasets' (2018)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Accountability is the principle that's most likely to be overlooked by technical teams because it's not a metric you can put in a dashboard. But it's arguably the most important — it's the answer to 'who is answerable when this system causes harm.'</a:t>
            </a:r>
          </a:p>
          <a:p/>
          <a:p>
            <a:r>
              <a:t>The failure mode is diffusion of responsibility: the data science team built it, the ML ops team deployed it, the product team chose the threshold — no single person owns the outcome. This is a governance design problem, not a technical one.</a:t>
            </a:r>
          </a:p>
          <a:p/>
          <a:p>
            <a:r>
              <a:t>Automation bias compounds this: human reviewers tend to rubber-stamp model outputs because 'the AI usually gets it right,' which means the human in the loop provides accountability theater rather than actual accountability.</a:t>
            </a:r>
          </a:p>
          <a:p/>
          <a:p>
            <a:r>
              <a:t>Our implementation: the HITL approval queue surfaces model reasoning vs. action divergence (Section 9.2 of the architecture doc), and every override is logged with identity and rationale. This connects directly to the trust calibration concept we'll cover in the related terms section.</a:t>
            </a:r>
          </a:p>
          <a:p/>
          <a:p>
            <a:r>
              <a:t>Source: NIST AI RMF Govern function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Robustness and safety are about how the model behaves when things go wrong — distribution shift, adversarial inputs, edge cases. This is distinct from average-case accuracy, which is what most ML evaluation measures.</a:t>
            </a:r>
          </a:p>
          <a:p/>
          <a:p>
            <a:r>
              <a:t>There are two sub-dimensions: general robustness (natural noise, drift) and adversarial robustness (deliberately crafted attacks). They require different testing strategies — testing against natural distribution shift doesn't tell you anything about how the system handles a jailbreak attempt.</a:t>
            </a:r>
          </a:p>
          <a:p/>
          <a:p>
            <a:r>
              <a:t>LLMs introduce novel attack surfaces: prompt injection, indirect injection via retrieved documents, jailbreaking. These didn't exist for traditional ML systems and require new defense strategies.</a:t>
            </a:r>
          </a:p>
          <a:p/>
          <a:p>
            <a:r>
              <a:t>Our implementation: the red-team harness uses Garak and PyRIT to systematically probe for vulnerabilities across attack categories (Sections 2 and 3 of the architecture doc), plus prompt injection defenses.</a:t>
            </a:r>
          </a:p>
          <a:p/>
          <a:p>
            <a:r>
              <a:t>Source: NIST AI 600-1 (Generative AI Profile); adversarial robustness literature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is where precision of language matters most in this talk. There's a critical distinction between differential privacy and simple anonymization/redaction, and conflation here creates false confidence.</a:t>
            </a:r>
          </a:p>
          <a:p/>
          <a:p>
            <a:r>
              <a:t>Differential privacy gives a mathematical guarantee: adding calibrated noise such that no single individual's data materially changes the output. The privacy budget ε quantifies the guarantee. This is a formal property, not a policy statement.</a:t>
            </a:r>
          </a:p>
          <a:p/>
          <a:p>
            <a:r>
              <a:t>Simple redaction or anonymization — removing names, emails, phone numbers — is data hygiene, not a privacy guarantee. It can be defeated by linkage attacks where 'anonymized' datasets are combined with public data to re-identify individuals. And models can memorize and regurgitate training data, which inference-time redaction cannot prevent.</a:t>
            </a:r>
          </a:p>
          <a:p/>
          <a:p>
            <a:r>
              <a:t>Our implementation: PII detection/redaction pipeline using Presidio (Section 5 of the architecture doc). We should be honest on the codebase-mapping slide that this is redaction/tokenization, not formal differential privacy.</a:t>
            </a:r>
          </a:p>
          <a:p/>
          <a:p>
            <a:r>
              <a:t>Sources: Dwork &amp; Roth, 'The Algorithmic Foundations of Differential Privacy'; Presidio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is about consistent performance over time — it's the temporal dimension of trustworthiness. A model that passes evaluation at deployment but silently degrades over six months is not reliable, even if the architecture and code haven't changed.</a:t>
            </a:r>
          </a:p>
          <a:p/>
          <a:p>
            <a:r>
              <a:t>The two drift mechanisms: data drift (the input distribution changes — new types of queries, new user demographics) and concept drift (the relationship between inputs and correct outputs changes — what was a correct answer last quarter may not be correct now due to policy changes, new knowledge, etc.).</a:t>
            </a:r>
          </a:p>
          <a:p/>
          <a:p>
            <a:r>
              <a:t>This is why NIST's Measure function is described as continuous, not a pre-deployment gate. You need ongoing measurement.</a:t>
            </a:r>
          </a:p>
          <a:p/>
          <a:p>
            <a:r>
              <a:t>Our implementation: groundedness/hallucination checks as a continuous signal, scheduled eval cadence running the same benchmark suite on a fixed schedule (Sections 11 and 13 of the architecture doc).</a:t>
            </a:r>
          </a:p>
          <a:p/>
          <a:p>
            <a:r>
              <a:t>Source: NIST AI RMF Measure function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vocabulary map, not a lecture slide — the goal is to show relationships, not list definitions.</a:t>
            </a:r>
          </a:p>
          <a:p/>
          <a:p>
            <a:r>
              <a:t>At center: the six core principles from the previous section. Radiating outward: the terms you'll hear in industry conversations, regulatory discussions, and research papers.</a:t>
            </a:r>
          </a:p>
          <a:p/>
          <a:p>
            <a:r>
              <a:t>Adversarial robustness connects most directly to Robustness/Safety — it's the deliberate-attack subset of general robustness. Model auditing connects to Transparency and Accountability — auditing is how you verify those properties externally. Regulatory frameworks (NIST, EU AI Act) provide the structure that makes accountability enforceable. Ethical considerations are the normative foundation underneath all of this — the 'why' behind the 'what.' And trust calibration is the human-factors goal: not maximal trust, but appropriately calibrated trust.</a:t>
            </a:r>
          </a:p>
          <a:p/>
          <a:p>
            <a:r>
              <a:t>The key relationship to notice: none of these terms is independent. Adversarial robustness without accountability is a technical exercise. Regulation without ethics is compliance theater. The principles and related concepts form an interconnected system, not a checklist.</a:t>
            </a:r>
          </a:p>
          <a:p/>
          <a:p>
            <a:r>
              <a:t>Sources: NIST AI RMF; EU AI Act; Molnar's Interpretable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provides the detail behind the concept map's 'Regulatory Frameworks' node. Two frameworks, different authority, complementary in practice.</a:t>
            </a:r>
          </a:p>
          <a:p/>
          <a:p>
            <a:r>
              <a:t>NIST AI RMF is voluntary but globally referenced. Its four functions — Govern, Map, Measure, Manage — form a continuous cycle, not a linear checklist. The Generative AI Profile (NIST AI 600-1, 2024) specifically addresses LLM and agentic AI risks. NIST is not certifiable — organizations that need certification typically pair it with ISO 42001, which provides the certifiable management system structure.</a:t>
            </a:r>
          </a:p>
          <a:p/>
          <a:p>
            <a:r>
              <a:t>The EU AI Act is binding law with four risk tiers and real enforcement teeth. Most rules are effective August 2026 — that's next month. High-risk obligations phase in through 2026–2027. The Act has extraterritorial scope: it applies to any system deployed in the EU market, regardless of where it was built.</a:t>
            </a:r>
          </a:p>
          <a:p/>
          <a:p>
            <a:r>
              <a:t>Practical guidance: use NIST's vocabulary for internal risk conversations (it's richer and more operational). Use the EU AI Act's risk tiers to determine your actual compliance obligations (they're legally binding). They're complementary frameworks, not competing ones.</a:t>
            </a:r>
          </a:p>
          <a:p/>
          <a:p>
            <a:r>
              <a:t>Sources: NIST AI RMF 1.0; NIST AI 600-1; EU AI Act official text (Regulation 2024/1689)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deepest section conceptually, so let's be precise.</a:t>
            </a:r>
          </a:p>
          <a:p/>
          <a:p>
            <a:r>
              <a:t>Production XAI methods — SHAP, LIME, attention visualization — explain association, not causation. They tell you a feature was correlated with the output, not that changing it would actually change the outcome in the real world. This matters for trust specifically: a correlational explanation can be right for the wrong reason. A model correctly predicting an outcome by latching onto a spurious correlate of a protected attribute, with a SHAP explanation that looks perfectly reasonable while the model would fail under distribution shift or actively encode bias.</a:t>
            </a:r>
          </a:p>
          <a:p/>
          <a:p>
            <a:r>
              <a:t>Causal explanations add counterfactual reasoning: 'if X had been different, would the outcome have changed?' Causal graphs tie explanations to actual mechanisms, making them more robust to shift and harder to game. A causal explanation that survives a distribution shift is genuine evidence of trustworthiness; a correlational one surviving is not evidence either way.</a:t>
            </a:r>
          </a:p>
          <a:p/>
          <a:p>
            <a:r>
              <a:t>Practical framing: you don't need to build a full structural causal model to benefit from this lens. Even asking 'is this SHAP explanation counterfactually testable?' as a review discipline is a meaningfully more rigorous bar than accepting the attribution at face value.</a:t>
            </a:r>
          </a:p>
          <a:p/>
          <a:p>
            <a:r>
              <a:t>This connects directly back to Slide Group 3: this is precisely WHY explainability doesn't automatically mean trustworthy. Correlational explanations are the default output of most XAI tooling, and causal grounding is the missing ingredient that would make an explanation actually load-bearing for a trust claim.</a:t>
            </a:r>
          </a:p>
          <a:p/>
          <a:p>
            <a:r>
              <a:t>Sources: Molnar, Interpretable Machine Learning (XAI mechanics); Samek et al., Explainable AI (deep learning XAI); Pearl &amp; Mackenzie, The Book of Why (causal reasoning foundations)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bridge slide connects the conceptual deep-dive back to the practical application we're about to see in the codebase mapping section.</a:t>
            </a:r>
          </a:p>
          <a:p/>
          <a:p>
            <a:r>
              <a:t>Three beats:</a:t>
            </a:r>
          </a:p>
          <a:p>
            <a:r>
              <a:t>1. Explainability is necessary but not sufficient. We've established that XAI methods give correlational, local explanations — useful for debugging, not sufficient for trust. Explanations are inputs to trust judgments.</a:t>
            </a:r>
          </a:p>
          <a:p>
            <a:r>
              <a:t>2. Causal reasoning is the upgrade. Counterfactual reasoning gives mechanism-tied explanations that are more robust. Even without full causal infrastructure, the discipline of asking 'is this counterfactually testable?' raises the bar.</a:t>
            </a:r>
          </a:p>
          <a:p>
            <a:r>
              <a:t>3. System-level trust is where we land. Trustworthiness is verified continuously across all seven NIST characteristics, not measured once. The next section shows what this looks like in our actual implementation.</a:t>
            </a:r>
          </a:p>
          <a:p/>
          <a:p>
            <a:r>
              <a:t>This is the transition moment — we've built the theory, now let's see the practice.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reference slide — I'm not going to read it aloud. The purpose is to give everyone a single place to screenshot or copy citations for further reading.</a:t>
            </a:r>
          </a:p>
          <a:p/>
          <a:p>
            <a:r>
              <a:t>The key calls: NIST AI RMF 1.0 and the Generative AI Profile (NIST AI 600-1) for the framework; Molnar's book for the XAI mechanics that we critiqued in Slide Groups 3 and 6 (it's important we cite it directly — we're not dismissing these methods, just contextualizing their limits); Samek et al. for the deep learning XAI volume; the EU AI Act for regulatory specifics; Dwork &amp; Roth for differential privacy foundations; and Mitchell et al. / Gebru et al. for transparency artifacts.</a:t>
            </a:r>
          </a:p>
          <a:p/>
          <a:p>
            <a:r>
              <a:t>All of these are publicly available. Molnar's book and the NIST framework are free online.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section. We've built the conceptual framework — now let's map it directly to what our codebase implements. This is peer-to-peer: here's what we did, here's what we didn't, and here's where we're being honest about the gaps.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payoff — here's the entire conceptual framework mapped to actual implementation. Every principle from the talk has a corresponding component in our codebase.</a:t>
            </a:r>
          </a:p>
          <a:p/>
          <a:p>
            <a:r>
              <a:t>Walk through each row and connect back to the relevant principle slide:</a:t>
            </a:r>
          </a:p>
          <a:p/>
          <a:p>
            <a:r>
              <a:t>Fairness → Counterfactual test suite: exactly the technique described in the Fairness slide — swap protected attributes, measure output delta.</a:t>
            </a:r>
          </a:p>
          <a:p/>
          <a:p>
            <a:r>
              <a:t>Transparency/Accountability → Governance plane, audit log, policy-versioned constitution: the transparency artifacts and accountability mechanisms from the principles.</a:t>
            </a:r>
          </a:p>
          <a:p/>
          <a:p>
            <a:r>
              <a:t>Robustness/Safety → Red-team harness with Garak/PyRIT: systematic adversarial testing as described in the Robustness slide.</a:t>
            </a:r>
          </a:p>
          <a:p/>
          <a:p>
            <a:r>
              <a:t>Privacy → PII detection/redaction with Presidio: and here's the honesty moment — we call out explicitly that this is redaction, not differential privacy. These are different tools for different threat models, and conflating them creates false confidence.</a:t>
            </a:r>
          </a:p>
          <a:p/>
          <a:p>
            <a:r>
              <a:t>Reliability → Groundedness checks and scheduled eval cadence: continuous monitoring, not one-time evaluation.</a:t>
            </a:r>
          </a:p>
          <a:p/>
          <a:p>
            <a:r>
              <a:t>Human-AI collaboration → HITL approval queue with reasoning/action divergence displayed: this is trust calibration in practice — the human sees not just what the model wants to do, but why.</a:t>
            </a:r>
          </a:p>
          <a:p/>
          <a:p>
            <a:r>
              <a:t>Regulatory → Direct 1:1 NIST function mapping: Govern, Map, Measure, Manage all have concrete implementations.</a:t>
            </a:r>
          </a:p>
          <a:p/>
          <a:p>
            <a:r>
              <a:t>And the last row is the honesty row: we do NOT do model-internals interpretability. We have guardrails and governance, not SHAP/LIME integration. Being explicit about what you don't do is more credible than overclaiming.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draws the 1:1 mapping between NIST's four functions and our implementation — it's genuinely worth calling out because it shows that the framework isn't abstract; every function has a concrete counterpart in our system.</a:t>
            </a:r>
          </a:p>
          <a:p/>
          <a:p>
            <a:r>
              <a:t>Govern → policy docs: this is the organizational layer that says who is accountable and what our risk appetite is.</a:t>
            </a:r>
          </a:p>
          <a:p/>
          <a:p>
            <a:r>
              <a:t>Map → data classification tiers (Section 4): understanding what data we're handling, at what sensitivity level, and what the risk context is.</a:t>
            </a:r>
          </a:p>
          <a:p/>
          <a:p>
            <a:r>
              <a:t>Measure → our eval suite: fairness, robustness, groundedness, privacy checks — continuous measurement, not a one-time pre-deployment gate.</a:t>
            </a:r>
          </a:p>
          <a:p/>
          <a:p>
            <a:r>
              <a:t>Manage → incident review loop (Section 13): when measurement finds something, what happens? This is the feedback loop that makes the whole cycle operational.</a:t>
            </a:r>
          </a:p>
          <a:p/>
          <a:p>
            <a:r>
              <a:t>This is a strong closing visual because it shows the framework isn't theoretical — every function has been operationalized.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internal knowledge-sharing sessions are most valuable when they're honest. Three things we should be explicit about:</a:t>
            </a:r>
          </a:p>
          <a:p/>
          <a:p>
            <a:r>
              <a:t>1. No model-internals interpretability: we've built system-level trustworthiness (guardrails, governance, monitoring) rather than model-internals interpretability (SHAP, LIME, attention visualization). This is a legitimate architectural choice — guardrails work at the system boundary rather than inside the model — but we shouldn't let anyone walk away thinking we've implemented the XAI methods from Slide Group 3. We critiqued their limitations precisely because we're operating at a different layer.</a:t>
            </a:r>
          </a:p>
          <a:p/>
          <a:p>
            <a:r>
              <a:t>2. Redaction ≠ differential privacy: we need to be precise here. Our Presidio pipeline is PII redaction/tokenization — it prevents PII from appearing in model inputs and outputs. It is not differential privacy. The distinction matters because they solve different problems and provide different levels of guarantee.</a:t>
            </a:r>
          </a:p>
          <a:p/>
          <a:p>
            <a:r>
              <a:t>3. Causal explanations are aspirational: the XAI × Causal AI section described where the field is going, not what the current system implements. The practical takeaway — 'ask whether an explanation is counterfactually testable' — is a review discipline we can adopt immediately, even without full causal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final slide and it's designed to start a conversation, not end one. KSS sessions land better with a live discussion close than a recap slide.</a:t>
            </a:r>
          </a:p>
          <a:p/>
          <a:p>
            <a:r>
              <a:t>The question: 'Which of these seven NIST characteristics is hardest to verify in your own team's systems today — and why?'</a:t>
            </a:r>
          </a:p>
          <a:p/>
          <a:p>
            <a:r>
              <a:t>This works as a discussion prompt because:</a:t>
            </a:r>
          </a:p>
          <a:p>
            <a:r>
              <a:t>- It's specific enough that people can give concrete answers</a:t>
            </a:r>
          </a:p>
          <a:p>
            <a:r>
              <a:t>- It's open-ended — there's no right answer</a:t>
            </a:r>
          </a:p>
          <a:p>
            <a:r>
              <a:t>- It normalizes the fact that every team has gaps somewhere</a:t>
            </a:r>
          </a:p>
          <a:p>
            <a:r>
              <a:t>- It surfaces where the organization might need to invest next</a:t>
            </a:r>
          </a:p>
          <a:p/>
          <a:p>
            <a:r>
              <a:t>Give people a moment to think, then open the floor. If nobody volunteers, offer your own answer first — that usually breaks the ice.</a:t>
            </a:r>
          </a:p>
          <a:p/>
          <a:p>
            <a:r>
              <a:t>The seven characteristics are listed on the slide as a reference so people don't have to remember them from the beginning of the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73152" cy="18288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011680"/>
            <a:ext cx="10058400" cy="457200"/>
          </a:xfrm>
          <a:prstGeom prst="rect">
            <a:avLst/>
          </a:prstGeom>
          <a:noFill/>
        </p:spPr>
        <p:txBody>
          <a:bodyPr wrap="square">
            <a:spAutoFit/>
          </a:bodyPr>
          <a:lstStyle/>
          <a:p>
            <a:pPr algn="l">
              <a:lnSpc>
                <a:spcPts val="1609"/>
              </a:lnSpc>
              <a:spcBef>
                <a:spcPts val="0"/>
              </a:spcBef>
              <a:spcAft>
                <a:spcPts val="400"/>
              </a:spcAft>
              <a:defRPr sz="1400" b="1">
                <a:solidFill>
                  <a:srgbClr val="00897B"/>
                </a:solidFill>
                <a:latin typeface="Calibri"/>
              </a:defRPr>
            </a:pPr>
            <a:r>
              <a:t>KNOWLEDGE SHARING SESSION</a:t>
            </a:r>
          </a:p>
        </p:txBody>
      </p:sp>
      <p:sp>
        <p:nvSpPr>
          <p:cNvPr id="5" name="TextBox 4"/>
          <p:cNvSpPr txBox="1"/>
          <p:nvPr/>
        </p:nvSpPr>
        <p:spPr>
          <a:xfrm>
            <a:off x="1188720" y="2423160"/>
            <a:ext cx="10058400" cy="1097280"/>
          </a:xfrm>
          <a:prstGeom prst="rect">
            <a:avLst/>
          </a:prstGeom>
          <a:noFill/>
        </p:spPr>
        <p:txBody>
          <a:bodyPr wrap="square">
            <a:spAutoFit/>
          </a:bodyPr>
          <a:lstStyle/>
          <a:p>
            <a:pPr algn="l">
              <a:lnSpc>
                <a:spcPts val="5520"/>
              </a:lnSpc>
              <a:spcBef>
                <a:spcPts val="0"/>
              </a:spcBef>
              <a:spcAft>
                <a:spcPts val="400"/>
              </a:spcAft>
              <a:defRPr sz="4800" b="1">
                <a:solidFill>
                  <a:srgbClr val="FFFFFF"/>
                </a:solidFill>
                <a:latin typeface="Calibri"/>
              </a:defRPr>
            </a:pPr>
            <a:r>
              <a:t>Trustworthy AI</a:t>
            </a:r>
          </a:p>
        </p:txBody>
      </p:sp>
      <p:sp>
        <p:nvSpPr>
          <p:cNvPr id="6" name="TextBox 5"/>
          <p:cNvSpPr txBox="1"/>
          <p:nvPr/>
        </p:nvSpPr>
        <p:spPr>
          <a:xfrm>
            <a:off x="1188720" y="3474720"/>
            <a:ext cx="10058400" cy="731520"/>
          </a:xfrm>
          <a:prstGeom prst="rect">
            <a:avLst/>
          </a:prstGeom>
          <a:noFill/>
        </p:spPr>
        <p:txBody>
          <a:bodyPr wrap="square">
            <a:spAutoFit/>
          </a:bodyPr>
          <a:lstStyle/>
          <a:p>
            <a:pPr algn="l">
              <a:lnSpc>
                <a:spcPts val="2070"/>
              </a:lnSpc>
              <a:spcBef>
                <a:spcPts val="0"/>
              </a:spcBef>
              <a:spcAft>
                <a:spcPts val="400"/>
              </a:spcAft>
              <a:defRPr sz="1800" b="0">
                <a:solidFill>
                  <a:srgbClr val="CCD5E0"/>
                </a:solidFill>
                <a:latin typeface="Calibri"/>
              </a:defRPr>
            </a:pPr>
            <a:r>
              <a:t>From Explainability to Verifiable Trust:</a:t>
            </a:r>
            <a:br/>
            <a:r>
              <a:t>A Framework for Building AI Systems People Can Rely On</a:t>
            </a:r>
          </a:p>
        </p:txBody>
      </p:sp>
      <p:sp>
        <p:nvSpPr>
          <p:cNvPr id="7" name="TextBox 6"/>
          <p:cNvSpPr txBox="1"/>
          <p:nvPr/>
        </p:nvSpPr>
        <p:spPr>
          <a:xfrm>
            <a:off x="1188720" y="5303520"/>
            <a:ext cx="10058400" cy="365760"/>
          </a:xfrm>
          <a:prstGeom prst="rect">
            <a:avLst/>
          </a:prstGeom>
          <a:noFill/>
        </p:spPr>
        <p:txBody>
          <a:bodyPr wrap="square">
            <a:spAutoFit/>
          </a:bodyPr>
          <a:lstStyle/>
          <a:p>
            <a:pPr algn="l">
              <a:lnSpc>
                <a:spcPts val="1495"/>
              </a:lnSpc>
              <a:spcBef>
                <a:spcPts val="0"/>
              </a:spcBef>
              <a:spcAft>
                <a:spcPts val="400"/>
              </a:spcAft>
              <a:defRPr sz="1300" b="0">
                <a:solidFill>
                  <a:srgbClr val="A0AEC0"/>
                </a:solidFill>
                <a:latin typeface="Calibri"/>
              </a:defRPr>
            </a:pPr>
            <a:r>
              <a:t>Internal Knowledge Sharing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Today's Agenda</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The arc of this session, in six movements</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0292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502920" cy="411480"/>
          </a:xfrm>
          <a:prstGeom prst="rect">
            <a:avLst/>
          </a:prstGeom>
          <a:noFill/>
        </p:spPr>
        <p:txBody>
          <a:bodyPr wrap="square">
            <a:spAutoFit/>
          </a:bodyPr>
          <a:lstStyle/>
          <a:p>
            <a:pPr algn="ctr">
              <a:lnSpc>
                <a:spcPts val="2529"/>
              </a:lnSpc>
              <a:spcBef>
                <a:spcPts val="0"/>
              </a:spcBef>
              <a:spcAft>
                <a:spcPts val="400"/>
              </a:spcAft>
              <a:defRPr sz="2200" b="1">
                <a:solidFill>
                  <a:srgbClr val="FFFFFF"/>
                </a:solidFill>
                <a:latin typeface="Calibri"/>
              </a:defRPr>
            </a:pPr>
            <a:r>
              <a:t>1</a:t>
            </a:r>
          </a:p>
        </p:txBody>
      </p:sp>
      <p:sp>
        <p:nvSpPr>
          <p:cNvPr id="8" name="TextBox 7"/>
          <p:cNvSpPr txBox="1"/>
          <p:nvPr/>
        </p:nvSpPr>
        <p:spPr>
          <a:xfrm>
            <a:off x="1463040" y="1755648"/>
            <a:ext cx="4114800" cy="320040"/>
          </a:xfrm>
          <a:prstGeom prst="rect">
            <a:avLst/>
          </a:prstGeom>
          <a:noFill/>
        </p:spPr>
        <p:txBody>
          <a:bodyPr wrap="square">
            <a:spAutoFit/>
          </a:bodyPr>
          <a:lstStyle/>
          <a:p>
            <a:pPr algn="l">
              <a:lnSpc>
                <a:spcPts val="2300"/>
              </a:lnSpc>
              <a:spcBef>
                <a:spcPts val="0"/>
              </a:spcBef>
              <a:spcAft>
                <a:spcPts val="400"/>
              </a:spcAft>
              <a:defRPr sz="2000" b="1">
                <a:solidFill>
                  <a:srgbClr val="2D3748"/>
                </a:solidFill>
                <a:latin typeface="Calibri"/>
              </a:defRPr>
            </a:pPr>
            <a:r>
              <a:t>Why This Matters</a:t>
            </a:r>
          </a:p>
        </p:txBody>
      </p:sp>
      <p:sp>
        <p:nvSpPr>
          <p:cNvPr id="9" name="TextBox 8"/>
          <p:cNvSpPr txBox="1"/>
          <p:nvPr/>
        </p:nvSpPr>
        <p:spPr>
          <a:xfrm>
            <a:off x="1463040" y="2057400"/>
            <a:ext cx="9601200" cy="320040"/>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The stakes have shifted — AI now makes consequential decisions</a:t>
            </a:r>
          </a:p>
        </p:txBody>
      </p:sp>
      <p:sp>
        <p:nvSpPr>
          <p:cNvPr id="10" name="Rounded Rectangle 9"/>
          <p:cNvSpPr/>
          <p:nvPr/>
        </p:nvSpPr>
        <p:spPr>
          <a:xfrm>
            <a:off x="731520" y="2514600"/>
            <a:ext cx="50292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60320"/>
            <a:ext cx="502920" cy="411480"/>
          </a:xfrm>
          <a:prstGeom prst="rect">
            <a:avLst/>
          </a:prstGeom>
          <a:noFill/>
        </p:spPr>
        <p:txBody>
          <a:bodyPr wrap="square">
            <a:spAutoFit/>
          </a:bodyPr>
          <a:lstStyle/>
          <a:p>
            <a:pPr algn="ctr">
              <a:lnSpc>
                <a:spcPts val="2529"/>
              </a:lnSpc>
              <a:spcBef>
                <a:spcPts val="0"/>
              </a:spcBef>
              <a:spcAft>
                <a:spcPts val="400"/>
              </a:spcAft>
              <a:defRPr sz="2200" b="1">
                <a:solidFill>
                  <a:srgbClr val="FFFFFF"/>
                </a:solidFill>
                <a:latin typeface="Calibri"/>
              </a:defRPr>
            </a:pPr>
            <a:r>
              <a:t>2</a:t>
            </a:r>
          </a:p>
        </p:txBody>
      </p:sp>
      <p:sp>
        <p:nvSpPr>
          <p:cNvPr id="12" name="TextBox 11"/>
          <p:cNvSpPr txBox="1"/>
          <p:nvPr/>
        </p:nvSpPr>
        <p:spPr>
          <a:xfrm>
            <a:off x="1463040" y="2532888"/>
            <a:ext cx="4114800" cy="320040"/>
          </a:xfrm>
          <a:prstGeom prst="rect">
            <a:avLst/>
          </a:prstGeom>
          <a:noFill/>
        </p:spPr>
        <p:txBody>
          <a:bodyPr wrap="square">
            <a:spAutoFit/>
          </a:bodyPr>
          <a:lstStyle/>
          <a:p>
            <a:pPr algn="l">
              <a:lnSpc>
                <a:spcPts val="2300"/>
              </a:lnSpc>
              <a:spcBef>
                <a:spcPts val="0"/>
              </a:spcBef>
              <a:spcAft>
                <a:spcPts val="400"/>
              </a:spcAft>
              <a:defRPr sz="2000" b="1">
                <a:solidFill>
                  <a:srgbClr val="2D3748"/>
                </a:solidFill>
                <a:latin typeface="Calibri"/>
              </a:defRPr>
            </a:pPr>
            <a:r>
              <a:t>The Explainability Trap</a:t>
            </a:r>
          </a:p>
        </p:txBody>
      </p:sp>
      <p:sp>
        <p:nvSpPr>
          <p:cNvPr id="13" name="TextBox 12"/>
          <p:cNvSpPr txBox="1"/>
          <p:nvPr/>
        </p:nvSpPr>
        <p:spPr>
          <a:xfrm>
            <a:off x="1463040" y="2834640"/>
            <a:ext cx="9601200" cy="320040"/>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Why "we can explain it" ≠ "we can trust it"</a:t>
            </a:r>
          </a:p>
        </p:txBody>
      </p:sp>
      <p:sp>
        <p:nvSpPr>
          <p:cNvPr id="14" name="Rounded Rectangle 13"/>
          <p:cNvSpPr/>
          <p:nvPr/>
        </p:nvSpPr>
        <p:spPr>
          <a:xfrm>
            <a:off x="731520" y="3291839"/>
            <a:ext cx="50292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37559"/>
            <a:ext cx="502920" cy="411480"/>
          </a:xfrm>
          <a:prstGeom prst="rect">
            <a:avLst/>
          </a:prstGeom>
          <a:noFill/>
        </p:spPr>
        <p:txBody>
          <a:bodyPr wrap="square">
            <a:spAutoFit/>
          </a:bodyPr>
          <a:lstStyle/>
          <a:p>
            <a:pPr algn="ctr">
              <a:lnSpc>
                <a:spcPts val="2529"/>
              </a:lnSpc>
              <a:spcBef>
                <a:spcPts val="0"/>
              </a:spcBef>
              <a:spcAft>
                <a:spcPts val="400"/>
              </a:spcAft>
              <a:defRPr sz="2200" b="1">
                <a:solidFill>
                  <a:srgbClr val="FFFFFF"/>
                </a:solidFill>
                <a:latin typeface="Calibri"/>
              </a:defRPr>
            </a:pPr>
            <a:r>
              <a:t>3</a:t>
            </a:r>
          </a:p>
        </p:txBody>
      </p:sp>
      <p:sp>
        <p:nvSpPr>
          <p:cNvPr id="16" name="TextBox 15"/>
          <p:cNvSpPr txBox="1"/>
          <p:nvPr/>
        </p:nvSpPr>
        <p:spPr>
          <a:xfrm>
            <a:off x="1463040" y="3310127"/>
            <a:ext cx="4114800" cy="320040"/>
          </a:xfrm>
          <a:prstGeom prst="rect">
            <a:avLst/>
          </a:prstGeom>
          <a:noFill/>
        </p:spPr>
        <p:txBody>
          <a:bodyPr wrap="square">
            <a:spAutoFit/>
          </a:bodyPr>
          <a:lstStyle/>
          <a:p>
            <a:pPr algn="l">
              <a:lnSpc>
                <a:spcPts val="2300"/>
              </a:lnSpc>
              <a:spcBef>
                <a:spcPts val="0"/>
              </a:spcBef>
              <a:spcAft>
                <a:spcPts val="400"/>
              </a:spcAft>
              <a:defRPr sz="2000" b="1">
                <a:solidFill>
                  <a:srgbClr val="2D3748"/>
                </a:solidFill>
                <a:latin typeface="Calibri"/>
              </a:defRPr>
            </a:pPr>
            <a:r>
              <a:t>Core Principles</a:t>
            </a:r>
          </a:p>
        </p:txBody>
      </p:sp>
      <p:sp>
        <p:nvSpPr>
          <p:cNvPr id="17" name="TextBox 16"/>
          <p:cNvSpPr txBox="1"/>
          <p:nvPr/>
        </p:nvSpPr>
        <p:spPr>
          <a:xfrm>
            <a:off x="1463040" y="3611879"/>
            <a:ext cx="9601200" cy="320040"/>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Fairness, Transparency, Accountability, Robustness, Privacy, Reliability</a:t>
            </a:r>
          </a:p>
        </p:txBody>
      </p:sp>
      <p:sp>
        <p:nvSpPr>
          <p:cNvPr id="18" name="Rounded Rectangle 17"/>
          <p:cNvSpPr/>
          <p:nvPr/>
        </p:nvSpPr>
        <p:spPr>
          <a:xfrm>
            <a:off x="731520" y="4069079"/>
            <a:ext cx="50292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114799"/>
            <a:ext cx="502920" cy="411480"/>
          </a:xfrm>
          <a:prstGeom prst="rect">
            <a:avLst/>
          </a:prstGeom>
          <a:noFill/>
        </p:spPr>
        <p:txBody>
          <a:bodyPr wrap="square">
            <a:spAutoFit/>
          </a:bodyPr>
          <a:lstStyle/>
          <a:p>
            <a:pPr algn="ctr">
              <a:lnSpc>
                <a:spcPts val="2529"/>
              </a:lnSpc>
              <a:spcBef>
                <a:spcPts val="0"/>
              </a:spcBef>
              <a:spcAft>
                <a:spcPts val="400"/>
              </a:spcAft>
              <a:defRPr sz="2200" b="1">
                <a:solidFill>
                  <a:srgbClr val="FFFFFF"/>
                </a:solidFill>
                <a:latin typeface="Calibri"/>
              </a:defRPr>
            </a:pPr>
            <a:r>
              <a:t>4</a:t>
            </a:r>
          </a:p>
        </p:txBody>
      </p:sp>
      <p:sp>
        <p:nvSpPr>
          <p:cNvPr id="20" name="TextBox 19"/>
          <p:cNvSpPr txBox="1"/>
          <p:nvPr/>
        </p:nvSpPr>
        <p:spPr>
          <a:xfrm>
            <a:off x="1463040" y="4087367"/>
            <a:ext cx="4114800" cy="320040"/>
          </a:xfrm>
          <a:prstGeom prst="rect">
            <a:avLst/>
          </a:prstGeom>
          <a:noFill/>
        </p:spPr>
        <p:txBody>
          <a:bodyPr wrap="square">
            <a:spAutoFit/>
          </a:bodyPr>
          <a:lstStyle/>
          <a:p>
            <a:pPr algn="l">
              <a:lnSpc>
                <a:spcPts val="2300"/>
              </a:lnSpc>
              <a:spcBef>
                <a:spcPts val="0"/>
              </a:spcBef>
              <a:spcAft>
                <a:spcPts val="400"/>
              </a:spcAft>
              <a:defRPr sz="2000" b="1">
                <a:solidFill>
                  <a:srgbClr val="2D3748"/>
                </a:solidFill>
                <a:latin typeface="Calibri"/>
              </a:defRPr>
            </a:pPr>
            <a:r>
              <a:t>The Vocabulary Map</a:t>
            </a:r>
          </a:p>
        </p:txBody>
      </p:sp>
      <p:sp>
        <p:nvSpPr>
          <p:cNvPr id="21" name="TextBox 20"/>
          <p:cNvSpPr txBox="1"/>
          <p:nvPr/>
        </p:nvSpPr>
        <p:spPr>
          <a:xfrm>
            <a:off x="1463040" y="4389119"/>
            <a:ext cx="9601200" cy="320040"/>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How related terms connect to the principles</a:t>
            </a:r>
          </a:p>
        </p:txBody>
      </p:sp>
      <p:sp>
        <p:nvSpPr>
          <p:cNvPr id="22" name="Rounded Rectangle 21"/>
          <p:cNvSpPr/>
          <p:nvPr/>
        </p:nvSpPr>
        <p:spPr>
          <a:xfrm>
            <a:off x="731520" y="4846320"/>
            <a:ext cx="50292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892040"/>
            <a:ext cx="502920" cy="411480"/>
          </a:xfrm>
          <a:prstGeom prst="rect">
            <a:avLst/>
          </a:prstGeom>
          <a:noFill/>
        </p:spPr>
        <p:txBody>
          <a:bodyPr wrap="square">
            <a:spAutoFit/>
          </a:bodyPr>
          <a:lstStyle/>
          <a:p>
            <a:pPr algn="ctr">
              <a:lnSpc>
                <a:spcPts val="2529"/>
              </a:lnSpc>
              <a:spcBef>
                <a:spcPts val="0"/>
              </a:spcBef>
              <a:spcAft>
                <a:spcPts val="400"/>
              </a:spcAft>
              <a:defRPr sz="2200" b="1">
                <a:solidFill>
                  <a:srgbClr val="FFFFFF"/>
                </a:solidFill>
                <a:latin typeface="Calibri"/>
              </a:defRPr>
            </a:pPr>
            <a:r>
              <a:t>5</a:t>
            </a:r>
          </a:p>
        </p:txBody>
      </p:sp>
      <p:sp>
        <p:nvSpPr>
          <p:cNvPr id="24" name="TextBox 23"/>
          <p:cNvSpPr txBox="1"/>
          <p:nvPr/>
        </p:nvSpPr>
        <p:spPr>
          <a:xfrm>
            <a:off x="1463040" y="4864607"/>
            <a:ext cx="4114800" cy="320040"/>
          </a:xfrm>
          <a:prstGeom prst="rect">
            <a:avLst/>
          </a:prstGeom>
          <a:noFill/>
        </p:spPr>
        <p:txBody>
          <a:bodyPr wrap="square">
            <a:spAutoFit/>
          </a:bodyPr>
          <a:lstStyle/>
          <a:p>
            <a:pPr algn="l">
              <a:lnSpc>
                <a:spcPts val="2300"/>
              </a:lnSpc>
              <a:spcBef>
                <a:spcPts val="0"/>
              </a:spcBef>
              <a:spcAft>
                <a:spcPts val="400"/>
              </a:spcAft>
              <a:defRPr sz="2000" b="1">
                <a:solidFill>
                  <a:srgbClr val="2D3748"/>
                </a:solidFill>
                <a:latin typeface="Calibri"/>
              </a:defRPr>
            </a:pPr>
            <a:r>
              <a:t>XAI × Causal AI</a:t>
            </a:r>
          </a:p>
        </p:txBody>
      </p:sp>
      <p:sp>
        <p:nvSpPr>
          <p:cNvPr id="25" name="TextBox 24"/>
          <p:cNvSpPr txBox="1"/>
          <p:nvPr/>
        </p:nvSpPr>
        <p:spPr>
          <a:xfrm>
            <a:off x="1463040" y="5166359"/>
            <a:ext cx="9601200" cy="320040"/>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Why correlational explanations aren't enough</a:t>
            </a:r>
          </a:p>
        </p:txBody>
      </p:sp>
      <p:sp>
        <p:nvSpPr>
          <p:cNvPr id="26" name="Rounded Rectangle 25"/>
          <p:cNvSpPr/>
          <p:nvPr/>
        </p:nvSpPr>
        <p:spPr>
          <a:xfrm>
            <a:off x="731520" y="5623560"/>
            <a:ext cx="50292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669280"/>
            <a:ext cx="502920" cy="411480"/>
          </a:xfrm>
          <a:prstGeom prst="rect">
            <a:avLst/>
          </a:prstGeom>
          <a:noFill/>
        </p:spPr>
        <p:txBody>
          <a:bodyPr wrap="square">
            <a:spAutoFit/>
          </a:bodyPr>
          <a:lstStyle/>
          <a:p>
            <a:pPr algn="ctr">
              <a:lnSpc>
                <a:spcPts val="2529"/>
              </a:lnSpc>
              <a:spcBef>
                <a:spcPts val="0"/>
              </a:spcBef>
              <a:spcAft>
                <a:spcPts val="400"/>
              </a:spcAft>
              <a:defRPr sz="2200" b="1">
                <a:solidFill>
                  <a:srgbClr val="FFFFFF"/>
                </a:solidFill>
                <a:latin typeface="Calibri"/>
              </a:defRPr>
            </a:pPr>
            <a:r>
              <a:t>6</a:t>
            </a:r>
          </a:p>
        </p:txBody>
      </p:sp>
      <p:sp>
        <p:nvSpPr>
          <p:cNvPr id="28" name="TextBox 27"/>
          <p:cNvSpPr txBox="1"/>
          <p:nvPr/>
        </p:nvSpPr>
        <p:spPr>
          <a:xfrm>
            <a:off x="1463040" y="5641848"/>
            <a:ext cx="4114800" cy="320040"/>
          </a:xfrm>
          <a:prstGeom prst="rect">
            <a:avLst/>
          </a:prstGeom>
          <a:noFill/>
        </p:spPr>
        <p:txBody>
          <a:bodyPr wrap="square">
            <a:spAutoFit/>
          </a:bodyPr>
          <a:lstStyle/>
          <a:p>
            <a:pPr algn="l">
              <a:lnSpc>
                <a:spcPts val="2300"/>
              </a:lnSpc>
              <a:spcBef>
                <a:spcPts val="0"/>
              </a:spcBef>
              <a:spcAft>
                <a:spcPts val="400"/>
              </a:spcAft>
              <a:defRPr sz="2000" b="1">
                <a:solidFill>
                  <a:srgbClr val="2D3748"/>
                </a:solidFill>
                <a:latin typeface="Calibri"/>
              </a:defRPr>
            </a:pPr>
            <a:r>
              <a:t>Our Codebase, Mapped</a:t>
            </a:r>
          </a:p>
        </p:txBody>
      </p:sp>
      <p:sp>
        <p:nvSpPr>
          <p:cNvPr id="29" name="TextBox 28"/>
          <p:cNvSpPr txBox="1"/>
          <p:nvPr/>
        </p:nvSpPr>
        <p:spPr>
          <a:xfrm>
            <a:off x="1463040" y="5943600"/>
            <a:ext cx="9601200" cy="320040"/>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What we've built against each principle — and what we haven't</a:t>
            </a:r>
          </a:p>
        </p:txBody>
      </p:sp>
      <p:sp>
        <p:nvSpPr>
          <p:cNvPr id="30" name="TextBox 29"/>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What Is Trustworthy AI?</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Not vibes. Verifiable properties.</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137160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10149840" cy="1188720"/>
          </a:xfrm>
          <a:prstGeom prst="rect">
            <a:avLst/>
          </a:prstGeom>
          <a:noFill/>
        </p:spPr>
        <p:txBody>
          <a:bodyPr wrap="square">
            <a:spAutoFit/>
          </a:bodyPr>
          <a:lstStyle/>
          <a:p>
            <a:pPr algn="l">
              <a:lnSpc>
                <a:spcPts val="2379"/>
              </a:lnSpc>
              <a:spcAft>
                <a:spcPts val="400"/>
              </a:spcAft>
              <a:defRPr sz="1700" b="1">
                <a:solidFill>
                  <a:srgbClr val="2D3748"/>
                </a:solidFill>
                <a:latin typeface="Calibri"/>
              </a:defRPr>
            </a:pPr>
            <a:r>
              <a:t>Trustworthy AI = an AI system whose behavior can be justifiably relied upon by the people affected by it.</a:t>
            </a:r>
          </a:p>
          <a:p>
            <a:pPr algn="l">
              <a:lnSpc>
                <a:spcPts val="2379"/>
              </a:lnSpc>
              <a:spcAft>
                <a:spcPts val="400"/>
              </a:spcAft>
              <a:defRPr sz="1700">
                <a:solidFill>
                  <a:srgbClr val="2D3748"/>
                </a:solidFill>
                <a:latin typeface="Calibri"/>
              </a:defRPr>
            </a:pPr>
            <a:r>
              <a:t>Not "AI that feels okay" — AI with demonstrable, verifiable properties.</a:t>
            </a:r>
          </a:p>
        </p:txBody>
      </p:sp>
      <p:sp>
        <p:nvSpPr>
          <p:cNvPr id="8" name="TextBox 7"/>
          <p:cNvSpPr txBox="1"/>
          <p:nvPr/>
        </p:nvSpPr>
        <p:spPr>
          <a:xfrm>
            <a:off x="731520" y="3383280"/>
            <a:ext cx="10698480" cy="411480"/>
          </a:xfrm>
          <a:prstGeom prst="rect">
            <a:avLst/>
          </a:prstGeom>
          <a:noFill/>
        </p:spPr>
        <p:txBody>
          <a:bodyPr wrap="square">
            <a:spAutoFit/>
          </a:bodyPr>
          <a:lstStyle/>
          <a:p>
            <a:pPr algn="l">
              <a:lnSpc>
                <a:spcPts val="1839"/>
              </a:lnSpc>
              <a:spcBef>
                <a:spcPts val="0"/>
              </a:spcBef>
              <a:spcAft>
                <a:spcPts val="400"/>
              </a:spcAft>
              <a:defRPr sz="1600" b="1">
                <a:solidFill>
                  <a:srgbClr val="2D3748"/>
                </a:solidFill>
                <a:latin typeface="Calibri"/>
              </a:defRPr>
            </a:pPr>
            <a:r>
              <a:t>NIST AI RMF defines trustworthy AI through seven characteristics:</a:t>
            </a:r>
          </a:p>
        </p:txBody>
      </p:sp>
      <p:sp>
        <p:nvSpPr>
          <p:cNvPr id="9" name="Rounded Rectangle 8"/>
          <p:cNvSpPr/>
          <p:nvPr/>
        </p:nvSpPr>
        <p:spPr>
          <a:xfrm>
            <a:off x="731520" y="3931920"/>
            <a:ext cx="1417320" cy="1188720"/>
          </a:xfrm>
          <a:prstGeom prst="roundRect">
            <a:avLst/>
          </a:prstGeom>
          <a:solidFill>
            <a:srgbClr val="FFFFFF"/>
          </a:solidFill>
          <a:ln w="254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200" b="1">
                <a:solidFill>
                  <a:srgbClr val="00897B"/>
                </a:solidFill>
                <a:latin typeface="Calibri"/>
              </a:defRPr>
            </a:pPr>
            <a:r>
              <a:t>Valid &amp;</a:t>
            </a:r>
            <a:br/>
            <a:r>
              <a:t>Reliable</a:t>
            </a:r>
          </a:p>
        </p:txBody>
      </p:sp>
      <p:sp>
        <p:nvSpPr>
          <p:cNvPr id="10" name="Rounded Rectangle 9"/>
          <p:cNvSpPr/>
          <p:nvPr/>
        </p:nvSpPr>
        <p:spPr>
          <a:xfrm>
            <a:off x="2331720" y="3931920"/>
            <a:ext cx="1417320" cy="1188720"/>
          </a:xfrm>
          <a:prstGeom prst="roundRect">
            <a:avLst/>
          </a:prstGeom>
          <a:solidFill>
            <a:srgbClr val="FFFFFF"/>
          </a:solidFill>
          <a:ln w="254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200" b="1">
                <a:solidFill>
                  <a:srgbClr val="E53E3E"/>
                </a:solidFill>
                <a:latin typeface="Calibri"/>
              </a:defRPr>
            </a:pPr>
            <a:r>
              <a:t>Safe</a:t>
            </a:r>
          </a:p>
        </p:txBody>
      </p:sp>
      <p:sp>
        <p:nvSpPr>
          <p:cNvPr id="11" name="Rounded Rectangle 10"/>
          <p:cNvSpPr/>
          <p:nvPr/>
        </p:nvSpPr>
        <p:spPr>
          <a:xfrm>
            <a:off x="3931920" y="3931920"/>
            <a:ext cx="1417320" cy="1188720"/>
          </a:xfrm>
          <a:prstGeom prst="roundRect">
            <a:avLst/>
          </a:prstGeom>
          <a:solidFill>
            <a:srgbClr val="FFFFFF"/>
          </a:solidFill>
          <a:ln w="25400">
            <a:solidFill>
              <a:srgbClr val="6B46C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200" b="1">
                <a:solidFill>
                  <a:srgbClr val="6B46C1"/>
                </a:solidFill>
                <a:latin typeface="Calibri"/>
              </a:defRPr>
            </a:pPr>
            <a:r>
              <a:t>Secure &amp;</a:t>
            </a:r>
            <a:br/>
            <a:r>
              <a:t>Resilient</a:t>
            </a:r>
          </a:p>
        </p:txBody>
      </p:sp>
      <p:sp>
        <p:nvSpPr>
          <p:cNvPr id="12" name="Rounded Rectangle 11"/>
          <p:cNvSpPr/>
          <p:nvPr/>
        </p:nvSpPr>
        <p:spPr>
          <a:xfrm>
            <a:off x="5532120" y="3931920"/>
            <a:ext cx="1417320" cy="1188720"/>
          </a:xfrm>
          <a:prstGeom prst="roundRect">
            <a:avLst/>
          </a:prstGeom>
          <a:solidFill>
            <a:srgbClr val="FFFFFF"/>
          </a:solidFill>
          <a:ln w="2540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200" b="1">
                <a:solidFill>
                  <a:srgbClr val="38A169"/>
                </a:solidFill>
                <a:latin typeface="Calibri"/>
              </a:defRPr>
            </a:pPr>
            <a:r>
              <a:t>Accountable &amp;</a:t>
            </a:r>
            <a:br/>
            <a:r>
              <a:t>Transparent</a:t>
            </a:r>
          </a:p>
        </p:txBody>
      </p:sp>
      <p:sp>
        <p:nvSpPr>
          <p:cNvPr id="13" name="Rounded Rectangle 12"/>
          <p:cNvSpPr/>
          <p:nvPr/>
        </p:nvSpPr>
        <p:spPr>
          <a:xfrm>
            <a:off x="7132320" y="3931920"/>
            <a:ext cx="1417320" cy="1188720"/>
          </a:xfrm>
          <a:prstGeom prst="roundRect">
            <a:avLst/>
          </a:prstGeom>
          <a:solidFill>
            <a:srgbClr val="FFFFFF"/>
          </a:solidFill>
          <a:ln w="254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200" b="1">
                <a:solidFill>
                  <a:srgbClr val="FF8F00"/>
                </a:solidFill>
                <a:latin typeface="Calibri"/>
              </a:defRPr>
            </a:pPr>
            <a:r>
              <a:t>Explainable &amp;</a:t>
            </a:r>
            <a:br/>
            <a:r>
              <a:t>Interpretable</a:t>
            </a:r>
          </a:p>
        </p:txBody>
      </p:sp>
      <p:sp>
        <p:nvSpPr>
          <p:cNvPr id="14" name="Rounded Rectangle 13"/>
          <p:cNvSpPr/>
          <p:nvPr/>
        </p:nvSpPr>
        <p:spPr>
          <a:xfrm>
            <a:off x="8732520" y="3931920"/>
            <a:ext cx="1417320" cy="1188720"/>
          </a:xfrm>
          <a:prstGeom prst="roundRect">
            <a:avLst/>
          </a:prstGeom>
          <a:solidFill>
            <a:srgbClr val="FFFFFF"/>
          </a:solidFill>
          <a:ln w="254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200" b="1">
                <a:solidFill>
                  <a:srgbClr val="4A5568"/>
                </a:solidFill>
                <a:latin typeface="Calibri"/>
              </a:defRPr>
            </a:pPr>
            <a:r>
              <a:t>Privacy-</a:t>
            </a:r>
            <a:br/>
            <a:r>
              <a:t>Enhanced</a:t>
            </a:r>
          </a:p>
        </p:txBody>
      </p:sp>
      <p:sp>
        <p:nvSpPr>
          <p:cNvPr id="15" name="Rounded Rectangle 14"/>
          <p:cNvSpPr/>
          <p:nvPr/>
        </p:nvSpPr>
        <p:spPr>
          <a:xfrm>
            <a:off x="10332720" y="3931920"/>
            <a:ext cx="1417320" cy="1188720"/>
          </a:xfrm>
          <a:prstGeom prst="roundRect">
            <a:avLst/>
          </a:prstGeom>
          <a:solidFill>
            <a:srgbClr val="FFFFFF"/>
          </a:solidFill>
          <a:ln w="254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200" b="1">
                <a:solidFill>
                  <a:srgbClr val="E53E3E"/>
                </a:solidFill>
                <a:latin typeface="Calibri"/>
              </a:defRPr>
            </a:pPr>
            <a:r>
              <a:t>Fair — Harmful</a:t>
            </a:r>
            <a:br/>
            <a:r>
              <a:t>Bias Managed</a:t>
            </a:r>
          </a:p>
        </p:txBody>
      </p:sp>
      <p:sp>
        <p:nvSpPr>
          <p:cNvPr id="16" name="Rounded Rectangle 15"/>
          <p:cNvSpPr/>
          <p:nvPr/>
        </p:nvSpPr>
        <p:spPr>
          <a:xfrm>
            <a:off x="731520" y="5440680"/>
            <a:ext cx="10698480" cy="5486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486400"/>
            <a:ext cx="10149840" cy="45720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Key insight: "Explainable" is one of seven — not the whole definition. This sets up everything that follows.</a:t>
            </a:r>
          </a:p>
        </p:txBody>
      </p:sp>
      <p:sp>
        <p:nvSpPr>
          <p:cNvPr id="18" name="TextBox 17"/>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Why Do We Need Trustworthy AI?</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The stakes have shifted — and regulation has caught up</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029200" cy="365760"/>
          </a:xfrm>
          <a:prstGeom prst="rect">
            <a:avLst/>
          </a:prstGeom>
          <a:noFill/>
        </p:spPr>
        <p:txBody>
          <a:bodyPr wrap="square">
            <a:spAutoFit/>
          </a:bodyPr>
          <a:lstStyle/>
          <a:p>
            <a:pPr algn="l">
              <a:lnSpc>
                <a:spcPts val="2070"/>
              </a:lnSpc>
              <a:spcBef>
                <a:spcPts val="0"/>
              </a:spcBef>
              <a:spcAft>
                <a:spcPts val="400"/>
              </a:spcAft>
              <a:defRPr sz="1800" b="1">
                <a:solidFill>
                  <a:srgbClr val="A0AEC0"/>
                </a:solidFill>
                <a:latin typeface="Calibri"/>
              </a:defRPr>
            </a:pPr>
            <a:r>
              <a:t>BEFORE: Recommendation Systems</a:t>
            </a:r>
          </a:p>
        </p:txBody>
      </p:sp>
      <p:sp>
        <p:nvSpPr>
          <p:cNvPr id="7" name="TextBox 6"/>
          <p:cNvSpPr txBox="1"/>
          <p:nvPr/>
        </p:nvSpPr>
        <p:spPr>
          <a:xfrm>
            <a:off x="731520" y="2103120"/>
            <a:ext cx="5029200" cy="1097280"/>
          </a:xfrm>
          <a:prstGeom prst="rect">
            <a:avLst/>
          </a:prstGeom>
          <a:noFill/>
        </p:spPr>
        <p:txBody>
          <a:bodyPr wrap="square">
            <a:spAutoFit/>
          </a:bodyPr>
          <a:lstStyle/>
          <a:p>
            <a:pPr algn="l">
              <a:lnSpc>
                <a:spcPts val="2250"/>
              </a:lnSpc>
              <a:spcAft>
                <a:spcPts val="400"/>
              </a:spcAft>
              <a:defRPr sz="1500">
                <a:solidFill>
                  <a:srgbClr val="4A5568"/>
                </a:solidFill>
                <a:latin typeface="Calibri"/>
              </a:defRPr>
            </a:pPr>
            <a:r>
              <a:t>• Wrong answer = mild annoyance</a:t>
            </a:r>
          </a:p>
          <a:p>
            <a:pPr algn="l">
              <a:lnSpc>
                <a:spcPts val="2250"/>
              </a:lnSpc>
              <a:spcAft>
                <a:spcPts val="400"/>
              </a:spcAft>
              <a:defRPr sz="1500">
                <a:solidFill>
                  <a:srgbClr val="4A5568"/>
                </a:solidFill>
                <a:latin typeface="Calibri"/>
              </a:defRPr>
            </a:pPr>
            <a:r>
              <a:t>• Stakes: click-through rate, engagement</a:t>
            </a:r>
          </a:p>
          <a:p>
            <a:pPr algn="l">
              <a:lnSpc>
                <a:spcPts val="2250"/>
              </a:lnSpc>
              <a:spcAft>
                <a:spcPts val="400"/>
              </a:spcAft>
              <a:defRPr sz="1500">
                <a:solidFill>
                  <a:srgbClr val="4A5568"/>
                </a:solidFill>
                <a:latin typeface="Calibri"/>
              </a:defRPr>
            </a:pPr>
            <a:r>
              <a:t>• Failure mode: user scrolls past</a:t>
            </a:r>
          </a:p>
        </p:txBody>
      </p:sp>
      <p:sp>
        <p:nvSpPr>
          <p:cNvPr id="8" name="TextBox 7"/>
          <p:cNvSpPr txBox="1"/>
          <p:nvPr/>
        </p:nvSpPr>
        <p:spPr>
          <a:xfrm>
            <a:off x="6400800" y="1645920"/>
            <a:ext cx="5029200" cy="365760"/>
          </a:xfrm>
          <a:prstGeom prst="rect">
            <a:avLst/>
          </a:prstGeom>
          <a:noFill/>
        </p:spPr>
        <p:txBody>
          <a:bodyPr wrap="square">
            <a:spAutoFit/>
          </a:bodyPr>
          <a:lstStyle/>
          <a:p>
            <a:pPr algn="l">
              <a:lnSpc>
                <a:spcPts val="2070"/>
              </a:lnSpc>
              <a:spcBef>
                <a:spcPts val="0"/>
              </a:spcBef>
              <a:spcAft>
                <a:spcPts val="400"/>
              </a:spcAft>
              <a:defRPr sz="1800" b="1">
                <a:solidFill>
                  <a:srgbClr val="E53E3E"/>
                </a:solidFill>
                <a:latin typeface="Calibri"/>
              </a:defRPr>
            </a:pPr>
            <a:r>
              <a:t>NOW: Decision-Making &amp; Agentic Systems</a:t>
            </a:r>
          </a:p>
        </p:txBody>
      </p:sp>
      <p:sp>
        <p:nvSpPr>
          <p:cNvPr id="9" name="TextBox 8"/>
          <p:cNvSpPr txBox="1"/>
          <p:nvPr/>
        </p:nvSpPr>
        <p:spPr>
          <a:xfrm>
            <a:off x="6400800" y="2103120"/>
            <a:ext cx="5029200" cy="1097280"/>
          </a:xfrm>
          <a:prstGeom prst="rect">
            <a:avLst/>
          </a:prstGeom>
          <a:noFill/>
        </p:spPr>
        <p:txBody>
          <a:bodyPr wrap="square">
            <a:spAutoFit/>
          </a:bodyPr>
          <a:lstStyle/>
          <a:p>
            <a:pPr algn="l">
              <a:lnSpc>
                <a:spcPts val="2250"/>
              </a:lnSpc>
              <a:spcAft>
                <a:spcPts val="400"/>
              </a:spcAft>
              <a:defRPr sz="1500">
                <a:solidFill>
                  <a:srgbClr val="2D3748"/>
                </a:solidFill>
                <a:latin typeface="Calibri"/>
              </a:defRPr>
            </a:pPr>
            <a:r>
              <a:t>• Wrong answer = financial loss, legal exposure,</a:t>
            </a:r>
          </a:p>
          <a:p>
            <a:pPr algn="l">
              <a:lnSpc>
                <a:spcPts val="2250"/>
              </a:lnSpc>
              <a:spcAft>
                <a:spcPts val="400"/>
              </a:spcAft>
              <a:defRPr sz="1500">
                <a:solidFill>
                  <a:srgbClr val="2D3748"/>
                </a:solidFill>
                <a:latin typeface="Calibri"/>
              </a:defRPr>
            </a:pPr>
            <a:r>
              <a:t>  physical/safety harm, denied opportunity</a:t>
            </a:r>
          </a:p>
          <a:p>
            <a:pPr algn="l">
              <a:lnSpc>
                <a:spcPts val="2250"/>
              </a:lnSpc>
              <a:spcAft>
                <a:spcPts val="400"/>
              </a:spcAft>
              <a:defRPr sz="1500">
                <a:solidFill>
                  <a:srgbClr val="2D3748"/>
                </a:solidFill>
                <a:latin typeface="Calibri"/>
              </a:defRPr>
            </a:pPr>
            <a:r>
              <a:t>• Stakes: people's lives, livelihoods, rights</a:t>
            </a:r>
          </a:p>
        </p:txBody>
      </p:sp>
      <p:sp>
        <p:nvSpPr>
          <p:cNvPr id="10" name="TextBox 9"/>
          <p:cNvSpPr txBox="1"/>
          <p:nvPr/>
        </p:nvSpPr>
        <p:spPr>
          <a:xfrm>
            <a:off x="731520" y="3566160"/>
            <a:ext cx="10698480" cy="411480"/>
          </a:xfrm>
          <a:prstGeom prst="rect">
            <a:avLst/>
          </a:prstGeom>
          <a:noFill/>
        </p:spPr>
        <p:txBody>
          <a:bodyPr wrap="square">
            <a:spAutoFit/>
          </a:bodyPr>
          <a:lstStyle/>
          <a:p>
            <a:pPr algn="l">
              <a:lnSpc>
                <a:spcPts val="1954"/>
              </a:lnSpc>
              <a:spcBef>
                <a:spcPts val="0"/>
              </a:spcBef>
              <a:spcAft>
                <a:spcPts val="400"/>
              </a:spcAft>
              <a:defRPr sz="1700" b="1">
                <a:solidFill>
                  <a:srgbClr val="2D3748"/>
                </a:solidFill>
                <a:latin typeface="Calibri"/>
              </a:defRPr>
            </a:pPr>
            <a:r>
              <a:t>Three concrete failure categories (not abstract assertions):</a:t>
            </a:r>
          </a:p>
        </p:txBody>
      </p:sp>
      <p:sp>
        <p:nvSpPr>
          <p:cNvPr id="11" name="Rounded Rectangle 10"/>
          <p:cNvSpPr/>
          <p:nvPr/>
        </p:nvSpPr>
        <p:spPr>
          <a:xfrm>
            <a:off x="731520" y="4160520"/>
            <a:ext cx="1828800" cy="347472"/>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78807"/>
            <a:ext cx="1645920" cy="310896"/>
          </a:xfrm>
          <a:prstGeom prst="rect">
            <a:avLst/>
          </a:prstGeom>
          <a:noFill/>
        </p:spPr>
        <p:txBody>
          <a:bodyPr wrap="square">
            <a:spAutoFit/>
          </a:bodyPr>
          <a:lstStyle/>
          <a:p>
            <a:pPr algn="ctr">
              <a:lnSpc>
                <a:spcPts val="1609"/>
              </a:lnSpc>
              <a:spcBef>
                <a:spcPts val="0"/>
              </a:spcBef>
              <a:spcAft>
                <a:spcPts val="400"/>
              </a:spcAft>
              <a:defRPr sz="1400" b="1">
                <a:solidFill>
                  <a:srgbClr val="FFFFFF"/>
                </a:solidFill>
                <a:latin typeface="Calibri"/>
              </a:defRPr>
            </a:pPr>
            <a:r>
              <a:t>Silent Failure</a:t>
            </a:r>
          </a:p>
        </p:txBody>
      </p:sp>
      <p:sp>
        <p:nvSpPr>
          <p:cNvPr id="13" name="TextBox 12"/>
          <p:cNvSpPr txBox="1"/>
          <p:nvPr/>
        </p:nvSpPr>
        <p:spPr>
          <a:xfrm>
            <a:off x="2834640" y="4178807"/>
            <a:ext cx="8778240" cy="320040"/>
          </a:xfrm>
          <a:prstGeom prst="rect">
            <a:avLst/>
          </a:prstGeom>
          <a:noFill/>
        </p:spPr>
        <p:txBody>
          <a:bodyPr wrap="square">
            <a:spAutoFit/>
          </a:bodyPr>
          <a:lstStyle/>
          <a:p>
            <a:pPr algn="l">
              <a:lnSpc>
                <a:spcPts val="1560"/>
              </a:lnSpc>
              <a:spcBef>
                <a:spcPts val="0"/>
              </a:spcBef>
              <a:spcAft>
                <a:spcPts val="400"/>
              </a:spcAft>
              <a:defRPr sz="1300" b="0">
                <a:solidFill>
                  <a:srgbClr val="2D3748"/>
                </a:solidFill>
                <a:latin typeface="Calibri"/>
              </a:defRPr>
            </a:pPr>
            <a:r>
              <a:t>A model confidently wrong — hallucination, biased denial — with no signal that anything went wrong. The system doesn't know it doesn't know.</a:t>
            </a:r>
          </a:p>
        </p:txBody>
      </p:sp>
      <p:sp>
        <p:nvSpPr>
          <p:cNvPr id="14" name="Rounded Rectangle 13"/>
          <p:cNvSpPr/>
          <p:nvPr/>
        </p:nvSpPr>
        <p:spPr>
          <a:xfrm>
            <a:off x="731520" y="5029200"/>
            <a:ext cx="1828800" cy="347472"/>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047488"/>
            <a:ext cx="1645920" cy="310896"/>
          </a:xfrm>
          <a:prstGeom prst="rect">
            <a:avLst/>
          </a:prstGeom>
          <a:noFill/>
        </p:spPr>
        <p:txBody>
          <a:bodyPr wrap="square">
            <a:spAutoFit/>
          </a:bodyPr>
          <a:lstStyle/>
          <a:p>
            <a:pPr algn="ctr">
              <a:lnSpc>
                <a:spcPts val="1609"/>
              </a:lnSpc>
              <a:spcBef>
                <a:spcPts val="0"/>
              </a:spcBef>
              <a:spcAft>
                <a:spcPts val="400"/>
              </a:spcAft>
              <a:defRPr sz="1400" b="1">
                <a:solidFill>
                  <a:srgbClr val="FFFFFF"/>
                </a:solidFill>
                <a:latin typeface="Calibri"/>
              </a:defRPr>
            </a:pPr>
            <a:r>
              <a:t>Adversarial Failure</a:t>
            </a:r>
          </a:p>
        </p:txBody>
      </p:sp>
      <p:sp>
        <p:nvSpPr>
          <p:cNvPr id="16" name="TextBox 15"/>
          <p:cNvSpPr txBox="1"/>
          <p:nvPr/>
        </p:nvSpPr>
        <p:spPr>
          <a:xfrm>
            <a:off x="2834640" y="5047488"/>
            <a:ext cx="8778240" cy="320040"/>
          </a:xfrm>
          <a:prstGeom prst="rect">
            <a:avLst/>
          </a:prstGeom>
          <a:noFill/>
        </p:spPr>
        <p:txBody>
          <a:bodyPr wrap="square">
            <a:spAutoFit/>
          </a:bodyPr>
          <a:lstStyle/>
          <a:p>
            <a:pPr algn="l">
              <a:lnSpc>
                <a:spcPts val="1560"/>
              </a:lnSpc>
              <a:spcBef>
                <a:spcPts val="0"/>
              </a:spcBef>
              <a:spcAft>
                <a:spcPts val="400"/>
              </a:spcAft>
              <a:defRPr sz="1300" b="0">
                <a:solidFill>
                  <a:srgbClr val="2D3748"/>
                </a:solidFill>
                <a:latin typeface="Calibri"/>
              </a:defRPr>
            </a:pPr>
            <a:r>
              <a:t>A system manipulated by a bad actor — prompt injection, data poisoning, jailbreak. The model is functioning exactly as designed; the input isn't.</a:t>
            </a:r>
          </a:p>
        </p:txBody>
      </p:sp>
      <p:sp>
        <p:nvSpPr>
          <p:cNvPr id="17" name="Rounded Rectangle 16"/>
          <p:cNvSpPr/>
          <p:nvPr/>
        </p:nvSpPr>
        <p:spPr>
          <a:xfrm>
            <a:off x="731520" y="5897879"/>
            <a:ext cx="1828800" cy="347472"/>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916167"/>
            <a:ext cx="1645920" cy="310896"/>
          </a:xfrm>
          <a:prstGeom prst="rect">
            <a:avLst/>
          </a:prstGeom>
          <a:noFill/>
        </p:spPr>
        <p:txBody>
          <a:bodyPr wrap="square">
            <a:spAutoFit/>
          </a:bodyPr>
          <a:lstStyle/>
          <a:p>
            <a:pPr algn="ctr">
              <a:lnSpc>
                <a:spcPts val="1609"/>
              </a:lnSpc>
              <a:spcBef>
                <a:spcPts val="0"/>
              </a:spcBef>
              <a:spcAft>
                <a:spcPts val="400"/>
              </a:spcAft>
              <a:defRPr sz="1400" b="1">
                <a:solidFill>
                  <a:srgbClr val="FFFFFF"/>
                </a:solidFill>
                <a:latin typeface="Calibri"/>
              </a:defRPr>
            </a:pPr>
            <a:r>
              <a:t>Systemic Failure</a:t>
            </a:r>
          </a:p>
        </p:txBody>
      </p:sp>
      <p:sp>
        <p:nvSpPr>
          <p:cNvPr id="19" name="TextBox 18"/>
          <p:cNvSpPr txBox="1"/>
          <p:nvPr/>
        </p:nvSpPr>
        <p:spPr>
          <a:xfrm>
            <a:off x="2834640" y="5916167"/>
            <a:ext cx="8778240" cy="320040"/>
          </a:xfrm>
          <a:prstGeom prst="rect">
            <a:avLst/>
          </a:prstGeom>
          <a:noFill/>
        </p:spPr>
        <p:txBody>
          <a:bodyPr wrap="square">
            <a:spAutoFit/>
          </a:bodyPr>
          <a:lstStyle/>
          <a:p>
            <a:pPr algn="l">
              <a:lnSpc>
                <a:spcPts val="1560"/>
              </a:lnSpc>
              <a:spcBef>
                <a:spcPts val="0"/>
              </a:spcBef>
              <a:spcAft>
                <a:spcPts val="400"/>
              </a:spcAft>
              <a:defRPr sz="1300" b="0">
                <a:solidFill>
                  <a:srgbClr val="2D3748"/>
                </a:solidFill>
                <a:latin typeface="Calibri"/>
              </a:defRPr>
            </a:pPr>
            <a:r>
              <a:t>Individually 'correct' predictions producing harmful aggregate outcomes — disparate impact across a protected group, even with no single wrong prediction.</a:t>
            </a:r>
          </a:p>
        </p:txBody>
      </p:sp>
      <p:sp>
        <p:nvSpPr>
          <p:cNvPr id="20" name="TextBox 19"/>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Regulatory Reality</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Trustworthiness stopped being optional when regulation caught up to deployment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029200" cy="3291840"/>
          </a:xfrm>
          <a:prstGeom prst="roundRect">
            <a:avLst/>
          </a:prstGeom>
          <a:solidFill>
            <a:srgbClr val="FFFFFF"/>
          </a:solidFill>
          <a:ln w="1270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02920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91640"/>
            <a:ext cx="4572000" cy="411480"/>
          </a:xfrm>
          <a:prstGeom prst="rect">
            <a:avLst/>
          </a:prstGeom>
          <a:noFill/>
        </p:spPr>
        <p:txBody>
          <a:bodyPr wrap="square">
            <a:spAutoFit/>
          </a:bodyPr>
          <a:lstStyle/>
          <a:p>
            <a:pPr algn="l">
              <a:lnSpc>
                <a:spcPts val="2070"/>
              </a:lnSpc>
              <a:spcBef>
                <a:spcPts val="0"/>
              </a:spcBef>
              <a:spcAft>
                <a:spcPts val="400"/>
              </a:spcAft>
              <a:defRPr sz="1800" b="1">
                <a:solidFill>
                  <a:srgbClr val="FFFFFF"/>
                </a:solidFill>
                <a:latin typeface="Calibri"/>
              </a:defRPr>
            </a:pPr>
            <a:r>
              <a:t>EU AI Act — Binding Law</a:t>
            </a:r>
          </a:p>
        </p:txBody>
      </p:sp>
      <p:sp>
        <p:nvSpPr>
          <p:cNvPr id="9" name="TextBox 8"/>
          <p:cNvSpPr txBox="1"/>
          <p:nvPr/>
        </p:nvSpPr>
        <p:spPr>
          <a:xfrm>
            <a:off x="1005840" y="2331720"/>
            <a:ext cx="4572000" cy="2468880"/>
          </a:xfrm>
          <a:prstGeom prst="rect">
            <a:avLst/>
          </a:prstGeom>
          <a:noFill/>
        </p:spPr>
        <p:txBody>
          <a:bodyPr wrap="square">
            <a:spAutoFit/>
          </a:bodyPr>
          <a:lstStyle/>
          <a:p>
            <a:pPr algn="l">
              <a:lnSpc>
                <a:spcPts val="1884"/>
              </a:lnSpc>
              <a:spcAft>
                <a:spcPts val="400"/>
              </a:spcAft>
              <a:defRPr sz="1300">
                <a:solidFill>
                  <a:srgbClr val="2D3748"/>
                </a:solidFill>
                <a:latin typeface="Calibri"/>
              </a:defRPr>
            </a:pPr>
            <a:r>
              <a:t>● Unacceptable risk → Prohibited (social scoring, etc.)</a:t>
            </a:r>
          </a:p>
          <a:p>
            <a:pPr algn="l">
              <a:lnSpc>
                <a:spcPts val="1884"/>
              </a:lnSpc>
              <a:spcAft>
                <a:spcPts val="400"/>
              </a:spcAft>
              <a:defRPr sz="1300">
                <a:solidFill>
                  <a:srgbClr val="2D3748"/>
                </a:solidFill>
                <a:latin typeface="Calibri"/>
              </a:defRPr>
            </a:pPr>
            <a:r>
              <a:t>● High risk → Strict obligations (conformity assessment,</a:t>
            </a:r>
          </a:p>
          <a:p>
            <a:pPr algn="l">
              <a:lnSpc>
                <a:spcPts val="1884"/>
              </a:lnSpc>
              <a:spcAft>
                <a:spcPts val="400"/>
              </a:spcAft>
              <a:defRPr sz="1300">
                <a:solidFill>
                  <a:srgbClr val="2D3748"/>
                </a:solidFill>
                <a:latin typeface="Calibri"/>
              </a:defRPr>
            </a:pPr>
            <a:r>
              <a:t>   human oversight, risk management, transparency)</a:t>
            </a:r>
          </a:p>
          <a:p>
            <a:pPr algn="l">
              <a:lnSpc>
                <a:spcPts val="1884"/>
              </a:lnSpc>
              <a:spcAft>
                <a:spcPts val="400"/>
              </a:spcAft>
              <a:defRPr sz="1300">
                <a:solidFill>
                  <a:srgbClr val="2D3748"/>
                </a:solidFill>
                <a:latin typeface="Calibri"/>
              </a:defRPr>
            </a:pPr>
            <a:r>
              <a:t>● Limited risk → Transparency obligations only</a:t>
            </a:r>
          </a:p>
          <a:p>
            <a:pPr algn="l">
              <a:lnSpc>
                <a:spcPts val="1884"/>
              </a:lnSpc>
              <a:spcAft>
                <a:spcPts val="400"/>
              </a:spcAft>
              <a:defRPr sz="1300">
                <a:solidFill>
                  <a:srgbClr val="2D3748"/>
                </a:solidFill>
                <a:latin typeface="Calibri"/>
              </a:defRPr>
            </a:pPr>
            <a:r>
              <a:t>● Minimal risk → No mandatory obligations</a:t>
            </a:r>
          </a:p>
          <a:p>
            <a:pPr algn="l">
              <a:lnSpc>
                <a:spcPts val="1884"/>
              </a:lnSpc>
              <a:spcAft>
                <a:spcPts val="400"/>
              </a:spcAft>
              <a:defRPr sz="1300">
                <a:solidFill>
                  <a:srgbClr val="2D3748"/>
                </a:solidFill>
                <a:latin typeface="Calibri"/>
              </a:defRPr>
            </a:pPr>
          </a:p>
          <a:p>
            <a:pPr algn="l">
              <a:lnSpc>
                <a:spcPts val="1884"/>
              </a:lnSpc>
              <a:spcAft>
                <a:spcPts val="400"/>
              </a:spcAft>
              <a:defRPr sz="1300">
                <a:solidFill>
                  <a:srgbClr val="2D3748"/>
                </a:solidFill>
                <a:latin typeface="Calibri"/>
              </a:defRPr>
            </a:pPr>
            <a:r>
              <a:t>▸ Most rules effective August 2026</a:t>
            </a:r>
          </a:p>
          <a:p>
            <a:pPr algn="l">
              <a:lnSpc>
                <a:spcPts val="1884"/>
              </a:lnSpc>
              <a:spcAft>
                <a:spcPts val="400"/>
              </a:spcAft>
              <a:defRPr sz="1300">
                <a:solidFill>
                  <a:srgbClr val="2D3748"/>
                </a:solidFill>
                <a:latin typeface="Calibri"/>
              </a:defRPr>
            </a:pPr>
            <a:r>
              <a:t>▸ High-risk obligations phase in through 2026–2027</a:t>
            </a:r>
          </a:p>
        </p:txBody>
      </p:sp>
      <p:sp>
        <p:nvSpPr>
          <p:cNvPr id="10" name="Rounded Rectangle 9"/>
          <p:cNvSpPr/>
          <p:nvPr/>
        </p:nvSpPr>
        <p:spPr>
          <a:xfrm>
            <a:off x="6400800" y="1645920"/>
            <a:ext cx="5029200" cy="3291840"/>
          </a:xfrm>
          <a:prstGeom prst="roundRect">
            <a:avLst/>
          </a:prstGeom>
          <a:solidFill>
            <a:srgbClr val="FFFFFF"/>
          </a:solidFill>
          <a:ln w="1270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645920"/>
            <a:ext cx="5029200" cy="50292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691640"/>
            <a:ext cx="4572000" cy="411480"/>
          </a:xfrm>
          <a:prstGeom prst="rect">
            <a:avLst/>
          </a:prstGeom>
          <a:noFill/>
        </p:spPr>
        <p:txBody>
          <a:bodyPr wrap="square">
            <a:spAutoFit/>
          </a:bodyPr>
          <a:lstStyle/>
          <a:p>
            <a:pPr algn="l">
              <a:lnSpc>
                <a:spcPts val="2070"/>
              </a:lnSpc>
              <a:spcBef>
                <a:spcPts val="0"/>
              </a:spcBef>
              <a:spcAft>
                <a:spcPts val="400"/>
              </a:spcAft>
              <a:defRPr sz="1800" b="1">
                <a:solidFill>
                  <a:srgbClr val="FFFFFF"/>
                </a:solidFill>
                <a:latin typeface="Calibri"/>
              </a:defRPr>
            </a:pPr>
            <a:r>
              <a:t>NIST AI RMF — Voluntary Framework</a:t>
            </a:r>
          </a:p>
        </p:txBody>
      </p:sp>
      <p:sp>
        <p:nvSpPr>
          <p:cNvPr id="13" name="TextBox 12"/>
          <p:cNvSpPr txBox="1"/>
          <p:nvPr/>
        </p:nvSpPr>
        <p:spPr>
          <a:xfrm>
            <a:off x="6675120" y="2331720"/>
            <a:ext cx="4572000" cy="2468880"/>
          </a:xfrm>
          <a:prstGeom prst="rect">
            <a:avLst/>
          </a:prstGeom>
          <a:noFill/>
        </p:spPr>
        <p:txBody>
          <a:bodyPr wrap="square">
            <a:spAutoFit/>
          </a:bodyPr>
          <a:lstStyle/>
          <a:p>
            <a:pPr algn="l">
              <a:lnSpc>
                <a:spcPts val="1884"/>
              </a:lnSpc>
              <a:spcAft>
                <a:spcPts val="400"/>
              </a:spcAft>
              <a:defRPr sz="1300">
                <a:solidFill>
                  <a:srgbClr val="2D3748"/>
                </a:solidFill>
                <a:latin typeface="Calibri"/>
              </a:defRPr>
            </a:pPr>
            <a:r>
              <a:t>Four functions: Govern → Map → Measure → Manage</a:t>
            </a:r>
          </a:p>
          <a:p>
            <a:pPr algn="l">
              <a:lnSpc>
                <a:spcPts val="1884"/>
              </a:lnSpc>
              <a:spcAft>
                <a:spcPts val="400"/>
              </a:spcAft>
              <a:defRPr sz="1300">
                <a:solidFill>
                  <a:srgbClr val="2D3748"/>
                </a:solidFill>
                <a:latin typeface="Calibri"/>
              </a:defRPr>
            </a:pPr>
          </a:p>
          <a:p>
            <a:pPr algn="l">
              <a:lnSpc>
                <a:spcPts val="1884"/>
              </a:lnSpc>
              <a:spcAft>
                <a:spcPts val="400"/>
              </a:spcAft>
              <a:defRPr sz="1300">
                <a:solidFill>
                  <a:srgbClr val="2D3748"/>
                </a:solidFill>
                <a:latin typeface="Calibri"/>
              </a:defRPr>
            </a:pPr>
            <a:r>
              <a:t>● Govern: Policies, accountability, culture</a:t>
            </a:r>
          </a:p>
          <a:p>
            <a:pPr algn="l">
              <a:lnSpc>
                <a:spcPts val="1884"/>
              </a:lnSpc>
              <a:spcAft>
                <a:spcPts val="400"/>
              </a:spcAft>
              <a:defRPr sz="1300">
                <a:solidFill>
                  <a:srgbClr val="2D3748"/>
                </a:solidFill>
                <a:latin typeface="Calibri"/>
              </a:defRPr>
            </a:pPr>
            <a:r>
              <a:t>● Map: Context, classification, risk assessment</a:t>
            </a:r>
          </a:p>
          <a:p>
            <a:pPr algn="l">
              <a:lnSpc>
                <a:spcPts val="1884"/>
              </a:lnSpc>
              <a:spcAft>
                <a:spcPts val="400"/>
              </a:spcAft>
              <a:defRPr sz="1300">
                <a:solidFill>
                  <a:srgbClr val="2D3748"/>
                </a:solidFill>
                <a:latin typeface="Calibri"/>
              </a:defRPr>
            </a:pPr>
            <a:r>
              <a:t>● Measure: Quantitative/qualitative evaluation</a:t>
            </a:r>
          </a:p>
          <a:p>
            <a:pPr algn="l">
              <a:lnSpc>
                <a:spcPts val="1884"/>
              </a:lnSpc>
              <a:spcAft>
                <a:spcPts val="400"/>
              </a:spcAft>
              <a:defRPr sz="1300">
                <a:solidFill>
                  <a:srgbClr val="2D3748"/>
                </a:solidFill>
                <a:latin typeface="Calibri"/>
              </a:defRPr>
            </a:pPr>
            <a:r>
              <a:t>● Manage: Risk treatment, incident response</a:t>
            </a:r>
          </a:p>
          <a:p>
            <a:pPr algn="l">
              <a:lnSpc>
                <a:spcPts val="1884"/>
              </a:lnSpc>
              <a:spcAft>
                <a:spcPts val="400"/>
              </a:spcAft>
              <a:defRPr sz="1300">
                <a:solidFill>
                  <a:srgbClr val="2D3748"/>
                </a:solidFill>
                <a:latin typeface="Calibri"/>
              </a:defRPr>
            </a:pPr>
          </a:p>
          <a:p>
            <a:pPr algn="l">
              <a:lnSpc>
                <a:spcPts val="1884"/>
              </a:lnSpc>
              <a:spcAft>
                <a:spcPts val="400"/>
              </a:spcAft>
              <a:defRPr sz="1300">
                <a:solidFill>
                  <a:srgbClr val="2D3748"/>
                </a:solidFill>
                <a:latin typeface="Calibri"/>
              </a:defRPr>
            </a:pPr>
            <a:r>
              <a:t>▸ Generative AI Profile (NIST AI 600-1) — 2024</a:t>
            </a:r>
          </a:p>
          <a:p>
            <a:pPr algn="l">
              <a:lnSpc>
                <a:spcPts val="1884"/>
              </a:lnSpc>
              <a:spcAft>
                <a:spcPts val="400"/>
              </a:spcAft>
              <a:defRPr sz="1300">
                <a:solidFill>
                  <a:srgbClr val="2D3748"/>
                </a:solidFill>
                <a:latin typeface="Calibri"/>
              </a:defRPr>
            </a:pPr>
            <a:r>
              <a:t>▸ Not certifiable (pair with ISO 42001)</a:t>
            </a:r>
          </a:p>
        </p:txBody>
      </p:sp>
      <p:sp>
        <p:nvSpPr>
          <p:cNvPr id="14" name="Rounded Rectangle 13"/>
          <p:cNvSpPr/>
          <p:nvPr/>
        </p:nvSpPr>
        <p:spPr>
          <a:xfrm>
            <a:off x="731520" y="5257800"/>
            <a:ext cx="10698480" cy="50292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321808"/>
            <a:ext cx="10149840" cy="365760"/>
          </a:xfrm>
          <a:prstGeom prst="rect">
            <a:avLst/>
          </a:prstGeom>
          <a:noFill/>
        </p:spPr>
        <p:txBody>
          <a:bodyPr wrap="square">
            <a:spAutoFit/>
          </a:bodyPr>
          <a:lstStyle/>
          <a:p>
            <a:pPr algn="l">
              <a:lnSpc>
                <a:spcPts val="1725"/>
              </a:lnSpc>
              <a:spcBef>
                <a:spcPts val="0"/>
              </a:spcBef>
              <a:spcAft>
                <a:spcPts val="400"/>
              </a:spcAft>
              <a:defRPr sz="1500" b="1">
                <a:solidFill>
                  <a:srgbClr val="2D3748"/>
                </a:solidFill>
                <a:latin typeface="Calibri"/>
              </a:defRPr>
            </a:pPr>
            <a:r>
              <a:t>This is exactly why we built the guardrail / governance layer you'll see in the final section.</a:t>
            </a:r>
          </a:p>
        </p:txBody>
      </p:sp>
      <p:sp>
        <p:nvSpPr>
          <p:cNvPr id="16" name="TextBox 15"/>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The Explainability Trap</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Why "we can explain it" stopped meaning "we can trust it"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118872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10149840" cy="1005840"/>
          </a:xfrm>
          <a:prstGeom prst="rect">
            <a:avLst/>
          </a:prstGeom>
          <a:noFill/>
        </p:spPr>
        <p:txBody>
          <a:bodyPr wrap="square">
            <a:spAutoFit/>
          </a:bodyPr>
          <a:lstStyle/>
          <a:p>
            <a:pPr algn="l">
              <a:lnSpc>
                <a:spcPts val="2240"/>
              </a:lnSpc>
              <a:spcAft>
                <a:spcPts val="400"/>
              </a:spcAft>
              <a:defRPr sz="1600" b="1">
                <a:solidFill>
                  <a:srgbClr val="2D3748"/>
                </a:solidFill>
                <a:latin typeface="Calibri"/>
              </a:defRPr>
            </a:pPr>
            <a:r>
              <a:t>The historical assumption (roughly 2016–2022):</a:t>
            </a:r>
          </a:p>
          <a:p>
            <a:pPr algn="l">
              <a:lnSpc>
                <a:spcPts val="2240"/>
              </a:lnSpc>
              <a:spcAft>
                <a:spcPts val="400"/>
              </a:spcAft>
              <a:defRPr sz="1600">
                <a:solidFill>
                  <a:srgbClr val="2D3748"/>
                </a:solidFill>
                <a:latin typeface="Calibri"/>
              </a:defRPr>
            </a:pPr>
            <a:r>
              <a:t>Early XAI — LIME, SHAP, saliency maps, integrated gradients — treated "if we can explain the prediction, we can trust it" as self-evident.</a:t>
            </a:r>
          </a:p>
          <a:p>
            <a:pPr algn="l">
              <a:lnSpc>
                <a:spcPts val="2240"/>
              </a:lnSpc>
              <a:spcAft>
                <a:spcPts val="400"/>
              </a:spcAft>
              <a:defRPr sz="1600">
                <a:solidFill>
                  <a:srgbClr val="2D3748"/>
                </a:solidFill>
                <a:latin typeface="Calibri"/>
              </a:defRPr>
            </a:pPr>
            <a:r>
              <a:t>This made sense when models were simpler and stakes were lower. It doesn't hold anymore.</a:t>
            </a:r>
          </a:p>
        </p:txBody>
      </p:sp>
      <p:sp>
        <p:nvSpPr>
          <p:cNvPr id="8" name="TextBox 7"/>
          <p:cNvSpPr txBox="1"/>
          <p:nvPr/>
        </p:nvSpPr>
        <p:spPr>
          <a:xfrm>
            <a:off x="731520" y="3154680"/>
            <a:ext cx="10698480" cy="365760"/>
          </a:xfrm>
          <a:prstGeom prst="rect">
            <a:avLst/>
          </a:prstGeom>
          <a:noFill/>
        </p:spPr>
        <p:txBody>
          <a:bodyPr wrap="square">
            <a:spAutoFit/>
          </a:bodyPr>
          <a:lstStyle/>
          <a:p>
            <a:pPr algn="l">
              <a:lnSpc>
                <a:spcPts val="1954"/>
              </a:lnSpc>
              <a:spcBef>
                <a:spcPts val="0"/>
              </a:spcBef>
              <a:spcAft>
                <a:spcPts val="400"/>
              </a:spcAft>
              <a:defRPr sz="1700" b="1">
                <a:solidFill>
                  <a:srgbClr val="2D3748"/>
                </a:solidFill>
                <a:latin typeface="Calibri"/>
              </a:defRPr>
            </a:pPr>
            <a:r>
              <a:t>Five reasons that assumption breaks down now:</a:t>
            </a:r>
          </a:p>
        </p:txBody>
      </p:sp>
      <p:sp>
        <p:nvSpPr>
          <p:cNvPr id="9" name="Rounded Rectangle 8"/>
          <p:cNvSpPr/>
          <p:nvPr/>
        </p:nvSpPr>
        <p:spPr>
          <a:xfrm>
            <a:off x="731520" y="3703320"/>
            <a:ext cx="365760" cy="36576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721607"/>
            <a:ext cx="365760" cy="329184"/>
          </a:xfrm>
          <a:prstGeom prst="rect">
            <a:avLst/>
          </a:prstGeom>
          <a:noFill/>
        </p:spPr>
        <p:txBody>
          <a:bodyPr wrap="square">
            <a:spAutoFit/>
          </a:bodyPr>
          <a:lstStyle/>
          <a:p>
            <a:pPr algn="ctr">
              <a:lnSpc>
                <a:spcPts val="1839"/>
              </a:lnSpc>
              <a:spcBef>
                <a:spcPts val="0"/>
              </a:spcBef>
              <a:spcAft>
                <a:spcPts val="400"/>
              </a:spcAft>
              <a:defRPr sz="1600" b="1">
                <a:solidFill>
                  <a:srgbClr val="FFFFFF"/>
                </a:solidFill>
                <a:latin typeface="Calibri"/>
              </a:defRPr>
            </a:pPr>
            <a:r>
              <a:t>1</a:t>
            </a:r>
          </a:p>
        </p:txBody>
      </p:sp>
      <p:sp>
        <p:nvSpPr>
          <p:cNvPr id="11" name="TextBox 10"/>
          <p:cNvSpPr txBox="1"/>
          <p:nvPr/>
        </p:nvSpPr>
        <p:spPr>
          <a:xfrm>
            <a:off x="1325880" y="3721607"/>
            <a:ext cx="3474720" cy="329184"/>
          </a:xfrm>
          <a:prstGeom prst="rect">
            <a:avLst/>
          </a:prstGeom>
          <a:noFill/>
        </p:spPr>
        <p:txBody>
          <a:bodyPr wrap="square">
            <a:spAutoFit/>
          </a:bodyPr>
          <a:lstStyle/>
          <a:p>
            <a:pPr algn="l">
              <a:lnSpc>
                <a:spcPts val="1725"/>
              </a:lnSpc>
              <a:spcBef>
                <a:spcPts val="0"/>
              </a:spcBef>
              <a:spcAft>
                <a:spcPts val="400"/>
              </a:spcAft>
              <a:defRPr sz="1500" b="1">
                <a:solidFill>
                  <a:srgbClr val="2D3748"/>
                </a:solidFill>
                <a:latin typeface="Calibri"/>
              </a:defRPr>
            </a:pPr>
            <a:r>
              <a:t>Local fidelity ≠ global safety</a:t>
            </a:r>
          </a:p>
        </p:txBody>
      </p:sp>
      <p:sp>
        <p:nvSpPr>
          <p:cNvPr id="12" name="TextBox 11"/>
          <p:cNvSpPr txBox="1"/>
          <p:nvPr/>
        </p:nvSpPr>
        <p:spPr>
          <a:xfrm>
            <a:off x="4937760" y="3721607"/>
            <a:ext cx="6492240" cy="329184"/>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SHAP tells you feature contribution to this prediction — not whether overall behavior is fair or robust.</a:t>
            </a:r>
          </a:p>
        </p:txBody>
      </p:sp>
      <p:sp>
        <p:nvSpPr>
          <p:cNvPr id="13" name="Rounded Rectangle 12"/>
          <p:cNvSpPr/>
          <p:nvPr/>
        </p:nvSpPr>
        <p:spPr>
          <a:xfrm>
            <a:off x="731520" y="4297680"/>
            <a:ext cx="365760" cy="36576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15968"/>
            <a:ext cx="365760" cy="329184"/>
          </a:xfrm>
          <a:prstGeom prst="rect">
            <a:avLst/>
          </a:prstGeom>
          <a:noFill/>
        </p:spPr>
        <p:txBody>
          <a:bodyPr wrap="square">
            <a:spAutoFit/>
          </a:bodyPr>
          <a:lstStyle/>
          <a:p>
            <a:pPr algn="ctr">
              <a:lnSpc>
                <a:spcPts val="1839"/>
              </a:lnSpc>
              <a:spcBef>
                <a:spcPts val="0"/>
              </a:spcBef>
              <a:spcAft>
                <a:spcPts val="400"/>
              </a:spcAft>
              <a:defRPr sz="1600" b="1">
                <a:solidFill>
                  <a:srgbClr val="FFFFFF"/>
                </a:solidFill>
                <a:latin typeface="Calibri"/>
              </a:defRPr>
            </a:pPr>
            <a:r>
              <a:t>2</a:t>
            </a:r>
          </a:p>
        </p:txBody>
      </p:sp>
      <p:sp>
        <p:nvSpPr>
          <p:cNvPr id="15" name="TextBox 14"/>
          <p:cNvSpPr txBox="1"/>
          <p:nvPr/>
        </p:nvSpPr>
        <p:spPr>
          <a:xfrm>
            <a:off x="1325880" y="4315968"/>
            <a:ext cx="3474720" cy="329184"/>
          </a:xfrm>
          <a:prstGeom prst="rect">
            <a:avLst/>
          </a:prstGeom>
          <a:noFill/>
        </p:spPr>
        <p:txBody>
          <a:bodyPr wrap="square">
            <a:spAutoFit/>
          </a:bodyPr>
          <a:lstStyle/>
          <a:p>
            <a:pPr algn="l">
              <a:lnSpc>
                <a:spcPts val="1725"/>
              </a:lnSpc>
              <a:spcBef>
                <a:spcPts val="0"/>
              </a:spcBef>
              <a:spcAft>
                <a:spcPts val="400"/>
              </a:spcAft>
              <a:defRPr sz="1500" b="1">
                <a:solidFill>
                  <a:srgbClr val="2D3748"/>
                </a:solidFill>
                <a:latin typeface="Calibri"/>
              </a:defRPr>
            </a:pPr>
            <a:r>
              <a:t>Post-hoc ≠ causal</a:t>
            </a:r>
          </a:p>
        </p:txBody>
      </p:sp>
      <p:sp>
        <p:nvSpPr>
          <p:cNvPr id="16" name="TextBox 15"/>
          <p:cNvSpPr txBox="1"/>
          <p:nvPr/>
        </p:nvSpPr>
        <p:spPr>
          <a:xfrm>
            <a:off x="4937760" y="4315968"/>
            <a:ext cx="6492240" cy="329184"/>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Most XAI explains correlational attribution, not why the model decided. A plausible explanation can accompany a wrong decision.</a:t>
            </a:r>
          </a:p>
        </p:txBody>
      </p:sp>
      <p:sp>
        <p:nvSpPr>
          <p:cNvPr id="17" name="Rounded Rectangle 16"/>
          <p:cNvSpPr/>
          <p:nvPr/>
        </p:nvSpPr>
        <p:spPr>
          <a:xfrm>
            <a:off x="731520" y="4892040"/>
            <a:ext cx="365760" cy="36576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910327"/>
            <a:ext cx="365760" cy="329184"/>
          </a:xfrm>
          <a:prstGeom prst="rect">
            <a:avLst/>
          </a:prstGeom>
          <a:noFill/>
        </p:spPr>
        <p:txBody>
          <a:bodyPr wrap="square">
            <a:spAutoFit/>
          </a:bodyPr>
          <a:lstStyle/>
          <a:p>
            <a:pPr algn="ctr">
              <a:lnSpc>
                <a:spcPts val="1839"/>
              </a:lnSpc>
              <a:spcBef>
                <a:spcPts val="0"/>
              </a:spcBef>
              <a:spcAft>
                <a:spcPts val="400"/>
              </a:spcAft>
              <a:defRPr sz="1600" b="1">
                <a:solidFill>
                  <a:srgbClr val="FFFFFF"/>
                </a:solidFill>
                <a:latin typeface="Calibri"/>
              </a:defRPr>
            </a:pPr>
            <a:r>
              <a:t>3</a:t>
            </a:r>
          </a:p>
        </p:txBody>
      </p:sp>
      <p:sp>
        <p:nvSpPr>
          <p:cNvPr id="19" name="TextBox 18"/>
          <p:cNvSpPr txBox="1"/>
          <p:nvPr/>
        </p:nvSpPr>
        <p:spPr>
          <a:xfrm>
            <a:off x="1325880" y="4910327"/>
            <a:ext cx="3474720" cy="329184"/>
          </a:xfrm>
          <a:prstGeom prst="rect">
            <a:avLst/>
          </a:prstGeom>
          <a:noFill/>
        </p:spPr>
        <p:txBody>
          <a:bodyPr wrap="square">
            <a:spAutoFit/>
          </a:bodyPr>
          <a:lstStyle/>
          <a:p>
            <a:pPr algn="l">
              <a:lnSpc>
                <a:spcPts val="1725"/>
              </a:lnSpc>
              <a:spcBef>
                <a:spcPts val="0"/>
              </a:spcBef>
              <a:spcAft>
                <a:spcPts val="400"/>
              </a:spcAft>
              <a:defRPr sz="1500" b="1">
                <a:solidFill>
                  <a:srgbClr val="2D3748"/>
                </a:solidFill>
                <a:latin typeface="Calibri"/>
              </a:defRPr>
            </a:pPr>
            <a:r>
              <a:t>One of seven, not all seven</a:t>
            </a:r>
          </a:p>
        </p:txBody>
      </p:sp>
      <p:sp>
        <p:nvSpPr>
          <p:cNvPr id="20" name="TextBox 19"/>
          <p:cNvSpPr txBox="1"/>
          <p:nvPr/>
        </p:nvSpPr>
        <p:spPr>
          <a:xfrm>
            <a:off x="4937760" y="4910327"/>
            <a:ext cx="6492240" cy="329184"/>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An explainable model can still be unfair, insecure, non-private, or unreliable. Explainability is necessary but not sufficient.</a:t>
            </a:r>
          </a:p>
        </p:txBody>
      </p:sp>
      <p:sp>
        <p:nvSpPr>
          <p:cNvPr id="21" name="Rounded Rectangle 20"/>
          <p:cNvSpPr/>
          <p:nvPr/>
        </p:nvSpPr>
        <p:spPr>
          <a:xfrm>
            <a:off x="731520" y="5486400"/>
            <a:ext cx="365760" cy="36576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504688"/>
            <a:ext cx="365760" cy="329184"/>
          </a:xfrm>
          <a:prstGeom prst="rect">
            <a:avLst/>
          </a:prstGeom>
          <a:noFill/>
        </p:spPr>
        <p:txBody>
          <a:bodyPr wrap="square">
            <a:spAutoFit/>
          </a:bodyPr>
          <a:lstStyle/>
          <a:p>
            <a:pPr algn="ctr">
              <a:lnSpc>
                <a:spcPts val="1839"/>
              </a:lnSpc>
              <a:spcBef>
                <a:spcPts val="0"/>
              </a:spcBef>
              <a:spcAft>
                <a:spcPts val="400"/>
              </a:spcAft>
              <a:defRPr sz="1600" b="1">
                <a:solidFill>
                  <a:srgbClr val="FFFFFF"/>
                </a:solidFill>
                <a:latin typeface="Calibri"/>
              </a:defRPr>
            </a:pPr>
            <a:r>
              <a:t>4</a:t>
            </a:r>
          </a:p>
        </p:txBody>
      </p:sp>
      <p:sp>
        <p:nvSpPr>
          <p:cNvPr id="23" name="TextBox 22"/>
          <p:cNvSpPr txBox="1"/>
          <p:nvPr/>
        </p:nvSpPr>
        <p:spPr>
          <a:xfrm>
            <a:off x="1325880" y="5504688"/>
            <a:ext cx="3474720" cy="329184"/>
          </a:xfrm>
          <a:prstGeom prst="rect">
            <a:avLst/>
          </a:prstGeom>
          <a:noFill/>
        </p:spPr>
        <p:txBody>
          <a:bodyPr wrap="square">
            <a:spAutoFit/>
          </a:bodyPr>
          <a:lstStyle/>
          <a:p>
            <a:pPr algn="l">
              <a:lnSpc>
                <a:spcPts val="1725"/>
              </a:lnSpc>
              <a:spcBef>
                <a:spcPts val="0"/>
              </a:spcBef>
              <a:spcAft>
                <a:spcPts val="400"/>
              </a:spcAft>
              <a:defRPr sz="1500" b="1">
                <a:solidFill>
                  <a:srgbClr val="2D3748"/>
                </a:solidFill>
                <a:latin typeface="Calibri"/>
              </a:defRPr>
            </a:pPr>
            <a:r>
              <a:t>LLMs hallucinate explanations too</a:t>
            </a:r>
          </a:p>
        </p:txBody>
      </p:sp>
      <p:sp>
        <p:nvSpPr>
          <p:cNvPr id="24" name="TextBox 23"/>
          <p:cNvSpPr txBox="1"/>
          <p:nvPr/>
        </p:nvSpPr>
        <p:spPr>
          <a:xfrm>
            <a:off x="4937760" y="5504688"/>
            <a:ext cx="6492240" cy="329184"/>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A model asked "why did you say that" generates plausible-sounding rationale — not necessarily its actual internal process.</a:t>
            </a:r>
          </a:p>
        </p:txBody>
      </p:sp>
      <p:sp>
        <p:nvSpPr>
          <p:cNvPr id="25" name="Rounded Rectangle 24"/>
          <p:cNvSpPr/>
          <p:nvPr/>
        </p:nvSpPr>
        <p:spPr>
          <a:xfrm>
            <a:off x="731520" y="6080760"/>
            <a:ext cx="365760" cy="36576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099048"/>
            <a:ext cx="365760" cy="329184"/>
          </a:xfrm>
          <a:prstGeom prst="rect">
            <a:avLst/>
          </a:prstGeom>
          <a:noFill/>
        </p:spPr>
        <p:txBody>
          <a:bodyPr wrap="square">
            <a:spAutoFit/>
          </a:bodyPr>
          <a:lstStyle/>
          <a:p>
            <a:pPr algn="ctr">
              <a:lnSpc>
                <a:spcPts val="1839"/>
              </a:lnSpc>
              <a:spcBef>
                <a:spcPts val="0"/>
              </a:spcBef>
              <a:spcAft>
                <a:spcPts val="400"/>
              </a:spcAft>
              <a:defRPr sz="1600" b="1">
                <a:solidFill>
                  <a:srgbClr val="FFFFFF"/>
                </a:solidFill>
                <a:latin typeface="Calibri"/>
              </a:defRPr>
            </a:pPr>
            <a:r>
              <a:t>5</a:t>
            </a:r>
          </a:p>
        </p:txBody>
      </p:sp>
      <p:sp>
        <p:nvSpPr>
          <p:cNvPr id="27" name="TextBox 26"/>
          <p:cNvSpPr txBox="1"/>
          <p:nvPr/>
        </p:nvSpPr>
        <p:spPr>
          <a:xfrm>
            <a:off x="1325880" y="6099048"/>
            <a:ext cx="3474720" cy="329184"/>
          </a:xfrm>
          <a:prstGeom prst="rect">
            <a:avLst/>
          </a:prstGeom>
          <a:noFill/>
        </p:spPr>
        <p:txBody>
          <a:bodyPr wrap="square">
            <a:spAutoFit/>
          </a:bodyPr>
          <a:lstStyle/>
          <a:p>
            <a:pPr algn="l">
              <a:lnSpc>
                <a:spcPts val="1725"/>
              </a:lnSpc>
              <a:spcBef>
                <a:spcPts val="0"/>
              </a:spcBef>
              <a:spcAft>
                <a:spcPts val="400"/>
              </a:spcAft>
              <a:defRPr sz="1500" b="1">
                <a:solidFill>
                  <a:srgbClr val="2D3748"/>
                </a:solidFill>
                <a:latin typeface="Calibri"/>
              </a:defRPr>
            </a:pPr>
            <a:r>
              <a:t>Adversarial robustness is orthogonal</a:t>
            </a:r>
          </a:p>
        </p:txBody>
      </p:sp>
      <p:sp>
        <p:nvSpPr>
          <p:cNvPr id="28" name="TextBox 27"/>
          <p:cNvSpPr txBox="1"/>
          <p:nvPr/>
        </p:nvSpPr>
        <p:spPr>
          <a:xfrm>
            <a:off x="4937760" y="6099048"/>
            <a:ext cx="6492240" cy="329184"/>
          </a:xfrm>
          <a:prstGeom prst="rect">
            <a:avLst/>
          </a:prstGeom>
          <a:noFill/>
        </p:spPr>
        <p:txBody>
          <a:bodyPr wrap="square">
            <a:spAutoFit/>
          </a:bodyPr>
          <a:lstStyle/>
          <a:p>
            <a:pPr algn="l">
              <a:lnSpc>
                <a:spcPts val="1495"/>
              </a:lnSpc>
              <a:spcBef>
                <a:spcPts val="0"/>
              </a:spcBef>
              <a:spcAft>
                <a:spcPts val="400"/>
              </a:spcAft>
              <a:defRPr sz="1300" b="0">
                <a:solidFill>
                  <a:srgbClr val="4A5568"/>
                </a:solidFill>
                <a:latin typeface="Calibri"/>
              </a:defRPr>
            </a:pPr>
            <a:r>
              <a:t>A perfectly interpretable decision boundary can still be trivially fooled by prompt injection or perturbation.</a:t>
            </a:r>
          </a:p>
        </p:txBody>
      </p:sp>
      <p:sp>
        <p:nvSpPr>
          <p:cNvPr id="29" name="TextBox 28"/>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Two Harder Problems</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LLM explanations can be hallucinated — and adversarial robustness is orthogonal to explainability</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5029200" cy="4114800"/>
          </a:xfrm>
          <a:prstGeom prst="roundRect">
            <a:avLst/>
          </a:prstGeom>
          <a:solidFill>
            <a:srgbClr val="FFFFFF"/>
          </a:solidFill>
          <a:ln w="12700">
            <a:solidFill>
              <a:srgbClr val="6B4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5029200" cy="50292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37360"/>
            <a:ext cx="4572000" cy="411480"/>
          </a:xfrm>
          <a:prstGeom prst="rect">
            <a:avLst/>
          </a:prstGeom>
          <a:noFill/>
        </p:spPr>
        <p:txBody>
          <a:bodyPr wrap="square">
            <a:spAutoFit/>
          </a:bodyPr>
          <a:lstStyle/>
          <a:p>
            <a:pPr algn="l">
              <a:lnSpc>
                <a:spcPts val="1839"/>
              </a:lnSpc>
              <a:spcBef>
                <a:spcPts val="0"/>
              </a:spcBef>
              <a:spcAft>
                <a:spcPts val="400"/>
              </a:spcAft>
              <a:defRPr sz="1600" b="1">
                <a:solidFill>
                  <a:srgbClr val="FFFFFF"/>
                </a:solidFill>
                <a:latin typeface="Calibri"/>
              </a:defRPr>
            </a:pPr>
            <a:r>
              <a:t>LLMs Hallucinate Their Own Explanations</a:t>
            </a:r>
          </a:p>
        </p:txBody>
      </p:sp>
      <p:sp>
        <p:nvSpPr>
          <p:cNvPr id="9" name="TextBox 8"/>
          <p:cNvSpPr txBox="1"/>
          <p:nvPr/>
        </p:nvSpPr>
        <p:spPr>
          <a:xfrm>
            <a:off x="1005840" y="2377440"/>
            <a:ext cx="4572000" cy="3200400"/>
          </a:xfrm>
          <a:prstGeom prst="rect">
            <a:avLst/>
          </a:prstGeom>
          <a:noFill/>
        </p:spPr>
        <p:txBody>
          <a:bodyPr wrap="square">
            <a:spAutoFit/>
          </a:bodyPr>
          <a:lstStyle/>
          <a:p>
            <a:pPr algn="l">
              <a:lnSpc>
                <a:spcPts val="1755"/>
              </a:lnSpc>
              <a:spcAft>
                <a:spcPts val="400"/>
              </a:spcAft>
              <a:defRPr sz="1300">
                <a:solidFill>
                  <a:srgbClr val="2D3748"/>
                </a:solidFill>
                <a:latin typeface="Calibri"/>
              </a:defRPr>
            </a:pPr>
            <a:r>
              <a:t>The problem: a model asked "why did you</a:t>
            </a:r>
          </a:p>
          <a:p>
            <a:pPr algn="l">
              <a:lnSpc>
                <a:spcPts val="1755"/>
              </a:lnSpc>
              <a:spcAft>
                <a:spcPts val="400"/>
              </a:spcAft>
              <a:defRPr sz="1300">
                <a:solidFill>
                  <a:srgbClr val="2D3748"/>
                </a:solidFill>
                <a:latin typeface="Calibri"/>
              </a:defRPr>
            </a:pPr>
            <a:r>
              <a:t>say that" generates a plausible-sounding</a:t>
            </a:r>
          </a:p>
          <a:p>
            <a:pPr algn="l">
              <a:lnSpc>
                <a:spcPts val="1755"/>
              </a:lnSpc>
              <a:spcAft>
                <a:spcPts val="400"/>
              </a:spcAft>
              <a:defRPr sz="1300">
                <a:solidFill>
                  <a:srgbClr val="2D3748"/>
                </a:solidFill>
                <a:latin typeface="Calibri"/>
              </a:defRPr>
            </a:pPr>
            <a:r>
              <a:t>rationale — not necessarily an accurate</a:t>
            </a:r>
          </a:p>
          <a:p>
            <a:pPr algn="l">
              <a:lnSpc>
                <a:spcPts val="1755"/>
              </a:lnSpc>
              <a:spcAft>
                <a:spcPts val="400"/>
              </a:spcAft>
              <a:defRPr sz="1300">
                <a:solidFill>
                  <a:srgbClr val="2D3748"/>
                </a:solidFill>
                <a:latin typeface="Calibri"/>
              </a:defRPr>
            </a:pPr>
            <a:r>
              <a:t>description of its internal process.</a:t>
            </a:r>
          </a:p>
          <a:p>
            <a:pPr algn="l">
              <a:lnSpc>
                <a:spcPts val="1755"/>
              </a:lnSpc>
              <a:spcAft>
                <a:spcPts val="400"/>
              </a:spcAft>
              <a:defRPr sz="1300">
                <a:solidFill>
                  <a:srgbClr val="2D3748"/>
                </a:solidFill>
                <a:latin typeface="Calibri"/>
              </a:defRPr>
            </a:pPr>
          </a:p>
          <a:p>
            <a:pPr algn="l">
              <a:lnSpc>
                <a:spcPts val="1755"/>
              </a:lnSpc>
              <a:spcAft>
                <a:spcPts val="400"/>
              </a:spcAft>
              <a:defRPr sz="1300">
                <a:solidFill>
                  <a:srgbClr val="2D3748"/>
                </a:solidFill>
                <a:latin typeface="Calibri"/>
              </a:defRPr>
            </a:pPr>
            <a:r>
              <a:t>This is a known, current interpretability</a:t>
            </a:r>
          </a:p>
          <a:p>
            <a:pPr algn="l">
              <a:lnSpc>
                <a:spcPts val="1755"/>
              </a:lnSpc>
              <a:spcAft>
                <a:spcPts val="400"/>
              </a:spcAft>
              <a:defRPr sz="1300">
                <a:solidFill>
                  <a:srgbClr val="2D3748"/>
                </a:solidFill>
                <a:latin typeface="Calibri"/>
              </a:defRPr>
            </a:pPr>
            <a:r>
              <a:t>research problem — not hypothetical.</a:t>
            </a:r>
          </a:p>
          <a:p>
            <a:pPr algn="l">
              <a:lnSpc>
                <a:spcPts val="1755"/>
              </a:lnSpc>
              <a:spcAft>
                <a:spcPts val="400"/>
              </a:spcAft>
              <a:defRPr sz="1300">
                <a:solidFill>
                  <a:srgbClr val="2D3748"/>
                </a:solidFill>
                <a:latin typeface="Calibri"/>
              </a:defRPr>
            </a:pPr>
          </a:p>
          <a:p>
            <a:pPr algn="l">
              <a:lnSpc>
                <a:spcPts val="1755"/>
              </a:lnSpc>
              <a:spcAft>
                <a:spcPts val="400"/>
              </a:spcAft>
              <a:defRPr sz="1300">
                <a:solidFill>
                  <a:srgbClr val="2D3748"/>
                </a:solidFill>
                <a:latin typeface="Calibri"/>
              </a:defRPr>
            </a:pPr>
            <a:r>
              <a:t>Implication for practice:</a:t>
            </a:r>
          </a:p>
          <a:p>
            <a:pPr algn="l">
              <a:lnSpc>
                <a:spcPts val="1755"/>
              </a:lnSpc>
              <a:spcAft>
                <a:spcPts val="400"/>
              </a:spcAft>
              <a:defRPr sz="1300">
                <a:solidFill>
                  <a:srgbClr val="2D3748"/>
                </a:solidFill>
                <a:latin typeface="Calibri"/>
              </a:defRPr>
            </a:pPr>
            <a:r>
              <a:t>• The model's self-reported reasoning</a:t>
            </a:r>
          </a:p>
          <a:p>
            <a:pPr algn="l">
              <a:lnSpc>
                <a:spcPts val="1755"/>
              </a:lnSpc>
              <a:spcAft>
                <a:spcPts val="400"/>
              </a:spcAft>
              <a:defRPr sz="1300">
                <a:solidFill>
                  <a:srgbClr val="2D3748"/>
                </a:solidFill>
                <a:latin typeface="Calibri"/>
              </a:defRPr>
            </a:pPr>
            <a:r>
              <a:t>  is a useful signal, not ground truth</a:t>
            </a:r>
          </a:p>
          <a:p>
            <a:pPr algn="l">
              <a:lnSpc>
                <a:spcPts val="1755"/>
              </a:lnSpc>
              <a:spcAft>
                <a:spcPts val="400"/>
              </a:spcAft>
              <a:defRPr sz="1300">
                <a:solidFill>
                  <a:srgbClr val="2D3748"/>
                </a:solidFill>
                <a:latin typeface="Calibri"/>
              </a:defRPr>
            </a:pPr>
            <a:r>
              <a:t>• Treat it as one input to a trust</a:t>
            </a:r>
          </a:p>
          <a:p>
            <a:pPr algn="l">
              <a:lnSpc>
                <a:spcPts val="1755"/>
              </a:lnSpc>
              <a:spcAft>
                <a:spcPts val="400"/>
              </a:spcAft>
              <a:defRPr sz="1300">
                <a:solidFill>
                  <a:srgbClr val="2D3748"/>
                </a:solidFill>
                <a:latin typeface="Calibri"/>
              </a:defRPr>
            </a:pPr>
            <a:r>
              <a:t>  judgment, not the judgment itself</a:t>
            </a:r>
          </a:p>
          <a:p>
            <a:pPr algn="l">
              <a:lnSpc>
                <a:spcPts val="1755"/>
              </a:lnSpc>
              <a:spcAft>
                <a:spcPts val="400"/>
              </a:spcAft>
              <a:defRPr sz="1300">
                <a:solidFill>
                  <a:srgbClr val="2D3748"/>
                </a:solidFill>
                <a:latin typeface="Calibri"/>
              </a:defRPr>
            </a:pPr>
            <a:r>
              <a:t>• Corroborate with behavioral testing</a:t>
            </a:r>
          </a:p>
          <a:p>
            <a:pPr algn="l">
              <a:lnSpc>
                <a:spcPts val="1755"/>
              </a:lnSpc>
              <a:spcAft>
                <a:spcPts val="400"/>
              </a:spcAft>
              <a:defRPr sz="1300">
                <a:solidFill>
                  <a:srgbClr val="2D3748"/>
                </a:solidFill>
                <a:latin typeface="Calibri"/>
              </a:defRPr>
            </a:pPr>
            <a:r>
              <a:t>  (counterfactuals, adversarial probes)</a:t>
            </a:r>
          </a:p>
          <a:p>
            <a:pPr algn="l">
              <a:lnSpc>
                <a:spcPts val="1755"/>
              </a:lnSpc>
              <a:spcAft>
                <a:spcPts val="400"/>
              </a:spcAft>
              <a:defRPr sz="1300">
                <a:solidFill>
                  <a:srgbClr val="2D3748"/>
                </a:solidFill>
                <a:latin typeface="Calibri"/>
              </a:defRPr>
            </a:pPr>
          </a:p>
          <a:p>
            <a:pPr algn="l">
              <a:lnSpc>
                <a:spcPts val="1755"/>
              </a:lnSpc>
              <a:spcAft>
                <a:spcPts val="400"/>
              </a:spcAft>
              <a:defRPr sz="1300">
                <a:solidFill>
                  <a:srgbClr val="2D3748"/>
                </a:solidFill>
                <a:latin typeface="Calibri"/>
              </a:defRPr>
            </a:pPr>
            <a:r>
              <a:t>Example: a model denies a loan and</a:t>
            </a:r>
          </a:p>
          <a:p>
            <a:pPr algn="l">
              <a:lnSpc>
                <a:spcPts val="1755"/>
              </a:lnSpc>
              <a:spcAft>
                <a:spcPts val="400"/>
              </a:spcAft>
              <a:defRPr sz="1300">
                <a:solidFill>
                  <a:srgbClr val="2D3748"/>
                </a:solidFill>
                <a:latin typeface="Calibri"/>
              </a:defRPr>
            </a:pPr>
            <a:r>
              <a:t>explains "income too low" — but a</a:t>
            </a:r>
          </a:p>
          <a:p>
            <a:pPr algn="l">
              <a:lnSpc>
                <a:spcPts val="1755"/>
              </a:lnSpc>
              <a:spcAft>
                <a:spcPts val="400"/>
              </a:spcAft>
              <a:defRPr sz="1300">
                <a:solidFill>
                  <a:srgbClr val="2D3748"/>
                </a:solidFill>
                <a:latin typeface="Calibri"/>
              </a:defRPr>
            </a:pPr>
            <a:r>
              <a:t>counterfactual test shows a higher-</a:t>
            </a:r>
          </a:p>
          <a:p>
            <a:pPr algn="l">
              <a:lnSpc>
                <a:spcPts val="1755"/>
              </a:lnSpc>
              <a:spcAft>
                <a:spcPts val="400"/>
              </a:spcAft>
              <a:defRPr sz="1300">
                <a:solidFill>
                  <a:srgbClr val="2D3748"/>
                </a:solidFill>
                <a:latin typeface="Calibri"/>
              </a:defRPr>
            </a:pPr>
            <a:r>
              <a:t>income applicant with the same profile</a:t>
            </a:r>
          </a:p>
          <a:p>
            <a:pPr algn="l">
              <a:lnSpc>
                <a:spcPts val="1755"/>
              </a:lnSpc>
              <a:spcAft>
                <a:spcPts val="400"/>
              </a:spcAft>
              <a:defRPr sz="1300">
                <a:solidFill>
                  <a:srgbClr val="2D3748"/>
                </a:solidFill>
                <a:latin typeface="Calibri"/>
              </a:defRPr>
            </a:pPr>
            <a:r>
              <a:t>also gets denied. The explanation was</a:t>
            </a:r>
          </a:p>
          <a:p>
            <a:pPr algn="l">
              <a:lnSpc>
                <a:spcPts val="1755"/>
              </a:lnSpc>
              <a:spcAft>
                <a:spcPts val="400"/>
              </a:spcAft>
              <a:defRPr sz="1300">
                <a:solidFill>
                  <a:srgbClr val="2D3748"/>
                </a:solidFill>
                <a:latin typeface="Calibri"/>
              </a:defRPr>
            </a:pPr>
            <a:r>
              <a:t>plausible — and wrong about the cause.</a:t>
            </a:r>
          </a:p>
        </p:txBody>
      </p:sp>
      <p:sp>
        <p:nvSpPr>
          <p:cNvPr id="10" name="Rounded Rectangle 9"/>
          <p:cNvSpPr/>
          <p:nvPr/>
        </p:nvSpPr>
        <p:spPr>
          <a:xfrm>
            <a:off x="6400800" y="1691640"/>
            <a:ext cx="5029200" cy="4114800"/>
          </a:xfrm>
          <a:prstGeom prst="roundRect">
            <a:avLst/>
          </a:prstGeom>
          <a:solidFill>
            <a:srgbClr val="FFFFFF"/>
          </a:solidFill>
          <a:ln w="127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691640"/>
            <a:ext cx="5029200" cy="50292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737360"/>
            <a:ext cx="4572000" cy="411480"/>
          </a:xfrm>
          <a:prstGeom prst="rect">
            <a:avLst/>
          </a:prstGeom>
          <a:noFill/>
        </p:spPr>
        <p:txBody>
          <a:bodyPr wrap="square">
            <a:spAutoFit/>
          </a:bodyPr>
          <a:lstStyle/>
          <a:p>
            <a:pPr algn="l">
              <a:lnSpc>
                <a:spcPts val="1839"/>
              </a:lnSpc>
              <a:spcBef>
                <a:spcPts val="0"/>
              </a:spcBef>
              <a:spcAft>
                <a:spcPts val="400"/>
              </a:spcAft>
              <a:defRPr sz="1600" b="1">
                <a:solidFill>
                  <a:srgbClr val="FFFFFF"/>
                </a:solidFill>
                <a:latin typeface="Calibri"/>
              </a:defRPr>
            </a:pPr>
            <a:r>
              <a:t>Adversarial Robustness Is Orthogonal</a:t>
            </a:r>
          </a:p>
        </p:txBody>
      </p:sp>
      <p:sp>
        <p:nvSpPr>
          <p:cNvPr id="13" name="TextBox 12"/>
          <p:cNvSpPr txBox="1"/>
          <p:nvPr/>
        </p:nvSpPr>
        <p:spPr>
          <a:xfrm>
            <a:off x="6675120" y="2377440"/>
            <a:ext cx="4572000" cy="3200400"/>
          </a:xfrm>
          <a:prstGeom prst="rect">
            <a:avLst/>
          </a:prstGeom>
          <a:noFill/>
        </p:spPr>
        <p:txBody>
          <a:bodyPr wrap="square">
            <a:spAutoFit/>
          </a:bodyPr>
          <a:lstStyle/>
          <a:p>
            <a:pPr algn="l">
              <a:lnSpc>
                <a:spcPts val="1755"/>
              </a:lnSpc>
              <a:spcAft>
                <a:spcPts val="400"/>
              </a:spcAft>
              <a:defRPr sz="1300">
                <a:solidFill>
                  <a:srgbClr val="2D3748"/>
                </a:solidFill>
                <a:latin typeface="Calibri"/>
              </a:defRPr>
            </a:pPr>
            <a:r>
              <a:t>A model can have a perfectly clean,</a:t>
            </a:r>
          </a:p>
          <a:p>
            <a:pPr algn="l">
              <a:lnSpc>
                <a:spcPts val="1755"/>
              </a:lnSpc>
              <a:spcAft>
                <a:spcPts val="400"/>
              </a:spcAft>
              <a:defRPr sz="1300">
                <a:solidFill>
                  <a:srgbClr val="2D3748"/>
                </a:solidFill>
                <a:latin typeface="Calibri"/>
              </a:defRPr>
            </a:pPr>
            <a:r>
              <a:t>interpretable decision boundary and</a:t>
            </a:r>
          </a:p>
          <a:p>
            <a:pPr algn="l">
              <a:lnSpc>
                <a:spcPts val="1755"/>
              </a:lnSpc>
              <a:spcAft>
                <a:spcPts val="400"/>
              </a:spcAft>
              <a:defRPr sz="1300">
                <a:solidFill>
                  <a:srgbClr val="2D3748"/>
                </a:solidFill>
                <a:latin typeface="Calibri"/>
              </a:defRPr>
            </a:pPr>
            <a:r>
              <a:t>still be trivially fooled by:</a:t>
            </a:r>
          </a:p>
          <a:p>
            <a:pPr algn="l">
              <a:lnSpc>
                <a:spcPts val="1755"/>
              </a:lnSpc>
              <a:spcAft>
                <a:spcPts val="400"/>
              </a:spcAft>
              <a:defRPr sz="1300">
                <a:solidFill>
                  <a:srgbClr val="2D3748"/>
                </a:solidFill>
                <a:latin typeface="Calibri"/>
              </a:defRPr>
            </a:pPr>
            <a:r>
              <a:t>• An adversarial perturbation</a:t>
            </a:r>
          </a:p>
          <a:p>
            <a:pPr algn="l">
              <a:lnSpc>
                <a:spcPts val="1755"/>
              </a:lnSpc>
              <a:spcAft>
                <a:spcPts val="400"/>
              </a:spcAft>
              <a:defRPr sz="1300">
                <a:solidFill>
                  <a:srgbClr val="2D3748"/>
                </a:solidFill>
                <a:latin typeface="Calibri"/>
              </a:defRPr>
            </a:pPr>
            <a:r>
              <a:t>• A prompt injection attack</a:t>
            </a:r>
          </a:p>
          <a:p>
            <a:pPr algn="l">
              <a:lnSpc>
                <a:spcPts val="1755"/>
              </a:lnSpc>
              <a:spcAft>
                <a:spcPts val="400"/>
              </a:spcAft>
              <a:defRPr sz="1300">
                <a:solidFill>
                  <a:srgbClr val="2D3748"/>
                </a:solidFill>
                <a:latin typeface="Calibri"/>
              </a:defRPr>
            </a:pPr>
            <a:r>
              <a:t>• A jailbreak attempt</a:t>
            </a:r>
          </a:p>
          <a:p>
            <a:pPr algn="l">
              <a:lnSpc>
                <a:spcPts val="1755"/>
              </a:lnSpc>
              <a:spcAft>
                <a:spcPts val="400"/>
              </a:spcAft>
              <a:defRPr sz="1300">
                <a:solidFill>
                  <a:srgbClr val="2D3748"/>
                </a:solidFill>
                <a:latin typeface="Calibri"/>
              </a:defRPr>
            </a:pPr>
          </a:p>
          <a:p>
            <a:pPr algn="l">
              <a:lnSpc>
                <a:spcPts val="1755"/>
              </a:lnSpc>
              <a:spcAft>
                <a:spcPts val="400"/>
              </a:spcAft>
              <a:defRPr sz="1300">
                <a:solidFill>
                  <a:srgbClr val="2D3748"/>
                </a:solidFill>
                <a:latin typeface="Calibri"/>
              </a:defRPr>
            </a:pPr>
            <a:r>
              <a:t>Explainability tells you nothing about</a:t>
            </a:r>
          </a:p>
          <a:p>
            <a:pPr algn="l">
              <a:lnSpc>
                <a:spcPts val="1755"/>
              </a:lnSpc>
              <a:spcAft>
                <a:spcPts val="400"/>
              </a:spcAft>
              <a:defRPr sz="1300">
                <a:solidFill>
                  <a:srgbClr val="2D3748"/>
                </a:solidFill>
                <a:latin typeface="Calibri"/>
              </a:defRPr>
            </a:pPr>
            <a:r>
              <a:t>how the model behaves under attack.</a:t>
            </a:r>
          </a:p>
          <a:p>
            <a:pPr algn="l">
              <a:lnSpc>
                <a:spcPts val="1755"/>
              </a:lnSpc>
              <a:spcAft>
                <a:spcPts val="400"/>
              </a:spcAft>
              <a:defRPr sz="1300">
                <a:solidFill>
                  <a:srgbClr val="2D3748"/>
                </a:solidFill>
                <a:latin typeface="Calibri"/>
              </a:defRPr>
            </a:pPr>
          </a:p>
          <a:p>
            <a:pPr algn="l">
              <a:lnSpc>
                <a:spcPts val="1755"/>
              </a:lnSpc>
              <a:spcAft>
                <a:spcPts val="400"/>
              </a:spcAft>
              <a:defRPr sz="1300">
                <a:solidFill>
                  <a:srgbClr val="2D3748"/>
                </a:solidFill>
                <a:latin typeface="Calibri"/>
              </a:defRPr>
            </a:pPr>
            <a:r>
              <a:t>Implication for practice:</a:t>
            </a:r>
          </a:p>
          <a:p>
            <a:pPr algn="l">
              <a:lnSpc>
                <a:spcPts val="1755"/>
              </a:lnSpc>
              <a:spcAft>
                <a:spcPts val="400"/>
              </a:spcAft>
              <a:defRPr sz="1300">
                <a:solidFill>
                  <a:srgbClr val="2D3748"/>
                </a:solidFill>
                <a:latin typeface="Calibri"/>
              </a:defRPr>
            </a:pPr>
            <a:r>
              <a:t>• Explainability and robustness are</a:t>
            </a:r>
          </a:p>
          <a:p>
            <a:pPr algn="l">
              <a:lnSpc>
                <a:spcPts val="1755"/>
              </a:lnSpc>
              <a:spcAft>
                <a:spcPts val="400"/>
              </a:spcAft>
              <a:defRPr sz="1300">
                <a:solidFill>
                  <a:srgbClr val="2D3748"/>
                </a:solidFill>
                <a:latin typeface="Calibri"/>
              </a:defRPr>
            </a:pPr>
            <a:r>
              <a:t>  separate evaluation dimensions</a:t>
            </a:r>
          </a:p>
          <a:p>
            <a:pPr algn="l">
              <a:lnSpc>
                <a:spcPts val="1755"/>
              </a:lnSpc>
              <a:spcAft>
                <a:spcPts val="400"/>
              </a:spcAft>
              <a:defRPr sz="1300">
                <a:solidFill>
                  <a:srgbClr val="2D3748"/>
                </a:solidFill>
                <a:latin typeface="Calibri"/>
              </a:defRPr>
            </a:pPr>
            <a:r>
              <a:t>• Passing one doesn't imply the other</a:t>
            </a:r>
          </a:p>
          <a:p>
            <a:pPr algn="l">
              <a:lnSpc>
                <a:spcPts val="1755"/>
              </a:lnSpc>
              <a:spcAft>
                <a:spcPts val="400"/>
              </a:spcAft>
              <a:defRPr sz="1300">
                <a:solidFill>
                  <a:srgbClr val="2D3748"/>
                </a:solidFill>
                <a:latin typeface="Calibri"/>
              </a:defRPr>
            </a:pPr>
            <a:r>
              <a:t>• You need dedicated adversarial</a:t>
            </a:r>
          </a:p>
          <a:p>
            <a:pPr algn="l">
              <a:lnSpc>
                <a:spcPts val="1755"/>
              </a:lnSpc>
              <a:spcAft>
                <a:spcPts val="400"/>
              </a:spcAft>
              <a:defRPr sz="1300">
                <a:solidFill>
                  <a:srgbClr val="2D3748"/>
                </a:solidFill>
                <a:latin typeface="Calibri"/>
              </a:defRPr>
            </a:pPr>
            <a:r>
              <a:t>  testing (red-teaming, Garak/PyRIT)</a:t>
            </a:r>
          </a:p>
          <a:p>
            <a:pPr algn="l">
              <a:lnSpc>
                <a:spcPts val="1755"/>
              </a:lnSpc>
              <a:spcAft>
                <a:spcPts val="400"/>
              </a:spcAft>
              <a:defRPr sz="1300">
                <a:solidFill>
                  <a:srgbClr val="2D3748"/>
                </a:solidFill>
                <a:latin typeface="Calibri"/>
              </a:defRPr>
            </a:pPr>
            <a:r>
              <a:t>  — not just XAI tooling</a:t>
            </a:r>
          </a:p>
          <a:p>
            <a:pPr algn="l">
              <a:lnSpc>
                <a:spcPts val="1755"/>
              </a:lnSpc>
              <a:spcAft>
                <a:spcPts val="400"/>
              </a:spcAft>
              <a:defRPr sz="1300">
                <a:solidFill>
                  <a:srgbClr val="2D3748"/>
                </a:solidFill>
                <a:latin typeface="Calibri"/>
              </a:defRPr>
            </a:pPr>
          </a:p>
          <a:p>
            <a:pPr algn="l">
              <a:lnSpc>
                <a:spcPts val="1755"/>
              </a:lnSpc>
              <a:spcAft>
                <a:spcPts val="400"/>
              </a:spcAft>
              <a:defRPr sz="1300">
                <a:solidFill>
                  <a:srgbClr val="2D3748"/>
                </a:solidFill>
                <a:latin typeface="Calibri"/>
              </a:defRPr>
            </a:pPr>
            <a:r>
              <a:t>These are not edge cases — they're</a:t>
            </a:r>
          </a:p>
          <a:p>
            <a:pPr algn="l">
              <a:lnSpc>
                <a:spcPts val="1755"/>
              </a:lnSpc>
              <a:spcAft>
                <a:spcPts val="400"/>
              </a:spcAft>
              <a:defRPr sz="1300">
                <a:solidFill>
                  <a:srgbClr val="2D3748"/>
                </a:solidFill>
                <a:latin typeface="Calibri"/>
              </a:defRPr>
            </a:pPr>
            <a:r>
              <a:t>the primary attack surface for LLM</a:t>
            </a:r>
          </a:p>
          <a:p>
            <a:pPr algn="l">
              <a:lnSpc>
                <a:spcPts val="1755"/>
              </a:lnSpc>
              <a:spcAft>
                <a:spcPts val="400"/>
              </a:spcAft>
              <a:defRPr sz="1300">
                <a:solidFill>
                  <a:srgbClr val="2D3748"/>
                </a:solidFill>
                <a:latin typeface="Calibri"/>
              </a:defRPr>
            </a:pPr>
            <a:r>
              <a:t>applications in production.</a:t>
            </a:r>
          </a:p>
        </p:txBody>
      </p:sp>
      <p:sp>
        <p:nvSpPr>
          <p:cNvPr id="14" name="TextBox 13"/>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The Reframe</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Explainability is an input to trust, not the output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10698480" cy="41148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194560"/>
            <a:ext cx="4114800" cy="457200"/>
          </a:xfrm>
          <a:prstGeom prst="rect">
            <a:avLst/>
          </a:prstGeom>
          <a:noFill/>
        </p:spPr>
        <p:txBody>
          <a:bodyPr wrap="square">
            <a:spAutoFit/>
          </a:bodyPr>
          <a:lstStyle/>
          <a:p>
            <a:pPr algn="l">
              <a:lnSpc>
                <a:spcPts val="1495"/>
              </a:lnSpc>
              <a:spcBef>
                <a:spcPts val="0"/>
              </a:spcBef>
              <a:spcAft>
                <a:spcPts val="400"/>
              </a:spcAft>
              <a:defRPr sz="1300" b="1">
                <a:solidFill>
                  <a:srgbClr val="A0AEC0"/>
                </a:solidFill>
                <a:latin typeface="Calibri"/>
              </a:defRPr>
            </a:pPr>
            <a:r>
              <a:t>OLD MODEL</a:t>
            </a:r>
          </a:p>
        </p:txBody>
      </p:sp>
      <p:sp>
        <p:nvSpPr>
          <p:cNvPr id="8" name="TextBox 7"/>
          <p:cNvSpPr txBox="1"/>
          <p:nvPr/>
        </p:nvSpPr>
        <p:spPr>
          <a:xfrm>
            <a:off x="1371600" y="2560320"/>
            <a:ext cx="4114800" cy="548640"/>
          </a:xfrm>
          <a:prstGeom prst="rect">
            <a:avLst/>
          </a:prstGeom>
          <a:noFill/>
        </p:spPr>
        <p:txBody>
          <a:bodyPr wrap="square">
            <a:spAutoFit/>
          </a:bodyPr>
          <a:lstStyle/>
          <a:p>
            <a:pPr algn="l">
              <a:lnSpc>
                <a:spcPts val="2760"/>
              </a:lnSpc>
              <a:spcBef>
                <a:spcPts val="0"/>
              </a:spcBef>
              <a:spcAft>
                <a:spcPts val="400"/>
              </a:spcAft>
              <a:defRPr sz="2400" b="0">
                <a:solidFill>
                  <a:srgbClr val="8895A5"/>
                </a:solidFill>
                <a:latin typeface="Calibri"/>
              </a:defRPr>
            </a:pPr>
            <a:r>
              <a:t>Explainability  →  Trust</a:t>
            </a:r>
          </a:p>
        </p:txBody>
      </p:sp>
      <p:sp>
        <p:nvSpPr>
          <p:cNvPr id="9" name="Rectangle 8"/>
          <p:cNvSpPr/>
          <p:nvPr/>
        </p:nvSpPr>
        <p:spPr>
          <a:xfrm>
            <a:off x="1371600" y="2788920"/>
            <a:ext cx="4114800" cy="27432"/>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0" y="2834640"/>
            <a:ext cx="1371600" cy="548640"/>
          </a:xfrm>
          <a:prstGeom prst="rect">
            <a:avLst/>
          </a:prstGeom>
          <a:noFill/>
        </p:spPr>
        <p:txBody>
          <a:bodyPr wrap="square">
            <a:spAutoFit/>
          </a:bodyPr>
          <a:lstStyle/>
          <a:p>
            <a:pPr algn="ctr">
              <a:lnSpc>
                <a:spcPts val="4140"/>
              </a:lnSpc>
              <a:spcBef>
                <a:spcPts val="0"/>
              </a:spcBef>
              <a:spcAft>
                <a:spcPts val="400"/>
              </a:spcAft>
              <a:defRPr sz="3600" b="1">
                <a:solidFill>
                  <a:srgbClr val="00897B"/>
                </a:solidFill>
                <a:latin typeface="Calibri"/>
              </a:defRPr>
            </a:pPr>
            <a:r>
              <a:t>⟶</a:t>
            </a:r>
          </a:p>
        </p:txBody>
      </p:sp>
      <p:sp>
        <p:nvSpPr>
          <p:cNvPr id="11" name="TextBox 10"/>
          <p:cNvSpPr txBox="1"/>
          <p:nvPr/>
        </p:nvSpPr>
        <p:spPr>
          <a:xfrm>
            <a:off x="6858000" y="2194560"/>
            <a:ext cx="4114800" cy="457200"/>
          </a:xfrm>
          <a:prstGeom prst="rect">
            <a:avLst/>
          </a:prstGeom>
          <a:noFill/>
        </p:spPr>
        <p:txBody>
          <a:bodyPr wrap="square">
            <a:spAutoFit/>
          </a:bodyPr>
          <a:lstStyle/>
          <a:p>
            <a:pPr algn="l">
              <a:lnSpc>
                <a:spcPts val="1495"/>
              </a:lnSpc>
              <a:spcBef>
                <a:spcPts val="0"/>
              </a:spcBef>
              <a:spcAft>
                <a:spcPts val="400"/>
              </a:spcAft>
              <a:defRPr sz="1300" b="1">
                <a:solidFill>
                  <a:srgbClr val="00897B"/>
                </a:solidFill>
                <a:latin typeface="Calibri"/>
              </a:defRPr>
            </a:pPr>
            <a:r>
              <a:t>NEW MODEL</a:t>
            </a:r>
          </a:p>
        </p:txBody>
      </p:sp>
      <p:sp>
        <p:nvSpPr>
          <p:cNvPr id="12" name="TextBox 11"/>
          <p:cNvSpPr txBox="1"/>
          <p:nvPr/>
        </p:nvSpPr>
        <p:spPr>
          <a:xfrm>
            <a:off x="6858000" y="2560320"/>
            <a:ext cx="4114800" cy="548640"/>
          </a:xfrm>
          <a:prstGeom prst="rect">
            <a:avLst/>
          </a:prstGeom>
          <a:noFill/>
        </p:spPr>
        <p:txBody>
          <a:bodyPr wrap="square">
            <a:spAutoFit/>
          </a:bodyPr>
          <a:lstStyle/>
          <a:p>
            <a:pPr algn="l">
              <a:lnSpc>
                <a:spcPts val="2300"/>
              </a:lnSpc>
              <a:spcBef>
                <a:spcPts val="0"/>
              </a:spcBef>
              <a:spcAft>
                <a:spcPts val="400"/>
              </a:spcAft>
              <a:defRPr sz="2000" b="1">
                <a:solidFill>
                  <a:srgbClr val="FFFFFF"/>
                </a:solidFill>
                <a:latin typeface="Calibri"/>
              </a:defRPr>
            </a:pPr>
            <a:r>
              <a:t>Explainability → Trust Judgment ← Everything Else</a:t>
            </a:r>
          </a:p>
        </p:txBody>
      </p:sp>
      <p:sp>
        <p:nvSpPr>
          <p:cNvPr id="13" name="Rounded Rectangle 12"/>
          <p:cNvSpPr/>
          <p:nvPr/>
        </p:nvSpPr>
        <p:spPr>
          <a:xfrm>
            <a:off x="1097280" y="3474720"/>
            <a:ext cx="2377440" cy="411480"/>
          </a:xfrm>
          <a:prstGeom prst="roundRect">
            <a:avLst/>
          </a:prstGeom>
          <a:solidFill>
            <a:srgbClr val="2D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39" y="3520439"/>
            <a:ext cx="2103120" cy="320040"/>
          </a:xfrm>
          <a:prstGeom prst="rect">
            <a:avLst/>
          </a:prstGeom>
          <a:noFill/>
        </p:spPr>
        <p:txBody>
          <a:bodyPr wrap="square">
            <a:spAutoFit/>
          </a:bodyPr>
          <a:lstStyle/>
          <a:p>
            <a:pPr algn="l">
              <a:lnSpc>
                <a:spcPts val="1495"/>
              </a:lnSpc>
              <a:spcBef>
                <a:spcPts val="0"/>
              </a:spcBef>
              <a:spcAft>
                <a:spcPts val="400"/>
              </a:spcAft>
              <a:defRPr sz="1300" b="0">
                <a:solidFill>
                  <a:srgbClr val="CCD5E0"/>
                </a:solidFill>
                <a:latin typeface="Calibri"/>
              </a:defRPr>
            </a:pPr>
            <a:r>
              <a:t>Data provenance</a:t>
            </a:r>
          </a:p>
        </p:txBody>
      </p:sp>
      <p:sp>
        <p:nvSpPr>
          <p:cNvPr id="15" name="Rounded Rectangle 14"/>
          <p:cNvSpPr/>
          <p:nvPr/>
        </p:nvSpPr>
        <p:spPr>
          <a:xfrm>
            <a:off x="3749039" y="3474720"/>
            <a:ext cx="2377440" cy="411480"/>
          </a:xfrm>
          <a:prstGeom prst="roundRect">
            <a:avLst/>
          </a:prstGeom>
          <a:solidFill>
            <a:srgbClr val="2D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6200" y="3520439"/>
            <a:ext cx="2103120" cy="320040"/>
          </a:xfrm>
          <a:prstGeom prst="rect">
            <a:avLst/>
          </a:prstGeom>
          <a:noFill/>
        </p:spPr>
        <p:txBody>
          <a:bodyPr wrap="square">
            <a:spAutoFit/>
          </a:bodyPr>
          <a:lstStyle/>
          <a:p>
            <a:pPr algn="l">
              <a:lnSpc>
                <a:spcPts val="1495"/>
              </a:lnSpc>
              <a:spcBef>
                <a:spcPts val="0"/>
              </a:spcBef>
              <a:spcAft>
                <a:spcPts val="400"/>
              </a:spcAft>
              <a:defRPr sz="1300" b="0">
                <a:solidFill>
                  <a:srgbClr val="CCD5E0"/>
                </a:solidFill>
                <a:latin typeface="Calibri"/>
              </a:defRPr>
            </a:pPr>
            <a:r>
              <a:t>Model behavior under shift</a:t>
            </a:r>
          </a:p>
        </p:txBody>
      </p:sp>
      <p:sp>
        <p:nvSpPr>
          <p:cNvPr id="17" name="Rounded Rectangle 16"/>
          <p:cNvSpPr/>
          <p:nvPr/>
        </p:nvSpPr>
        <p:spPr>
          <a:xfrm>
            <a:off x="6400800" y="3474720"/>
            <a:ext cx="2377440" cy="411480"/>
          </a:xfrm>
          <a:prstGeom prst="roundRect">
            <a:avLst/>
          </a:prstGeom>
          <a:solidFill>
            <a:srgbClr val="2D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3520439"/>
            <a:ext cx="2103120" cy="320040"/>
          </a:xfrm>
          <a:prstGeom prst="rect">
            <a:avLst/>
          </a:prstGeom>
          <a:noFill/>
        </p:spPr>
        <p:txBody>
          <a:bodyPr wrap="square">
            <a:spAutoFit/>
          </a:bodyPr>
          <a:lstStyle/>
          <a:p>
            <a:pPr algn="l">
              <a:lnSpc>
                <a:spcPts val="1495"/>
              </a:lnSpc>
              <a:spcBef>
                <a:spcPts val="0"/>
              </a:spcBef>
              <a:spcAft>
                <a:spcPts val="400"/>
              </a:spcAft>
              <a:defRPr sz="1300" b="0">
                <a:solidFill>
                  <a:srgbClr val="CCD5E0"/>
                </a:solidFill>
                <a:latin typeface="Calibri"/>
              </a:defRPr>
            </a:pPr>
            <a:r>
              <a:t>Adversarial robustness</a:t>
            </a:r>
          </a:p>
        </p:txBody>
      </p:sp>
      <p:sp>
        <p:nvSpPr>
          <p:cNvPr id="19" name="Rounded Rectangle 18"/>
          <p:cNvSpPr/>
          <p:nvPr/>
        </p:nvSpPr>
        <p:spPr>
          <a:xfrm>
            <a:off x="9052559" y="3474720"/>
            <a:ext cx="2377440" cy="411480"/>
          </a:xfrm>
          <a:prstGeom prst="roundRect">
            <a:avLst/>
          </a:prstGeom>
          <a:solidFill>
            <a:srgbClr val="2D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19" y="3520439"/>
            <a:ext cx="2103120" cy="320040"/>
          </a:xfrm>
          <a:prstGeom prst="rect">
            <a:avLst/>
          </a:prstGeom>
          <a:noFill/>
        </p:spPr>
        <p:txBody>
          <a:bodyPr wrap="square">
            <a:spAutoFit/>
          </a:bodyPr>
          <a:lstStyle/>
          <a:p>
            <a:pPr algn="l">
              <a:lnSpc>
                <a:spcPts val="1495"/>
              </a:lnSpc>
              <a:spcBef>
                <a:spcPts val="0"/>
              </a:spcBef>
              <a:spcAft>
                <a:spcPts val="400"/>
              </a:spcAft>
              <a:defRPr sz="1300" b="0">
                <a:solidFill>
                  <a:srgbClr val="CCD5E0"/>
                </a:solidFill>
                <a:latin typeface="Calibri"/>
              </a:defRPr>
            </a:pPr>
            <a:r>
              <a:t>Privacy guarantees</a:t>
            </a:r>
          </a:p>
        </p:txBody>
      </p:sp>
      <p:sp>
        <p:nvSpPr>
          <p:cNvPr id="21" name="Rounded Rectangle 20"/>
          <p:cNvSpPr/>
          <p:nvPr/>
        </p:nvSpPr>
        <p:spPr>
          <a:xfrm>
            <a:off x="1097280" y="4114800"/>
            <a:ext cx="2377440" cy="411480"/>
          </a:xfrm>
          <a:prstGeom prst="roundRect">
            <a:avLst/>
          </a:prstGeom>
          <a:solidFill>
            <a:srgbClr val="2D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39" y="4160520"/>
            <a:ext cx="2103120" cy="320040"/>
          </a:xfrm>
          <a:prstGeom prst="rect">
            <a:avLst/>
          </a:prstGeom>
          <a:noFill/>
        </p:spPr>
        <p:txBody>
          <a:bodyPr wrap="square">
            <a:spAutoFit/>
          </a:bodyPr>
          <a:lstStyle/>
          <a:p>
            <a:pPr algn="l">
              <a:lnSpc>
                <a:spcPts val="1495"/>
              </a:lnSpc>
              <a:spcBef>
                <a:spcPts val="0"/>
              </a:spcBef>
              <a:spcAft>
                <a:spcPts val="400"/>
              </a:spcAft>
              <a:defRPr sz="1300" b="0">
                <a:solidFill>
                  <a:srgbClr val="CCD5E0"/>
                </a:solidFill>
                <a:latin typeface="Calibri"/>
              </a:defRPr>
            </a:pPr>
            <a:r>
              <a:t>Fairness across groups</a:t>
            </a:r>
          </a:p>
        </p:txBody>
      </p:sp>
      <p:sp>
        <p:nvSpPr>
          <p:cNvPr id="23" name="Rounded Rectangle 22"/>
          <p:cNvSpPr/>
          <p:nvPr/>
        </p:nvSpPr>
        <p:spPr>
          <a:xfrm>
            <a:off x="3749039" y="4114800"/>
            <a:ext cx="2377440" cy="411480"/>
          </a:xfrm>
          <a:prstGeom prst="roundRect">
            <a:avLst/>
          </a:prstGeom>
          <a:solidFill>
            <a:srgbClr val="2D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86200" y="4160520"/>
            <a:ext cx="2103120" cy="320040"/>
          </a:xfrm>
          <a:prstGeom prst="rect">
            <a:avLst/>
          </a:prstGeom>
          <a:noFill/>
        </p:spPr>
        <p:txBody>
          <a:bodyPr wrap="square">
            <a:spAutoFit/>
          </a:bodyPr>
          <a:lstStyle/>
          <a:p>
            <a:pPr algn="l">
              <a:lnSpc>
                <a:spcPts val="1495"/>
              </a:lnSpc>
              <a:spcBef>
                <a:spcPts val="0"/>
              </a:spcBef>
              <a:spcAft>
                <a:spcPts val="400"/>
              </a:spcAft>
              <a:defRPr sz="1300" b="0">
                <a:solidFill>
                  <a:srgbClr val="CCD5E0"/>
                </a:solidFill>
                <a:latin typeface="Calibri"/>
              </a:defRPr>
            </a:pPr>
            <a:r>
              <a:t>Human oversight</a:t>
            </a:r>
          </a:p>
        </p:txBody>
      </p:sp>
      <p:sp>
        <p:nvSpPr>
          <p:cNvPr id="25" name="Rounded Rectangle 24"/>
          <p:cNvSpPr/>
          <p:nvPr/>
        </p:nvSpPr>
        <p:spPr>
          <a:xfrm>
            <a:off x="6400800" y="4114800"/>
            <a:ext cx="2377440" cy="411480"/>
          </a:xfrm>
          <a:prstGeom prst="roundRect">
            <a:avLst/>
          </a:prstGeom>
          <a:solidFill>
            <a:srgbClr val="2D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4160520"/>
            <a:ext cx="2103120" cy="320040"/>
          </a:xfrm>
          <a:prstGeom prst="rect">
            <a:avLst/>
          </a:prstGeom>
          <a:noFill/>
        </p:spPr>
        <p:txBody>
          <a:bodyPr wrap="square">
            <a:spAutoFit/>
          </a:bodyPr>
          <a:lstStyle/>
          <a:p>
            <a:pPr algn="l">
              <a:lnSpc>
                <a:spcPts val="1495"/>
              </a:lnSpc>
              <a:spcBef>
                <a:spcPts val="0"/>
              </a:spcBef>
              <a:spcAft>
                <a:spcPts val="400"/>
              </a:spcAft>
              <a:defRPr sz="1300" b="0">
                <a:solidFill>
                  <a:srgbClr val="CCD5E0"/>
                </a:solidFill>
                <a:latin typeface="Calibri"/>
              </a:defRPr>
            </a:pPr>
            <a:r>
              <a:t>Deployment monitoring</a:t>
            </a:r>
          </a:p>
        </p:txBody>
      </p:sp>
      <p:sp>
        <p:nvSpPr>
          <p:cNvPr id="27" name="Rounded Rectangle 26"/>
          <p:cNvSpPr/>
          <p:nvPr/>
        </p:nvSpPr>
        <p:spPr>
          <a:xfrm>
            <a:off x="9052559" y="4114800"/>
            <a:ext cx="2377440" cy="411480"/>
          </a:xfrm>
          <a:prstGeom prst="roundRect">
            <a:avLst/>
          </a:prstGeom>
          <a:solidFill>
            <a:srgbClr val="2D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19" y="4160520"/>
            <a:ext cx="2103120" cy="320040"/>
          </a:xfrm>
          <a:prstGeom prst="rect">
            <a:avLst/>
          </a:prstGeom>
          <a:noFill/>
        </p:spPr>
        <p:txBody>
          <a:bodyPr wrap="square">
            <a:spAutoFit/>
          </a:bodyPr>
          <a:lstStyle/>
          <a:p>
            <a:pPr algn="l">
              <a:lnSpc>
                <a:spcPts val="1495"/>
              </a:lnSpc>
              <a:spcBef>
                <a:spcPts val="0"/>
              </a:spcBef>
              <a:spcAft>
                <a:spcPts val="400"/>
              </a:spcAft>
              <a:defRPr sz="1300" b="0">
                <a:solidFill>
                  <a:srgbClr val="CCD5E0"/>
                </a:solidFill>
                <a:latin typeface="Calibri"/>
              </a:defRPr>
            </a:pPr>
            <a:r>
              <a:t>Incident response</a:t>
            </a:r>
          </a:p>
        </p:txBody>
      </p:sp>
      <p:sp>
        <p:nvSpPr>
          <p:cNvPr id="29" name="TextBox 28"/>
          <p:cNvSpPr txBox="1"/>
          <p:nvPr/>
        </p:nvSpPr>
        <p:spPr>
          <a:xfrm>
            <a:off x="1005840" y="5029200"/>
            <a:ext cx="10058400" cy="548640"/>
          </a:xfrm>
          <a:prstGeom prst="rect">
            <a:avLst/>
          </a:prstGeom>
          <a:noFill/>
        </p:spPr>
        <p:txBody>
          <a:bodyPr wrap="square">
            <a:spAutoFit/>
          </a:bodyPr>
          <a:lstStyle/>
          <a:p>
            <a:pPr algn="l">
              <a:lnSpc>
                <a:spcPts val="1725"/>
              </a:lnSpc>
              <a:spcBef>
                <a:spcPts val="0"/>
              </a:spcBef>
              <a:spcAft>
                <a:spcPts val="400"/>
              </a:spcAft>
              <a:defRPr sz="1500" b="1">
                <a:solidFill>
                  <a:srgbClr val="2D3748"/>
                </a:solidFill>
                <a:latin typeface="Calibri"/>
              </a:defRPr>
            </a:pPr>
            <a:r>
              <a:t>Trust is a property of the whole system (data, model, deployment, monitoring, human oversight) — not a property you get for free once you can visualize attention weights.</a:t>
            </a:r>
          </a:p>
        </p:txBody>
      </p:sp>
      <p:sp>
        <p:nvSpPr>
          <p:cNvPr id="30" name="TextBox 29"/>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Core Principle: Fairness</a:t>
            </a:r>
          </a:p>
        </p:txBody>
      </p:sp>
      <p:sp>
        <p:nvSpPr>
          <p:cNvPr id="4" name="TextBox 3"/>
          <p:cNvSpPr txBox="1"/>
          <p:nvPr/>
        </p:nvSpPr>
        <p:spPr>
          <a:xfrm>
            <a:off x="731520" y="713232"/>
            <a:ext cx="10698480" cy="365760"/>
          </a:xfrm>
          <a:prstGeom prst="rect">
            <a:avLst/>
          </a:prstGeom>
          <a:noFill/>
        </p:spPr>
        <p:txBody>
          <a:bodyPr wrap="square">
            <a:spAutoFit/>
          </a:bodyPr>
          <a:lstStyle/>
          <a:p>
            <a:pPr algn="l">
              <a:lnSpc>
                <a:spcPts val="1380"/>
              </a:lnSpc>
              <a:spcBef>
                <a:spcPts val="0"/>
              </a:spcBef>
              <a:spcAft>
                <a:spcPts val="400"/>
              </a:spcAft>
              <a:defRPr sz="1200" b="0">
                <a:solidFill>
                  <a:srgbClr val="EEEEEE"/>
                </a:solidFill>
                <a:latin typeface="Calibri"/>
              </a:defRPr>
            </a:pPr>
            <a:r>
              <a:t>Slide Group 4  •  One principle per slide  •  Definition → Failure → Technique</a:t>
            </a:r>
          </a:p>
        </p:txBody>
      </p:sp>
      <p:sp>
        <p:nvSpPr>
          <p:cNvPr id="5" name="Rectangle 4"/>
          <p:cNvSpPr/>
          <p:nvPr/>
        </p:nvSpPr>
        <p:spPr>
          <a:xfrm>
            <a:off x="0" y="1234440"/>
            <a:ext cx="12191695"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3291840" cy="45720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DEFINITION</a:t>
            </a:r>
          </a:p>
        </p:txBody>
      </p:sp>
      <p:sp>
        <p:nvSpPr>
          <p:cNvPr id="8" name="Rounded Rectangle 7"/>
          <p:cNvSpPr/>
          <p:nvPr/>
        </p:nvSpPr>
        <p:spPr>
          <a:xfrm>
            <a:off x="73152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Disparate treatment: intentionally</a:t>
            </a:r>
          </a:p>
          <a:p>
            <a:pPr algn="l">
              <a:lnSpc>
                <a:spcPts val="2030"/>
              </a:lnSpc>
              <a:spcAft>
                <a:spcPts val="400"/>
              </a:spcAft>
              <a:defRPr sz="1400">
                <a:solidFill>
                  <a:srgbClr val="2D3748"/>
                </a:solidFill>
                <a:latin typeface="Calibri"/>
              </a:defRPr>
            </a:pPr>
            <a:r>
              <a:t>different treatment based on a</a:t>
            </a:r>
          </a:p>
          <a:p>
            <a:pPr algn="l">
              <a:lnSpc>
                <a:spcPts val="2030"/>
              </a:lnSpc>
              <a:spcAft>
                <a:spcPts val="400"/>
              </a:spcAft>
              <a:defRPr sz="1400">
                <a:solidFill>
                  <a:srgbClr val="2D3748"/>
                </a:solidFill>
                <a:latin typeface="Calibri"/>
              </a:defRPr>
            </a:pPr>
            <a:r>
              <a:t>protected attribute.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Disparate impact: a facially neutral</a:t>
            </a:r>
          </a:p>
          <a:p>
            <a:pPr algn="l">
              <a:lnSpc>
                <a:spcPts val="2030"/>
              </a:lnSpc>
              <a:spcAft>
                <a:spcPts val="400"/>
              </a:spcAft>
              <a:defRPr sz="1400">
                <a:solidFill>
                  <a:srgbClr val="2D3748"/>
                </a:solidFill>
                <a:latin typeface="Calibri"/>
              </a:defRPr>
            </a:pPr>
            <a:r>
              <a:t>policy/practice that disproportionately</a:t>
            </a:r>
          </a:p>
          <a:p>
            <a:pPr algn="l">
              <a:lnSpc>
                <a:spcPts val="2030"/>
              </a:lnSpc>
              <a:spcAft>
                <a:spcPts val="400"/>
              </a:spcAft>
              <a:defRPr sz="1400">
                <a:solidFill>
                  <a:srgbClr val="2D3748"/>
                </a:solidFill>
                <a:latin typeface="Calibri"/>
              </a:defRPr>
            </a:pPr>
            <a:r>
              <a:t>harms a protected group — even with</a:t>
            </a:r>
          </a:p>
          <a:p>
            <a:pPr algn="l">
              <a:lnSpc>
                <a:spcPts val="2030"/>
              </a:lnSpc>
              <a:spcAft>
                <a:spcPts val="400"/>
              </a:spcAft>
              <a:defRPr sz="1400">
                <a:solidFill>
                  <a:srgbClr val="2D3748"/>
                </a:solidFill>
                <a:latin typeface="Calibri"/>
              </a:defRPr>
            </a:pPr>
            <a:r>
              <a:t>no discriminatory intent.</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Key tension: you generally cannot</a:t>
            </a:r>
          </a:p>
          <a:p>
            <a:pPr algn="l">
              <a:lnSpc>
                <a:spcPts val="2030"/>
              </a:lnSpc>
              <a:spcAft>
                <a:spcPts val="400"/>
              </a:spcAft>
              <a:defRPr sz="1400">
                <a:solidFill>
                  <a:srgbClr val="2D3748"/>
                </a:solidFill>
                <a:latin typeface="Calibri"/>
              </a:defRPr>
            </a:pPr>
            <a:r>
              <a:t>satisfy all fairness metrics</a:t>
            </a:r>
          </a:p>
          <a:p>
            <a:pPr algn="l">
              <a:lnSpc>
                <a:spcPts val="2030"/>
              </a:lnSpc>
              <a:spcAft>
                <a:spcPts val="400"/>
              </a:spcAft>
              <a:defRPr sz="1400">
                <a:solidFill>
                  <a:srgbClr val="2D3748"/>
                </a:solidFill>
                <a:latin typeface="Calibri"/>
              </a:defRPr>
            </a:pPr>
            <a:r>
              <a:t>simultaneously (the impossibility</a:t>
            </a:r>
          </a:p>
          <a:p>
            <a:pPr algn="l">
              <a:lnSpc>
                <a:spcPts val="2030"/>
              </a:lnSpc>
              <a:spcAft>
                <a:spcPts val="400"/>
              </a:spcAft>
              <a:defRPr sz="1400">
                <a:solidFill>
                  <a:srgbClr val="2D3748"/>
                </a:solidFill>
                <a:latin typeface="Calibri"/>
              </a:defRPr>
            </a:pPr>
            <a:r>
              <a:t>result — Kleinberg et al., 2016).</a:t>
            </a:r>
          </a:p>
        </p:txBody>
      </p:sp>
      <p:sp>
        <p:nvSpPr>
          <p:cNvPr id="10" name="Rounded Rectangle 9"/>
          <p:cNvSpPr/>
          <p:nvPr/>
        </p:nvSpPr>
        <p:spPr>
          <a:xfrm>
            <a:off x="4343400" y="1691640"/>
            <a:ext cx="32918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WHY IT FAILS IN PRACTICE</a:t>
            </a:r>
          </a:p>
        </p:txBody>
      </p:sp>
      <p:sp>
        <p:nvSpPr>
          <p:cNvPr id="12" name="Rounded Rectangle 11"/>
          <p:cNvSpPr/>
          <p:nvPr/>
        </p:nvSpPr>
        <p:spPr>
          <a:xfrm>
            <a:off x="434340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Training data encodes historical bias</a:t>
            </a:r>
          </a:p>
          <a:p>
            <a:pPr algn="l">
              <a:lnSpc>
                <a:spcPts val="2030"/>
              </a:lnSpc>
              <a:spcAft>
                <a:spcPts val="400"/>
              </a:spcAft>
              <a:defRPr sz="1400">
                <a:solidFill>
                  <a:srgbClr val="2D3748"/>
                </a:solidFill>
                <a:latin typeface="Calibri"/>
              </a:defRPr>
            </a:pPr>
            <a:r>
              <a:t>— the model learns and amplifies it.</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Fairness is not one metric —</a:t>
            </a:r>
          </a:p>
          <a:p>
            <a:pPr algn="l">
              <a:lnSpc>
                <a:spcPts val="2030"/>
              </a:lnSpc>
              <a:spcAft>
                <a:spcPts val="400"/>
              </a:spcAft>
              <a:defRPr sz="1400">
                <a:solidFill>
                  <a:srgbClr val="2D3748"/>
                </a:solidFill>
                <a:latin typeface="Calibri"/>
              </a:defRPr>
            </a:pPr>
            <a:r>
              <a:t>demographic parity, equalized odds,</a:t>
            </a:r>
          </a:p>
          <a:p>
            <a:pPr algn="l">
              <a:lnSpc>
                <a:spcPts val="2030"/>
              </a:lnSpc>
              <a:spcAft>
                <a:spcPts val="400"/>
              </a:spcAft>
              <a:defRPr sz="1400">
                <a:solidFill>
                  <a:srgbClr val="2D3748"/>
                </a:solidFill>
                <a:latin typeface="Calibri"/>
              </a:defRPr>
            </a:pPr>
            <a:r>
              <a:t>equal opportunity, and calibration</a:t>
            </a:r>
          </a:p>
          <a:p>
            <a:pPr algn="l">
              <a:lnSpc>
                <a:spcPts val="2030"/>
              </a:lnSpc>
              <a:spcAft>
                <a:spcPts val="400"/>
              </a:spcAft>
              <a:defRPr sz="1400">
                <a:solidFill>
                  <a:srgbClr val="2D3748"/>
                </a:solidFill>
                <a:latin typeface="Calibri"/>
              </a:defRPr>
            </a:pPr>
            <a:r>
              <a:t>are mathematically incompatible</a:t>
            </a:r>
          </a:p>
          <a:p>
            <a:pPr algn="l">
              <a:lnSpc>
                <a:spcPts val="2030"/>
              </a:lnSpc>
              <a:spcAft>
                <a:spcPts val="400"/>
              </a:spcAft>
              <a:defRPr sz="1400">
                <a:solidFill>
                  <a:srgbClr val="2D3748"/>
                </a:solidFill>
                <a:latin typeface="Calibri"/>
              </a:defRPr>
            </a:pPr>
            <a:r>
              <a:t>outside of degenerate cases.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Choosing a metric is a normative</a:t>
            </a:r>
          </a:p>
          <a:p>
            <a:pPr algn="l">
              <a:lnSpc>
                <a:spcPts val="2030"/>
              </a:lnSpc>
              <a:spcAft>
                <a:spcPts val="400"/>
              </a:spcAft>
              <a:defRPr sz="1400">
                <a:solidFill>
                  <a:srgbClr val="2D3748"/>
                </a:solidFill>
                <a:latin typeface="Calibri"/>
              </a:defRPr>
            </a:pPr>
            <a:r>
              <a:t>decision, not a purely technical one.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Proxy variables can reintroduce bias</a:t>
            </a:r>
          </a:p>
          <a:p>
            <a:pPr algn="l">
              <a:lnSpc>
                <a:spcPts val="2030"/>
              </a:lnSpc>
              <a:spcAft>
                <a:spcPts val="400"/>
              </a:spcAft>
              <a:defRPr sz="1400">
                <a:solidFill>
                  <a:srgbClr val="2D3748"/>
                </a:solidFill>
                <a:latin typeface="Calibri"/>
              </a:defRPr>
            </a:pPr>
            <a:r>
              <a:t>even when protected attributes are</a:t>
            </a:r>
          </a:p>
          <a:p>
            <a:pPr algn="l">
              <a:lnSpc>
                <a:spcPts val="2030"/>
              </a:lnSpc>
              <a:spcAft>
                <a:spcPts val="400"/>
              </a:spcAft>
              <a:defRPr sz="1400">
                <a:solidFill>
                  <a:srgbClr val="2D3748"/>
                </a:solidFill>
                <a:latin typeface="Calibri"/>
              </a:defRPr>
            </a:pPr>
            <a:r>
              <a:t>removed (e.g., ZIP code → race).</a:t>
            </a:r>
          </a:p>
        </p:txBody>
      </p:sp>
      <p:sp>
        <p:nvSpPr>
          <p:cNvPr id="14" name="Rounded Rectangle 13"/>
          <p:cNvSpPr/>
          <p:nvPr/>
        </p:nvSpPr>
        <p:spPr>
          <a:xfrm>
            <a:off x="7955279" y="1691640"/>
            <a:ext cx="329184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ONE CONCRETE TECHNIQUE</a:t>
            </a:r>
          </a:p>
        </p:txBody>
      </p:sp>
      <p:sp>
        <p:nvSpPr>
          <p:cNvPr id="16" name="Rounded Rectangle 15"/>
          <p:cNvSpPr/>
          <p:nvPr/>
        </p:nvSpPr>
        <p:spPr>
          <a:xfrm>
            <a:off x="7955279" y="2148840"/>
            <a:ext cx="3291840" cy="3291840"/>
          </a:xfrm>
          <a:prstGeom prst="roundRect">
            <a:avLst/>
          </a:prstGeom>
          <a:solidFill>
            <a:srgbClr val="E0F2F1"/>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59"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Counterfactual testing:</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1. Take a test input.</a:t>
            </a:r>
          </a:p>
          <a:p>
            <a:pPr algn="l">
              <a:lnSpc>
                <a:spcPts val="2030"/>
              </a:lnSpc>
              <a:spcAft>
                <a:spcPts val="400"/>
              </a:spcAft>
              <a:defRPr sz="1400">
                <a:solidFill>
                  <a:srgbClr val="2D3748"/>
                </a:solidFill>
                <a:latin typeface="Calibri"/>
              </a:defRPr>
            </a:pPr>
            <a:r>
              <a:t>2. Swap only the protected attribute</a:t>
            </a:r>
          </a:p>
          <a:p>
            <a:pPr algn="l">
              <a:lnSpc>
                <a:spcPts val="2030"/>
              </a:lnSpc>
              <a:spcAft>
                <a:spcPts val="400"/>
              </a:spcAft>
              <a:defRPr sz="1400">
                <a:solidFill>
                  <a:srgbClr val="2D3748"/>
                </a:solidFill>
                <a:latin typeface="Calibri"/>
              </a:defRPr>
            </a:pPr>
            <a:r>
              <a:t>   (e.g., gender, race).</a:t>
            </a:r>
          </a:p>
          <a:p>
            <a:pPr algn="l">
              <a:lnSpc>
                <a:spcPts val="2030"/>
              </a:lnSpc>
              <a:spcAft>
                <a:spcPts val="400"/>
              </a:spcAft>
              <a:defRPr sz="1400">
                <a:solidFill>
                  <a:srgbClr val="2D3748"/>
                </a:solidFill>
                <a:latin typeface="Calibri"/>
              </a:defRPr>
            </a:pPr>
            <a:r>
              <a:t>3. Measure the output delta.</a:t>
            </a:r>
          </a:p>
          <a:p>
            <a:pPr algn="l">
              <a:lnSpc>
                <a:spcPts val="2030"/>
              </a:lnSpc>
              <a:spcAft>
                <a:spcPts val="400"/>
              </a:spcAft>
              <a:defRPr sz="1400">
                <a:solidFill>
                  <a:srgbClr val="2D3748"/>
                </a:solidFill>
                <a:latin typeface="Calibri"/>
              </a:defRPr>
            </a:pPr>
            <a:r>
              <a:t>4. Flag if the delta exceeds threshold.</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Mitigation stages:</a:t>
            </a:r>
          </a:p>
          <a:p>
            <a:pPr algn="l">
              <a:lnSpc>
                <a:spcPts val="2030"/>
              </a:lnSpc>
              <a:spcAft>
                <a:spcPts val="400"/>
              </a:spcAft>
              <a:defRPr sz="1400">
                <a:solidFill>
                  <a:srgbClr val="2D3748"/>
                </a:solidFill>
                <a:latin typeface="Calibri"/>
              </a:defRPr>
            </a:pPr>
            <a:r>
              <a:t>• Pre-processing: reweight/re-label</a:t>
            </a:r>
          </a:p>
          <a:p>
            <a:pPr algn="l">
              <a:lnSpc>
                <a:spcPts val="2030"/>
              </a:lnSpc>
              <a:spcAft>
                <a:spcPts val="400"/>
              </a:spcAft>
              <a:defRPr sz="1400">
                <a:solidFill>
                  <a:srgbClr val="2D3748"/>
                </a:solidFill>
                <a:latin typeface="Calibri"/>
              </a:defRPr>
            </a:pPr>
            <a:r>
              <a:t>  training data</a:t>
            </a:r>
          </a:p>
          <a:p>
            <a:pPr algn="l">
              <a:lnSpc>
                <a:spcPts val="2030"/>
              </a:lnSpc>
              <a:spcAft>
                <a:spcPts val="400"/>
              </a:spcAft>
              <a:defRPr sz="1400">
                <a:solidFill>
                  <a:srgbClr val="2D3748"/>
                </a:solidFill>
                <a:latin typeface="Calibri"/>
              </a:defRPr>
            </a:pPr>
            <a:r>
              <a:t>• In-processing: constrained training</a:t>
            </a:r>
          </a:p>
          <a:p>
            <a:pPr algn="l">
              <a:lnSpc>
                <a:spcPts val="2030"/>
              </a:lnSpc>
              <a:spcAft>
                <a:spcPts val="400"/>
              </a:spcAft>
              <a:defRPr sz="1400">
                <a:solidFill>
                  <a:srgbClr val="2D3748"/>
                </a:solidFill>
                <a:latin typeface="Calibri"/>
              </a:defRPr>
            </a:pPr>
            <a:r>
              <a:t>• Post-processing: calibrate outputs</a:t>
            </a:r>
          </a:p>
        </p:txBody>
      </p:sp>
      <p:sp>
        <p:nvSpPr>
          <p:cNvPr id="18" name="Rounded Rectangle 17"/>
          <p:cNvSpPr/>
          <p:nvPr/>
        </p:nvSpPr>
        <p:spPr>
          <a:xfrm>
            <a:off x="731520" y="5760720"/>
            <a:ext cx="10698480" cy="41148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788152"/>
            <a:ext cx="10332720" cy="347472"/>
          </a:xfrm>
          <a:prstGeom prst="rect">
            <a:avLst/>
          </a:prstGeom>
          <a:noFill/>
        </p:spPr>
        <p:txBody>
          <a:bodyPr wrap="square">
            <a:spAutoFit/>
          </a:bodyPr>
          <a:lstStyle/>
          <a:p>
            <a:pPr algn="l">
              <a:lnSpc>
                <a:spcPts val="1380"/>
              </a:lnSpc>
              <a:spcBef>
                <a:spcPts val="0"/>
              </a:spcBef>
              <a:spcAft>
                <a:spcPts val="400"/>
              </a:spcAft>
              <a:defRPr sz="1200" b="0">
                <a:solidFill>
                  <a:srgbClr val="2D3748"/>
                </a:solidFill>
                <a:latin typeface="Calibri"/>
              </a:defRPr>
            </a:pPr>
            <a:r>
              <a:t>Key takeaway: This principle is one dimension of trust — it interacts with the other five. Evaluating any one in isolation is a partial assessment.</a:t>
            </a:r>
          </a:p>
        </p:txBody>
      </p:sp>
      <p:sp>
        <p:nvSpPr>
          <p:cNvPr id="20" name="TextBox 19"/>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318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Core Principle: Transparency</a:t>
            </a:r>
          </a:p>
        </p:txBody>
      </p:sp>
      <p:sp>
        <p:nvSpPr>
          <p:cNvPr id="4" name="TextBox 3"/>
          <p:cNvSpPr txBox="1"/>
          <p:nvPr/>
        </p:nvSpPr>
        <p:spPr>
          <a:xfrm>
            <a:off x="731520" y="713232"/>
            <a:ext cx="10698480" cy="365760"/>
          </a:xfrm>
          <a:prstGeom prst="rect">
            <a:avLst/>
          </a:prstGeom>
          <a:noFill/>
        </p:spPr>
        <p:txBody>
          <a:bodyPr wrap="square">
            <a:spAutoFit/>
          </a:bodyPr>
          <a:lstStyle/>
          <a:p>
            <a:pPr algn="l">
              <a:lnSpc>
                <a:spcPts val="1380"/>
              </a:lnSpc>
              <a:spcBef>
                <a:spcPts val="0"/>
              </a:spcBef>
              <a:spcAft>
                <a:spcPts val="400"/>
              </a:spcAft>
              <a:defRPr sz="1200" b="0">
                <a:solidFill>
                  <a:srgbClr val="EEEEEE"/>
                </a:solidFill>
                <a:latin typeface="Calibri"/>
              </a:defRPr>
            </a:pPr>
            <a:r>
              <a:t>Slide Group 4  •  One principle per slide  •  Definition → Failure → Technique</a:t>
            </a:r>
          </a:p>
        </p:txBody>
      </p:sp>
      <p:sp>
        <p:nvSpPr>
          <p:cNvPr id="5" name="Rectangle 4"/>
          <p:cNvSpPr/>
          <p:nvPr/>
        </p:nvSpPr>
        <p:spPr>
          <a:xfrm>
            <a:off x="0" y="1234440"/>
            <a:ext cx="12191695"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3291840" cy="457200"/>
          </a:xfrm>
          <a:prstGeom prst="roundRect">
            <a:avLst/>
          </a:prstGeom>
          <a:solidFill>
            <a:srgbClr val="318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DEFINITION</a:t>
            </a:r>
          </a:p>
        </p:txBody>
      </p:sp>
      <p:sp>
        <p:nvSpPr>
          <p:cNvPr id="8" name="Rounded Rectangle 7"/>
          <p:cNvSpPr/>
          <p:nvPr/>
        </p:nvSpPr>
        <p:spPr>
          <a:xfrm>
            <a:off x="73152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Transparency ≠ Explainability</a:t>
            </a:r>
          </a:p>
          <a:p>
            <a:pPr algn="l">
              <a:lnSpc>
                <a:spcPts val="2030"/>
              </a:lnSpc>
              <a:spcAft>
                <a:spcPts val="400"/>
              </a:spcAft>
              <a:defRPr sz="1400">
                <a:solidFill>
                  <a:srgbClr val="2D3748"/>
                </a:solidFill>
                <a:latin typeface="Calibri"/>
              </a:defRPr>
            </a:pPr>
            <a:r>
              <a:t>(these get conflated constantly):</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Transparency: can you see and audit</a:t>
            </a:r>
          </a:p>
          <a:p>
            <a:pPr algn="l">
              <a:lnSpc>
                <a:spcPts val="2030"/>
              </a:lnSpc>
              <a:spcAft>
                <a:spcPts val="400"/>
              </a:spcAft>
              <a:defRPr sz="1400">
                <a:solidFill>
                  <a:srgbClr val="2D3748"/>
                </a:solidFill>
                <a:latin typeface="Calibri"/>
              </a:defRPr>
            </a:pPr>
            <a:r>
              <a:t>HOW the system works — what data</a:t>
            </a:r>
          </a:p>
          <a:p>
            <a:pPr algn="l">
              <a:lnSpc>
                <a:spcPts val="2030"/>
              </a:lnSpc>
              <a:spcAft>
                <a:spcPts val="400"/>
              </a:spcAft>
              <a:defRPr sz="1400">
                <a:solidFill>
                  <a:srgbClr val="2D3748"/>
                </a:solidFill>
                <a:latin typeface="Calibri"/>
              </a:defRPr>
            </a:pPr>
            <a:r>
              <a:t>was used, what training process,</a:t>
            </a:r>
          </a:p>
          <a:p>
            <a:pPr algn="l">
              <a:lnSpc>
                <a:spcPts val="2030"/>
              </a:lnSpc>
              <a:spcAft>
                <a:spcPts val="400"/>
              </a:spcAft>
              <a:defRPr sz="1400">
                <a:solidFill>
                  <a:srgbClr val="2D3748"/>
                </a:solidFill>
                <a:latin typeface="Calibri"/>
              </a:defRPr>
            </a:pPr>
            <a:r>
              <a:t>what evaluation, what governance.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Explainability: can you interpret</a:t>
            </a:r>
          </a:p>
          <a:p>
            <a:pPr algn="l">
              <a:lnSpc>
                <a:spcPts val="2030"/>
              </a:lnSpc>
              <a:spcAft>
                <a:spcPts val="400"/>
              </a:spcAft>
              <a:defRPr sz="1400">
                <a:solidFill>
                  <a:srgbClr val="2D3748"/>
                </a:solidFill>
                <a:latin typeface="Calibri"/>
              </a:defRPr>
            </a:pPr>
            <a:r>
              <a:t>a SPECIFIC decision the model made.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Transparency mechanisms: model cards,</a:t>
            </a:r>
          </a:p>
          <a:p>
            <a:pPr algn="l">
              <a:lnSpc>
                <a:spcPts val="2030"/>
              </a:lnSpc>
              <a:spcAft>
                <a:spcPts val="400"/>
              </a:spcAft>
              <a:defRPr sz="1400">
                <a:solidFill>
                  <a:srgbClr val="2D3748"/>
                </a:solidFill>
                <a:latin typeface="Calibri"/>
              </a:defRPr>
            </a:pPr>
            <a:r>
              <a:t>datasheets for datasets, audit trails.</a:t>
            </a:r>
          </a:p>
          <a:p>
            <a:pPr algn="l">
              <a:lnSpc>
                <a:spcPts val="2030"/>
              </a:lnSpc>
              <a:spcAft>
                <a:spcPts val="400"/>
              </a:spcAft>
              <a:defRPr sz="1400">
                <a:solidFill>
                  <a:srgbClr val="2D3748"/>
                </a:solidFill>
                <a:latin typeface="Calibri"/>
              </a:defRPr>
            </a:pPr>
            <a:r>
              <a:t>Explainability mechanisms: SHAP,</a:t>
            </a:r>
          </a:p>
          <a:p>
            <a:pPr algn="l">
              <a:lnSpc>
                <a:spcPts val="2030"/>
              </a:lnSpc>
              <a:spcAft>
                <a:spcPts val="400"/>
              </a:spcAft>
              <a:defRPr sz="1400">
                <a:solidFill>
                  <a:srgbClr val="2D3748"/>
                </a:solidFill>
                <a:latin typeface="Calibri"/>
              </a:defRPr>
            </a:pPr>
            <a:r>
              <a:t>LIME, attention visualization.</a:t>
            </a:r>
          </a:p>
        </p:txBody>
      </p:sp>
      <p:sp>
        <p:nvSpPr>
          <p:cNvPr id="10" name="Rounded Rectangle 9"/>
          <p:cNvSpPr/>
          <p:nvPr/>
        </p:nvSpPr>
        <p:spPr>
          <a:xfrm>
            <a:off x="4343400" y="1691640"/>
            <a:ext cx="32918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WHY IT FAILS IN PRACTICE</a:t>
            </a:r>
          </a:p>
        </p:txBody>
      </p:sp>
      <p:sp>
        <p:nvSpPr>
          <p:cNvPr id="12" name="Rounded Rectangle 11"/>
          <p:cNvSpPr/>
          <p:nvPr/>
        </p:nvSpPr>
        <p:spPr>
          <a:xfrm>
            <a:off x="434340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Organizations deploy models without</a:t>
            </a:r>
          </a:p>
          <a:p>
            <a:pPr algn="l">
              <a:lnSpc>
                <a:spcPts val="2030"/>
              </a:lnSpc>
              <a:spcAft>
                <a:spcPts val="400"/>
              </a:spcAft>
              <a:defRPr sz="1400">
                <a:solidFill>
                  <a:srgbClr val="2D3748"/>
                </a:solidFill>
                <a:latin typeface="Calibri"/>
              </a:defRPr>
            </a:pPr>
            <a:r>
              <a:t>documenting training data provenance,</a:t>
            </a:r>
          </a:p>
          <a:p>
            <a:pPr algn="l">
              <a:lnSpc>
                <a:spcPts val="2030"/>
              </a:lnSpc>
              <a:spcAft>
                <a:spcPts val="400"/>
              </a:spcAft>
              <a:defRPr sz="1400">
                <a:solidFill>
                  <a:srgbClr val="2D3748"/>
                </a:solidFill>
                <a:latin typeface="Calibri"/>
              </a:defRPr>
            </a:pPr>
            <a:r>
              <a:t>evaluation scope, or known limitations.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Without an audit trail, you cannot</a:t>
            </a:r>
          </a:p>
          <a:p>
            <a:pPr algn="l">
              <a:lnSpc>
                <a:spcPts val="2030"/>
              </a:lnSpc>
              <a:spcAft>
                <a:spcPts val="400"/>
              </a:spcAft>
              <a:defRPr sz="1400">
                <a:solidFill>
                  <a:srgbClr val="2D3748"/>
                </a:solidFill>
                <a:latin typeface="Calibri"/>
              </a:defRPr>
            </a:pPr>
            <a:r>
              <a:t>retrospectively determine whether</a:t>
            </a:r>
          </a:p>
          <a:p>
            <a:pPr algn="l">
              <a:lnSpc>
                <a:spcPts val="2030"/>
              </a:lnSpc>
              <a:spcAft>
                <a:spcPts val="400"/>
              </a:spcAft>
              <a:defRPr sz="1400">
                <a:solidFill>
                  <a:srgbClr val="2D3748"/>
                </a:solidFill>
                <a:latin typeface="Calibri"/>
              </a:defRPr>
            </a:pPr>
            <a:r>
              <a:t>a harmful output was a one-off error</a:t>
            </a:r>
          </a:p>
          <a:p>
            <a:pPr algn="l">
              <a:lnSpc>
                <a:spcPts val="2030"/>
              </a:lnSpc>
              <a:spcAft>
                <a:spcPts val="400"/>
              </a:spcAft>
              <a:defRPr sz="1400">
                <a:solidFill>
                  <a:srgbClr val="2D3748"/>
                </a:solidFill>
                <a:latin typeface="Calibri"/>
              </a:defRPr>
            </a:pPr>
            <a:r>
              <a:t>or a systematic failure.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Model cards are often treated as</a:t>
            </a:r>
          </a:p>
          <a:p>
            <a:pPr algn="l">
              <a:lnSpc>
                <a:spcPts val="2030"/>
              </a:lnSpc>
              <a:spcAft>
                <a:spcPts val="400"/>
              </a:spcAft>
              <a:defRPr sz="1400">
                <a:solidFill>
                  <a:srgbClr val="2D3748"/>
                </a:solidFill>
                <a:latin typeface="Calibri"/>
              </a:defRPr>
            </a:pPr>
            <a:r>
              <a:t>marketing documents rather than</a:t>
            </a:r>
          </a:p>
          <a:p>
            <a:pPr algn="l">
              <a:lnSpc>
                <a:spcPts val="2030"/>
              </a:lnSpc>
              <a:spcAft>
                <a:spcPts val="400"/>
              </a:spcAft>
              <a:defRPr sz="1400">
                <a:solidFill>
                  <a:srgbClr val="2D3748"/>
                </a:solidFill>
                <a:latin typeface="Calibri"/>
              </a:defRPr>
            </a:pPr>
            <a:r>
              <a:t>accurate disclosure — defeating</a:t>
            </a:r>
          </a:p>
          <a:p>
            <a:pPr algn="l">
              <a:lnSpc>
                <a:spcPts val="2030"/>
              </a:lnSpc>
              <a:spcAft>
                <a:spcPts val="400"/>
              </a:spcAft>
              <a:defRPr sz="1400">
                <a:solidFill>
                  <a:srgbClr val="2D3748"/>
                </a:solidFill>
                <a:latin typeface="Calibri"/>
              </a:defRPr>
            </a:pPr>
            <a:r>
              <a:t>their entire purpose.</a:t>
            </a:r>
          </a:p>
        </p:txBody>
      </p:sp>
      <p:sp>
        <p:nvSpPr>
          <p:cNvPr id="14" name="Rounded Rectangle 13"/>
          <p:cNvSpPr/>
          <p:nvPr/>
        </p:nvSpPr>
        <p:spPr>
          <a:xfrm>
            <a:off x="7955279" y="1691640"/>
            <a:ext cx="329184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ONE CONCRETE TECHNIQUE</a:t>
            </a:r>
          </a:p>
        </p:txBody>
      </p:sp>
      <p:sp>
        <p:nvSpPr>
          <p:cNvPr id="16" name="Rounded Rectangle 15"/>
          <p:cNvSpPr/>
          <p:nvPr/>
        </p:nvSpPr>
        <p:spPr>
          <a:xfrm>
            <a:off x="7955279" y="2148840"/>
            <a:ext cx="3291840" cy="3291840"/>
          </a:xfrm>
          <a:prstGeom prst="roundRect">
            <a:avLst/>
          </a:prstGeom>
          <a:solidFill>
            <a:srgbClr val="E0F2F1"/>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59"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Structured transparency artifacts: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Model Cards (Mitchell et al., 2019):</a:t>
            </a:r>
          </a:p>
          <a:p>
            <a:pPr algn="l">
              <a:lnSpc>
                <a:spcPts val="2030"/>
              </a:lnSpc>
              <a:spcAft>
                <a:spcPts val="400"/>
              </a:spcAft>
              <a:defRPr sz="1400">
                <a:solidFill>
                  <a:srgbClr val="2D3748"/>
                </a:solidFill>
                <a:latin typeface="Calibri"/>
              </a:defRPr>
            </a:pPr>
            <a:r>
              <a:t>  standardized disclosure of intended</a:t>
            </a:r>
          </a:p>
          <a:p>
            <a:pPr algn="l">
              <a:lnSpc>
                <a:spcPts val="2030"/>
              </a:lnSpc>
              <a:spcAft>
                <a:spcPts val="400"/>
              </a:spcAft>
              <a:defRPr sz="1400">
                <a:solidFill>
                  <a:srgbClr val="2D3748"/>
                </a:solidFill>
                <a:latin typeface="Calibri"/>
              </a:defRPr>
            </a:pPr>
            <a:r>
              <a:t>  use, evaluation results, limitations,</a:t>
            </a:r>
          </a:p>
          <a:p>
            <a:pPr algn="l">
              <a:lnSpc>
                <a:spcPts val="2030"/>
              </a:lnSpc>
              <a:spcAft>
                <a:spcPts val="400"/>
              </a:spcAft>
              <a:defRPr sz="1400">
                <a:solidFill>
                  <a:srgbClr val="2D3748"/>
                </a:solidFill>
                <a:latin typeface="Calibri"/>
              </a:defRPr>
            </a:pPr>
            <a:r>
              <a:t>  ethical considerations.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Datasheets for Datasets (Gebru et al.,</a:t>
            </a:r>
          </a:p>
          <a:p>
            <a:pPr algn="l">
              <a:lnSpc>
                <a:spcPts val="2030"/>
              </a:lnSpc>
              <a:spcAft>
                <a:spcPts val="400"/>
              </a:spcAft>
              <a:defRPr sz="1400">
                <a:solidFill>
                  <a:srgbClr val="2D3748"/>
                </a:solidFill>
                <a:latin typeface="Calibri"/>
              </a:defRPr>
            </a:pPr>
            <a:r>
              <a:t>  2018): motivation, composition,</a:t>
            </a:r>
          </a:p>
          <a:p>
            <a:pPr algn="l">
              <a:lnSpc>
                <a:spcPts val="2030"/>
              </a:lnSpc>
              <a:spcAft>
                <a:spcPts val="400"/>
              </a:spcAft>
              <a:defRPr sz="1400">
                <a:solidFill>
                  <a:srgbClr val="2D3748"/>
                </a:solidFill>
                <a:latin typeface="Calibri"/>
              </a:defRPr>
            </a:pPr>
            <a:r>
              <a:t>  collection process, preprocessing,</a:t>
            </a:r>
          </a:p>
          <a:p>
            <a:pPr algn="l">
              <a:lnSpc>
                <a:spcPts val="2030"/>
              </a:lnSpc>
              <a:spcAft>
                <a:spcPts val="400"/>
              </a:spcAft>
              <a:defRPr sz="1400">
                <a:solidFill>
                  <a:srgbClr val="2D3748"/>
                </a:solidFill>
                <a:latin typeface="Calibri"/>
              </a:defRPr>
            </a:pPr>
            <a:r>
              <a:t>  recommended uses.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Audit trails: every decision/override</a:t>
            </a:r>
          </a:p>
          <a:p>
            <a:pPr algn="l">
              <a:lnSpc>
                <a:spcPts val="2030"/>
              </a:lnSpc>
              <a:spcAft>
                <a:spcPts val="400"/>
              </a:spcAft>
              <a:defRPr sz="1400">
                <a:solidFill>
                  <a:srgbClr val="2D3748"/>
                </a:solidFill>
                <a:latin typeface="Calibri"/>
              </a:defRPr>
            </a:pPr>
            <a:r>
              <a:t>  is logged with timestamp, actor,</a:t>
            </a:r>
          </a:p>
          <a:p>
            <a:pPr algn="l">
              <a:lnSpc>
                <a:spcPts val="2030"/>
              </a:lnSpc>
              <a:spcAft>
                <a:spcPts val="400"/>
              </a:spcAft>
              <a:defRPr sz="1400">
                <a:solidFill>
                  <a:srgbClr val="2D3748"/>
                </a:solidFill>
                <a:latin typeface="Calibri"/>
              </a:defRPr>
            </a:pPr>
            <a:r>
              <a:t>  and rationale.</a:t>
            </a:r>
          </a:p>
        </p:txBody>
      </p:sp>
      <p:sp>
        <p:nvSpPr>
          <p:cNvPr id="18" name="Rounded Rectangle 17"/>
          <p:cNvSpPr/>
          <p:nvPr/>
        </p:nvSpPr>
        <p:spPr>
          <a:xfrm>
            <a:off x="731520" y="5760720"/>
            <a:ext cx="10698480" cy="41148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788152"/>
            <a:ext cx="10332720" cy="347472"/>
          </a:xfrm>
          <a:prstGeom prst="rect">
            <a:avLst/>
          </a:prstGeom>
          <a:noFill/>
        </p:spPr>
        <p:txBody>
          <a:bodyPr wrap="square">
            <a:spAutoFit/>
          </a:bodyPr>
          <a:lstStyle/>
          <a:p>
            <a:pPr algn="l">
              <a:lnSpc>
                <a:spcPts val="1380"/>
              </a:lnSpc>
              <a:spcBef>
                <a:spcPts val="0"/>
              </a:spcBef>
              <a:spcAft>
                <a:spcPts val="400"/>
              </a:spcAft>
              <a:defRPr sz="1200" b="0">
                <a:solidFill>
                  <a:srgbClr val="2D3748"/>
                </a:solidFill>
                <a:latin typeface="Calibri"/>
              </a:defRPr>
            </a:pPr>
            <a:r>
              <a:t>Key takeaway: This principle is one dimension of trust — it interacts with the other five. Evaluating any one in isolation is a partial assessment.</a:t>
            </a:r>
          </a:p>
        </p:txBody>
      </p:sp>
      <p:sp>
        <p:nvSpPr>
          <p:cNvPr id="20" name="TextBox 19"/>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Core Principle: Accountability</a:t>
            </a:r>
          </a:p>
        </p:txBody>
      </p:sp>
      <p:sp>
        <p:nvSpPr>
          <p:cNvPr id="4" name="TextBox 3"/>
          <p:cNvSpPr txBox="1"/>
          <p:nvPr/>
        </p:nvSpPr>
        <p:spPr>
          <a:xfrm>
            <a:off x="731520" y="713232"/>
            <a:ext cx="10698480" cy="365760"/>
          </a:xfrm>
          <a:prstGeom prst="rect">
            <a:avLst/>
          </a:prstGeom>
          <a:noFill/>
        </p:spPr>
        <p:txBody>
          <a:bodyPr wrap="square">
            <a:spAutoFit/>
          </a:bodyPr>
          <a:lstStyle/>
          <a:p>
            <a:pPr algn="l">
              <a:lnSpc>
                <a:spcPts val="1380"/>
              </a:lnSpc>
              <a:spcBef>
                <a:spcPts val="0"/>
              </a:spcBef>
              <a:spcAft>
                <a:spcPts val="400"/>
              </a:spcAft>
              <a:defRPr sz="1200" b="0">
                <a:solidFill>
                  <a:srgbClr val="EEEEEE"/>
                </a:solidFill>
                <a:latin typeface="Calibri"/>
              </a:defRPr>
            </a:pPr>
            <a:r>
              <a:t>Slide Group 4  •  One principle per slide  •  Definition → Failure → Technique</a:t>
            </a:r>
          </a:p>
        </p:txBody>
      </p:sp>
      <p:sp>
        <p:nvSpPr>
          <p:cNvPr id="5" name="Rectangle 4"/>
          <p:cNvSpPr/>
          <p:nvPr/>
        </p:nvSpPr>
        <p:spPr>
          <a:xfrm>
            <a:off x="0" y="1234440"/>
            <a:ext cx="12191695"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3291840" cy="45720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DEFINITION</a:t>
            </a:r>
          </a:p>
        </p:txBody>
      </p:sp>
      <p:sp>
        <p:nvSpPr>
          <p:cNvPr id="8" name="Rounded Rectangle 7"/>
          <p:cNvSpPr/>
          <p:nvPr/>
        </p:nvSpPr>
        <p:spPr>
          <a:xfrm>
            <a:off x="73152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Who is answerable when the system</a:t>
            </a:r>
          </a:p>
          <a:p>
            <a:pPr algn="l">
              <a:lnSpc>
                <a:spcPts val="2030"/>
              </a:lnSpc>
              <a:spcAft>
                <a:spcPts val="400"/>
              </a:spcAft>
              <a:defRPr sz="1400">
                <a:solidFill>
                  <a:srgbClr val="2D3748"/>
                </a:solidFill>
                <a:latin typeface="Calibri"/>
              </a:defRPr>
            </a:pPr>
            <a:r>
              <a:t>causes harm?</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This is an organizational/governance</a:t>
            </a:r>
          </a:p>
          <a:p>
            <a:pPr algn="l">
              <a:lnSpc>
                <a:spcPts val="2030"/>
              </a:lnSpc>
              <a:spcAft>
                <a:spcPts val="400"/>
              </a:spcAft>
              <a:defRPr sz="1400">
                <a:solidFill>
                  <a:srgbClr val="2D3748"/>
                </a:solidFill>
                <a:latin typeface="Calibri"/>
              </a:defRPr>
            </a:pPr>
            <a:r>
              <a:t>property — not a technical one.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A system with no human accountable</a:t>
            </a:r>
          </a:p>
          <a:p>
            <a:pPr algn="l">
              <a:lnSpc>
                <a:spcPts val="2030"/>
              </a:lnSpc>
              <a:spcAft>
                <a:spcPts val="400"/>
              </a:spcAft>
              <a:defRPr sz="1400">
                <a:solidFill>
                  <a:srgbClr val="2D3748"/>
                </a:solidFill>
                <a:latin typeface="Calibri"/>
              </a:defRPr>
            </a:pPr>
            <a:r>
              <a:t>for high-risk decisions cannot be</a:t>
            </a:r>
          </a:p>
          <a:p>
            <a:pPr algn="l">
              <a:lnSpc>
                <a:spcPts val="2030"/>
              </a:lnSpc>
              <a:spcAft>
                <a:spcPts val="400"/>
              </a:spcAft>
              <a:defRPr sz="1400">
                <a:solidFill>
                  <a:srgbClr val="2D3748"/>
                </a:solidFill>
                <a:latin typeface="Calibri"/>
              </a:defRPr>
            </a:pPr>
            <a:r>
              <a:t>accountable, no matter how good</a:t>
            </a:r>
          </a:p>
          <a:p>
            <a:pPr algn="l">
              <a:lnSpc>
                <a:spcPts val="2030"/>
              </a:lnSpc>
              <a:spcAft>
                <a:spcPts val="400"/>
              </a:spcAft>
              <a:defRPr sz="1400">
                <a:solidFill>
                  <a:srgbClr val="2D3748"/>
                </a:solidFill>
                <a:latin typeface="Calibri"/>
              </a:defRPr>
            </a:pPr>
            <a:r>
              <a:t>its metrics are.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Ties directly to NIST's Govern</a:t>
            </a:r>
          </a:p>
          <a:p>
            <a:pPr algn="l">
              <a:lnSpc>
                <a:spcPts val="2030"/>
              </a:lnSpc>
              <a:spcAft>
                <a:spcPts val="400"/>
              </a:spcAft>
              <a:defRPr sz="1400">
                <a:solidFill>
                  <a:srgbClr val="2D3748"/>
                </a:solidFill>
                <a:latin typeface="Calibri"/>
              </a:defRPr>
            </a:pPr>
            <a:r>
              <a:t>function and human-in-the-loop</a:t>
            </a:r>
          </a:p>
          <a:p>
            <a:pPr algn="l">
              <a:lnSpc>
                <a:spcPts val="2030"/>
              </a:lnSpc>
              <a:spcAft>
                <a:spcPts val="400"/>
              </a:spcAft>
              <a:defRPr sz="1400">
                <a:solidFill>
                  <a:srgbClr val="2D3748"/>
                </a:solidFill>
                <a:latin typeface="Calibri"/>
              </a:defRPr>
            </a:pPr>
            <a:r>
              <a:t>design requirements.</a:t>
            </a:r>
          </a:p>
        </p:txBody>
      </p:sp>
      <p:sp>
        <p:nvSpPr>
          <p:cNvPr id="10" name="Rounded Rectangle 9"/>
          <p:cNvSpPr/>
          <p:nvPr/>
        </p:nvSpPr>
        <p:spPr>
          <a:xfrm>
            <a:off x="4343400" y="1691640"/>
            <a:ext cx="32918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WHY IT FAILS IN PRACTICE</a:t>
            </a:r>
          </a:p>
        </p:txBody>
      </p:sp>
      <p:sp>
        <p:nvSpPr>
          <p:cNvPr id="12" name="Rounded Rectangle 11"/>
          <p:cNvSpPr/>
          <p:nvPr/>
        </p:nvSpPr>
        <p:spPr>
          <a:xfrm>
            <a:off x="434340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Diffusion of responsibility: 'the data</a:t>
            </a:r>
          </a:p>
          <a:p>
            <a:pPr algn="l">
              <a:lnSpc>
                <a:spcPts val="2030"/>
              </a:lnSpc>
              <a:spcAft>
                <a:spcPts val="400"/>
              </a:spcAft>
              <a:defRPr sz="1400">
                <a:solidFill>
                  <a:srgbClr val="2D3748"/>
                </a:solidFill>
                <a:latin typeface="Calibri"/>
              </a:defRPr>
            </a:pPr>
            <a:r>
              <a:t>science team built it, the ML ops team</a:t>
            </a:r>
          </a:p>
          <a:p>
            <a:pPr algn="l">
              <a:lnSpc>
                <a:spcPts val="2030"/>
              </a:lnSpc>
              <a:spcAft>
                <a:spcPts val="400"/>
              </a:spcAft>
              <a:defRPr sz="1400">
                <a:solidFill>
                  <a:srgbClr val="2D3748"/>
                </a:solidFill>
                <a:latin typeface="Calibri"/>
              </a:defRPr>
            </a:pPr>
            <a:r>
              <a:t>deployed it, the product team chose</a:t>
            </a:r>
          </a:p>
          <a:p>
            <a:pPr algn="l">
              <a:lnSpc>
                <a:spcPts val="2030"/>
              </a:lnSpc>
              <a:spcAft>
                <a:spcPts val="400"/>
              </a:spcAft>
              <a:defRPr sz="1400">
                <a:solidFill>
                  <a:srgbClr val="2D3748"/>
                </a:solidFill>
                <a:latin typeface="Calibri"/>
              </a:defRPr>
            </a:pPr>
            <a:r>
              <a:t>the threshold' — no single owner.</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Automation bias: human reviewers</a:t>
            </a:r>
          </a:p>
          <a:p>
            <a:pPr algn="l">
              <a:lnSpc>
                <a:spcPts val="2030"/>
              </a:lnSpc>
              <a:spcAft>
                <a:spcPts val="400"/>
              </a:spcAft>
              <a:defRPr sz="1400">
                <a:solidFill>
                  <a:srgbClr val="2D3748"/>
                </a:solidFill>
                <a:latin typeface="Calibri"/>
              </a:defRPr>
            </a:pPr>
            <a:r>
              <a:t>rubber-stamp model outputs because</a:t>
            </a:r>
          </a:p>
          <a:p>
            <a:pPr algn="l">
              <a:lnSpc>
                <a:spcPts val="2030"/>
              </a:lnSpc>
              <a:spcAft>
                <a:spcPts val="400"/>
              </a:spcAft>
              <a:defRPr sz="1400">
                <a:solidFill>
                  <a:srgbClr val="2D3748"/>
                </a:solidFill>
                <a:latin typeface="Calibri"/>
              </a:defRPr>
            </a:pPr>
            <a:r>
              <a:t>'the AI usually gets it right.'</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Without a designated accountable</a:t>
            </a:r>
          </a:p>
          <a:p>
            <a:pPr algn="l">
              <a:lnSpc>
                <a:spcPts val="2030"/>
              </a:lnSpc>
              <a:spcAft>
                <a:spcPts val="400"/>
              </a:spcAft>
              <a:defRPr sz="1400">
                <a:solidFill>
                  <a:srgbClr val="2D3748"/>
                </a:solidFill>
                <a:latin typeface="Calibri"/>
              </a:defRPr>
            </a:pPr>
            <a:r>
              <a:t>human per decision class, no one can</a:t>
            </a:r>
          </a:p>
          <a:p>
            <a:pPr algn="l">
              <a:lnSpc>
                <a:spcPts val="2030"/>
              </a:lnSpc>
              <a:spcAft>
                <a:spcPts val="400"/>
              </a:spcAft>
              <a:defRPr sz="1400">
                <a:solidFill>
                  <a:srgbClr val="2D3748"/>
                </a:solidFill>
                <a:latin typeface="Calibri"/>
              </a:defRPr>
            </a:pPr>
            <a:r>
              <a:t>meaningfully answer 'why was this</a:t>
            </a:r>
          </a:p>
          <a:p>
            <a:pPr algn="l">
              <a:lnSpc>
                <a:spcPts val="2030"/>
              </a:lnSpc>
              <a:spcAft>
                <a:spcPts val="400"/>
              </a:spcAft>
              <a:defRPr sz="1400">
                <a:solidFill>
                  <a:srgbClr val="2D3748"/>
                </a:solidFill>
                <a:latin typeface="Calibri"/>
              </a:defRPr>
            </a:pPr>
            <a:r>
              <a:t>decision made.'</a:t>
            </a:r>
          </a:p>
        </p:txBody>
      </p:sp>
      <p:sp>
        <p:nvSpPr>
          <p:cNvPr id="14" name="Rounded Rectangle 13"/>
          <p:cNvSpPr/>
          <p:nvPr/>
        </p:nvSpPr>
        <p:spPr>
          <a:xfrm>
            <a:off x="7955279" y="1691640"/>
            <a:ext cx="329184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ONE CONCRETE TECHNIQUE</a:t>
            </a:r>
          </a:p>
        </p:txBody>
      </p:sp>
      <p:sp>
        <p:nvSpPr>
          <p:cNvPr id="16" name="Rounded Rectangle 15"/>
          <p:cNvSpPr/>
          <p:nvPr/>
        </p:nvSpPr>
        <p:spPr>
          <a:xfrm>
            <a:off x="7955279" y="2148840"/>
            <a:ext cx="3291840" cy="3291840"/>
          </a:xfrm>
          <a:prstGeom prst="roundRect">
            <a:avLst/>
          </a:prstGeom>
          <a:solidFill>
            <a:srgbClr val="E0F2F1"/>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59"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Human-in-the-loop (HITL) design:</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Designate accountable roles per</a:t>
            </a:r>
          </a:p>
          <a:p>
            <a:pPr algn="l">
              <a:lnSpc>
                <a:spcPts val="2030"/>
              </a:lnSpc>
              <a:spcAft>
                <a:spcPts val="400"/>
              </a:spcAft>
              <a:defRPr sz="1400">
                <a:solidFill>
                  <a:srgbClr val="2D3748"/>
                </a:solidFill>
                <a:latin typeface="Calibri"/>
              </a:defRPr>
            </a:pPr>
            <a:r>
              <a:t>  decision class BEFORE deployment.</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Surface model reasoning alongside</a:t>
            </a:r>
          </a:p>
          <a:p>
            <a:pPr algn="l">
              <a:lnSpc>
                <a:spcPts val="2030"/>
              </a:lnSpc>
              <a:spcAft>
                <a:spcPts val="400"/>
              </a:spcAft>
              <a:defRPr sz="1400">
                <a:solidFill>
                  <a:srgbClr val="2D3748"/>
                </a:solidFill>
                <a:latin typeface="Calibri"/>
              </a:defRPr>
            </a:pPr>
            <a:r>
              <a:t>  the proposed action — not just the</a:t>
            </a:r>
          </a:p>
          <a:p>
            <a:pPr algn="l">
              <a:lnSpc>
                <a:spcPts val="2030"/>
              </a:lnSpc>
              <a:spcAft>
                <a:spcPts val="400"/>
              </a:spcAft>
              <a:defRPr sz="1400">
                <a:solidFill>
                  <a:srgbClr val="2D3748"/>
                </a:solidFill>
                <a:latin typeface="Calibri"/>
              </a:defRPr>
            </a:pPr>
            <a:r>
              <a:t>  action itself — so the human can</a:t>
            </a:r>
          </a:p>
          <a:p>
            <a:pPr algn="l">
              <a:lnSpc>
                <a:spcPts val="2030"/>
              </a:lnSpc>
              <a:spcAft>
                <a:spcPts val="400"/>
              </a:spcAft>
              <a:defRPr sz="1400">
                <a:solidFill>
                  <a:srgbClr val="2D3748"/>
                </a:solidFill>
                <a:latin typeface="Calibri"/>
              </a:defRPr>
            </a:pPr>
            <a:r>
              <a:t>  judge divergence.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Log every override and approval</a:t>
            </a:r>
          </a:p>
          <a:p>
            <a:pPr algn="l">
              <a:lnSpc>
                <a:spcPts val="2030"/>
              </a:lnSpc>
              <a:spcAft>
                <a:spcPts val="400"/>
              </a:spcAft>
              <a:defRPr sz="1400">
                <a:solidFill>
                  <a:srgbClr val="2D3748"/>
                </a:solidFill>
                <a:latin typeface="Calibri"/>
              </a:defRPr>
            </a:pPr>
            <a:r>
              <a:t>  with the accountable human's</a:t>
            </a:r>
          </a:p>
          <a:p>
            <a:pPr algn="l">
              <a:lnSpc>
                <a:spcPts val="2030"/>
              </a:lnSpc>
              <a:spcAft>
                <a:spcPts val="400"/>
              </a:spcAft>
              <a:defRPr sz="1400">
                <a:solidFill>
                  <a:srgbClr val="2D3748"/>
                </a:solidFill>
                <a:latin typeface="Calibri"/>
              </a:defRPr>
            </a:pPr>
            <a:r>
              <a:t>  identity and stated rationale.</a:t>
            </a:r>
          </a:p>
        </p:txBody>
      </p:sp>
      <p:sp>
        <p:nvSpPr>
          <p:cNvPr id="18" name="Rounded Rectangle 17"/>
          <p:cNvSpPr/>
          <p:nvPr/>
        </p:nvSpPr>
        <p:spPr>
          <a:xfrm>
            <a:off x="731520" y="5760720"/>
            <a:ext cx="10698480" cy="41148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788152"/>
            <a:ext cx="10332720" cy="347472"/>
          </a:xfrm>
          <a:prstGeom prst="rect">
            <a:avLst/>
          </a:prstGeom>
          <a:noFill/>
        </p:spPr>
        <p:txBody>
          <a:bodyPr wrap="square">
            <a:spAutoFit/>
          </a:bodyPr>
          <a:lstStyle/>
          <a:p>
            <a:pPr algn="l">
              <a:lnSpc>
                <a:spcPts val="1380"/>
              </a:lnSpc>
              <a:spcBef>
                <a:spcPts val="0"/>
              </a:spcBef>
              <a:spcAft>
                <a:spcPts val="400"/>
              </a:spcAft>
              <a:defRPr sz="1200" b="0">
                <a:solidFill>
                  <a:srgbClr val="2D3748"/>
                </a:solidFill>
                <a:latin typeface="Calibri"/>
              </a:defRPr>
            </a:pPr>
            <a:r>
              <a:t>Key takeaway: This principle is one dimension of trust — it interacts with the other five. Evaluating any one in isolation is a partial assessment.</a:t>
            </a:r>
          </a:p>
        </p:txBody>
      </p:sp>
      <p:sp>
        <p:nvSpPr>
          <p:cNvPr id="20" name="TextBox 19"/>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Core Principle: Robustness / Safety</a:t>
            </a:r>
          </a:p>
        </p:txBody>
      </p:sp>
      <p:sp>
        <p:nvSpPr>
          <p:cNvPr id="4" name="TextBox 3"/>
          <p:cNvSpPr txBox="1"/>
          <p:nvPr/>
        </p:nvSpPr>
        <p:spPr>
          <a:xfrm>
            <a:off x="731520" y="713232"/>
            <a:ext cx="10698480" cy="365760"/>
          </a:xfrm>
          <a:prstGeom prst="rect">
            <a:avLst/>
          </a:prstGeom>
          <a:noFill/>
        </p:spPr>
        <p:txBody>
          <a:bodyPr wrap="square">
            <a:spAutoFit/>
          </a:bodyPr>
          <a:lstStyle/>
          <a:p>
            <a:pPr algn="l">
              <a:lnSpc>
                <a:spcPts val="1380"/>
              </a:lnSpc>
              <a:spcBef>
                <a:spcPts val="0"/>
              </a:spcBef>
              <a:spcAft>
                <a:spcPts val="400"/>
              </a:spcAft>
              <a:defRPr sz="1200" b="0">
                <a:solidFill>
                  <a:srgbClr val="EEEEEE"/>
                </a:solidFill>
                <a:latin typeface="Calibri"/>
              </a:defRPr>
            </a:pPr>
            <a:r>
              <a:t>Slide Group 4  •  One principle per slide  •  Definition → Failure → Technique</a:t>
            </a:r>
          </a:p>
        </p:txBody>
      </p:sp>
      <p:sp>
        <p:nvSpPr>
          <p:cNvPr id="5" name="Rectangle 4"/>
          <p:cNvSpPr/>
          <p:nvPr/>
        </p:nvSpPr>
        <p:spPr>
          <a:xfrm>
            <a:off x="0" y="1234440"/>
            <a:ext cx="12191695"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3291840" cy="45720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DEFINITION</a:t>
            </a:r>
          </a:p>
        </p:txBody>
      </p:sp>
      <p:sp>
        <p:nvSpPr>
          <p:cNvPr id="8" name="Rounded Rectangle 7"/>
          <p:cNvSpPr/>
          <p:nvPr/>
        </p:nvSpPr>
        <p:spPr>
          <a:xfrm>
            <a:off x="73152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Performance under distribution shift,</a:t>
            </a:r>
          </a:p>
          <a:p>
            <a:pPr algn="l">
              <a:lnSpc>
                <a:spcPts val="2030"/>
              </a:lnSpc>
              <a:spcAft>
                <a:spcPts val="400"/>
              </a:spcAft>
              <a:defRPr sz="1400">
                <a:solidFill>
                  <a:srgbClr val="2D3748"/>
                </a:solidFill>
                <a:latin typeface="Calibri"/>
              </a:defRPr>
            </a:pPr>
            <a:r>
              <a:t>adversarial inputs, and edge cases —</a:t>
            </a:r>
          </a:p>
          <a:p>
            <a:pPr algn="l">
              <a:lnSpc>
                <a:spcPts val="2030"/>
              </a:lnSpc>
              <a:spcAft>
                <a:spcPts val="400"/>
              </a:spcAft>
              <a:defRPr sz="1400">
                <a:solidFill>
                  <a:srgbClr val="2D3748"/>
                </a:solidFill>
                <a:latin typeface="Calibri"/>
              </a:defRPr>
            </a:pPr>
            <a:r>
              <a:t>not just average-case accuracy.</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General robustness: resilience to</a:t>
            </a:r>
          </a:p>
          <a:p>
            <a:pPr algn="l">
              <a:lnSpc>
                <a:spcPts val="2030"/>
              </a:lnSpc>
              <a:spcAft>
                <a:spcPts val="400"/>
              </a:spcAft>
              <a:defRPr sz="1400">
                <a:solidFill>
                  <a:srgbClr val="2D3748"/>
                </a:solidFill>
                <a:latin typeface="Calibri"/>
              </a:defRPr>
            </a:pPr>
            <a:r>
              <a:t>natural noise, edge cases, and</a:t>
            </a:r>
          </a:p>
          <a:p>
            <a:pPr algn="l">
              <a:lnSpc>
                <a:spcPts val="2030"/>
              </a:lnSpc>
              <a:spcAft>
                <a:spcPts val="400"/>
              </a:spcAft>
              <a:defRPr sz="1400">
                <a:solidFill>
                  <a:srgbClr val="2D3748"/>
                </a:solidFill>
                <a:latin typeface="Calibri"/>
              </a:defRPr>
            </a:pPr>
            <a:r>
              <a:t>distribution drift over time.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Adversarial robustness: resilience to</a:t>
            </a:r>
          </a:p>
          <a:p>
            <a:pPr algn="l">
              <a:lnSpc>
                <a:spcPts val="2030"/>
              </a:lnSpc>
              <a:spcAft>
                <a:spcPts val="400"/>
              </a:spcAft>
              <a:defRPr sz="1400">
                <a:solidFill>
                  <a:srgbClr val="2D3748"/>
                </a:solidFill>
                <a:latin typeface="Calibri"/>
              </a:defRPr>
            </a:pPr>
            <a:r>
              <a:t>inputs deliberately crafted to cause</a:t>
            </a:r>
          </a:p>
          <a:p>
            <a:pPr algn="l">
              <a:lnSpc>
                <a:spcPts val="2030"/>
              </a:lnSpc>
              <a:spcAft>
                <a:spcPts val="400"/>
              </a:spcAft>
              <a:defRPr sz="1400">
                <a:solidFill>
                  <a:srgbClr val="2D3748"/>
                </a:solidFill>
                <a:latin typeface="Calibri"/>
              </a:defRPr>
            </a:pPr>
            <a:r>
              <a:t>failure (perturbations, prompt</a:t>
            </a:r>
          </a:p>
          <a:p>
            <a:pPr algn="l">
              <a:lnSpc>
                <a:spcPts val="2030"/>
              </a:lnSpc>
              <a:spcAft>
                <a:spcPts val="400"/>
              </a:spcAft>
              <a:defRPr sz="1400">
                <a:solidFill>
                  <a:srgbClr val="2D3748"/>
                </a:solidFill>
                <a:latin typeface="Calibri"/>
              </a:defRPr>
            </a:pPr>
            <a:r>
              <a:t>injection, jailbreaks, data poisoning).</a:t>
            </a:r>
          </a:p>
        </p:txBody>
      </p:sp>
      <p:sp>
        <p:nvSpPr>
          <p:cNvPr id="10" name="Rounded Rectangle 9"/>
          <p:cNvSpPr/>
          <p:nvPr/>
        </p:nvSpPr>
        <p:spPr>
          <a:xfrm>
            <a:off x="4343400" y="1691640"/>
            <a:ext cx="32918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WHY IT FAILS IN PRACTICE</a:t>
            </a:r>
          </a:p>
        </p:txBody>
      </p:sp>
      <p:sp>
        <p:nvSpPr>
          <p:cNvPr id="12" name="Rounded Rectangle 11"/>
          <p:cNvSpPr/>
          <p:nvPr/>
        </p:nvSpPr>
        <p:spPr>
          <a:xfrm>
            <a:off x="434340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Models are typically evaluated on</a:t>
            </a:r>
          </a:p>
          <a:p>
            <a:pPr algn="l">
              <a:lnSpc>
                <a:spcPts val="2030"/>
              </a:lnSpc>
              <a:spcAft>
                <a:spcPts val="400"/>
              </a:spcAft>
              <a:defRPr sz="1400">
                <a:solidFill>
                  <a:srgbClr val="2D3748"/>
                </a:solidFill>
                <a:latin typeface="Calibri"/>
              </a:defRPr>
            </a:pPr>
            <a:r>
              <a:t>IID held-out test sets — which tells</a:t>
            </a:r>
          </a:p>
          <a:p>
            <a:pPr algn="l">
              <a:lnSpc>
                <a:spcPts val="2030"/>
              </a:lnSpc>
              <a:spcAft>
                <a:spcPts val="400"/>
              </a:spcAft>
              <a:defRPr sz="1400">
                <a:solidFill>
                  <a:srgbClr val="2D3748"/>
                </a:solidFill>
                <a:latin typeface="Calibri"/>
              </a:defRPr>
            </a:pPr>
            <a:r>
              <a:t>you nothing about behavior under</a:t>
            </a:r>
          </a:p>
          <a:p>
            <a:pPr algn="l">
              <a:lnSpc>
                <a:spcPts val="2030"/>
              </a:lnSpc>
              <a:spcAft>
                <a:spcPts val="400"/>
              </a:spcAft>
              <a:defRPr sz="1400">
                <a:solidFill>
                  <a:srgbClr val="2D3748"/>
                </a:solidFill>
                <a:latin typeface="Calibri"/>
              </a:defRPr>
            </a:pPr>
            <a:r>
              <a:t>distribution shift or attack.</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LLMs are particularly vulnerable to</a:t>
            </a:r>
          </a:p>
          <a:p>
            <a:pPr algn="l">
              <a:lnSpc>
                <a:spcPts val="2030"/>
              </a:lnSpc>
              <a:spcAft>
                <a:spcPts val="400"/>
              </a:spcAft>
              <a:defRPr sz="1400">
                <a:solidFill>
                  <a:srgbClr val="2D3748"/>
                </a:solidFill>
                <a:latin typeface="Calibri"/>
              </a:defRPr>
            </a:pPr>
            <a:r>
              <a:t>prompt injection, jailbreaking, and</a:t>
            </a:r>
          </a:p>
          <a:p>
            <a:pPr algn="l">
              <a:lnSpc>
                <a:spcPts val="2030"/>
              </a:lnSpc>
              <a:spcAft>
                <a:spcPts val="400"/>
              </a:spcAft>
              <a:defRPr sz="1400">
                <a:solidFill>
                  <a:srgbClr val="2D3748"/>
                </a:solidFill>
                <a:latin typeface="Calibri"/>
              </a:defRPr>
            </a:pPr>
            <a:r>
              <a:t>indirect injection via retrieved</a:t>
            </a:r>
          </a:p>
          <a:p>
            <a:pPr algn="l">
              <a:lnSpc>
                <a:spcPts val="2030"/>
              </a:lnSpc>
              <a:spcAft>
                <a:spcPts val="400"/>
              </a:spcAft>
              <a:defRPr sz="1400">
                <a:solidFill>
                  <a:srgbClr val="2D3748"/>
                </a:solidFill>
                <a:latin typeface="Calibri"/>
              </a:defRPr>
            </a:pPr>
            <a:r>
              <a:t>documents — attack surfaces that</a:t>
            </a:r>
          </a:p>
          <a:p>
            <a:pPr algn="l">
              <a:lnSpc>
                <a:spcPts val="2030"/>
              </a:lnSpc>
              <a:spcAft>
                <a:spcPts val="400"/>
              </a:spcAft>
              <a:defRPr sz="1400">
                <a:solidFill>
                  <a:srgbClr val="2D3748"/>
                </a:solidFill>
                <a:latin typeface="Calibri"/>
              </a:defRPr>
            </a:pPr>
            <a:r>
              <a:t>didn't exist for traditional ML.</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Robustness is not binary — it's</a:t>
            </a:r>
          </a:p>
          <a:p>
            <a:pPr algn="l">
              <a:lnSpc>
                <a:spcPts val="2030"/>
              </a:lnSpc>
              <a:spcAft>
                <a:spcPts val="400"/>
              </a:spcAft>
              <a:defRPr sz="1400">
                <a:solidFill>
                  <a:srgbClr val="2D3748"/>
                </a:solidFill>
                <a:latin typeface="Calibri"/>
              </a:defRPr>
            </a:pPr>
            <a:r>
              <a:t>context-dependent: a model robust</a:t>
            </a:r>
          </a:p>
          <a:p>
            <a:pPr algn="l">
              <a:lnSpc>
                <a:spcPts val="2030"/>
              </a:lnSpc>
              <a:spcAft>
                <a:spcPts val="400"/>
              </a:spcAft>
              <a:defRPr sz="1400">
                <a:solidFill>
                  <a:srgbClr val="2D3748"/>
                </a:solidFill>
                <a:latin typeface="Calibri"/>
              </a:defRPr>
            </a:pPr>
            <a:r>
              <a:t>to one attack type may be fragile</a:t>
            </a:r>
          </a:p>
          <a:p>
            <a:pPr algn="l">
              <a:lnSpc>
                <a:spcPts val="2030"/>
              </a:lnSpc>
              <a:spcAft>
                <a:spcPts val="400"/>
              </a:spcAft>
              <a:defRPr sz="1400">
                <a:solidFill>
                  <a:srgbClr val="2D3748"/>
                </a:solidFill>
                <a:latin typeface="Calibri"/>
              </a:defRPr>
            </a:pPr>
            <a:r>
              <a:t>to another.</a:t>
            </a:r>
          </a:p>
        </p:txBody>
      </p:sp>
      <p:sp>
        <p:nvSpPr>
          <p:cNvPr id="14" name="Rounded Rectangle 13"/>
          <p:cNvSpPr/>
          <p:nvPr/>
        </p:nvSpPr>
        <p:spPr>
          <a:xfrm>
            <a:off x="7955279" y="1691640"/>
            <a:ext cx="329184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ONE CONCRETE TECHNIQUE</a:t>
            </a:r>
          </a:p>
        </p:txBody>
      </p:sp>
      <p:sp>
        <p:nvSpPr>
          <p:cNvPr id="16" name="Rounded Rectangle 15"/>
          <p:cNvSpPr/>
          <p:nvPr/>
        </p:nvSpPr>
        <p:spPr>
          <a:xfrm>
            <a:off x="7955279" y="2148840"/>
            <a:ext cx="3291840" cy="3291840"/>
          </a:xfrm>
          <a:prstGeom prst="roundRect">
            <a:avLst/>
          </a:prstGeom>
          <a:solidFill>
            <a:srgbClr val="E0F2F1"/>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59"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Red-teaming and adversarial testing:</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Structured red-teaming harness</a:t>
            </a:r>
          </a:p>
          <a:p>
            <a:pPr algn="l">
              <a:lnSpc>
                <a:spcPts val="2030"/>
              </a:lnSpc>
              <a:spcAft>
                <a:spcPts val="400"/>
              </a:spcAft>
              <a:defRPr sz="1400">
                <a:solidFill>
                  <a:srgbClr val="2D3748"/>
                </a:solidFill>
                <a:latin typeface="Calibri"/>
              </a:defRPr>
            </a:pPr>
            <a:r>
              <a:t>  (Garak, PyRIT) — systematically</a:t>
            </a:r>
          </a:p>
          <a:p>
            <a:pPr algn="l">
              <a:lnSpc>
                <a:spcPts val="2030"/>
              </a:lnSpc>
              <a:spcAft>
                <a:spcPts val="400"/>
              </a:spcAft>
              <a:defRPr sz="1400">
                <a:solidFill>
                  <a:srgbClr val="2D3748"/>
                </a:solidFill>
                <a:latin typeface="Calibri"/>
              </a:defRPr>
            </a:pPr>
            <a:r>
              <a:t>  probe for vulnerabilities across</a:t>
            </a:r>
          </a:p>
          <a:p>
            <a:pPr algn="l">
              <a:lnSpc>
                <a:spcPts val="2030"/>
              </a:lnSpc>
              <a:spcAft>
                <a:spcPts val="400"/>
              </a:spcAft>
              <a:defRPr sz="1400">
                <a:solidFill>
                  <a:srgbClr val="2D3748"/>
                </a:solidFill>
                <a:latin typeface="Calibri"/>
              </a:defRPr>
            </a:pPr>
            <a:r>
              <a:t>  known attack categories.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Prompt injection defenses: input</a:t>
            </a:r>
          </a:p>
          <a:p>
            <a:pPr algn="l">
              <a:lnSpc>
                <a:spcPts val="2030"/>
              </a:lnSpc>
              <a:spcAft>
                <a:spcPts val="400"/>
              </a:spcAft>
              <a:defRPr sz="1400">
                <a:solidFill>
                  <a:srgbClr val="2D3748"/>
                </a:solidFill>
                <a:latin typeface="Calibri"/>
              </a:defRPr>
            </a:pPr>
            <a:r>
              <a:t>  sanitization, instruction hierarchy,</a:t>
            </a:r>
          </a:p>
          <a:p>
            <a:pPr algn="l">
              <a:lnSpc>
                <a:spcPts val="2030"/>
              </a:lnSpc>
              <a:spcAft>
                <a:spcPts val="400"/>
              </a:spcAft>
              <a:defRPr sz="1400">
                <a:solidFill>
                  <a:srgbClr val="2D3748"/>
                </a:solidFill>
                <a:latin typeface="Calibri"/>
              </a:defRPr>
            </a:pPr>
            <a:r>
              <a:t>  delimiter-based separation.</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Continuous monitoring, not</a:t>
            </a:r>
          </a:p>
          <a:p>
            <a:pPr algn="l">
              <a:lnSpc>
                <a:spcPts val="2030"/>
              </a:lnSpc>
              <a:spcAft>
                <a:spcPts val="400"/>
              </a:spcAft>
              <a:defRPr sz="1400">
                <a:solidFill>
                  <a:srgbClr val="2D3748"/>
                </a:solidFill>
                <a:latin typeface="Calibri"/>
              </a:defRPr>
            </a:pPr>
            <a:r>
              <a:t>  one-time pre-deployment eval.</a:t>
            </a:r>
          </a:p>
        </p:txBody>
      </p:sp>
      <p:sp>
        <p:nvSpPr>
          <p:cNvPr id="18" name="Rounded Rectangle 17"/>
          <p:cNvSpPr/>
          <p:nvPr/>
        </p:nvSpPr>
        <p:spPr>
          <a:xfrm>
            <a:off x="731520" y="5760720"/>
            <a:ext cx="10698480" cy="41148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788152"/>
            <a:ext cx="10332720" cy="347472"/>
          </a:xfrm>
          <a:prstGeom prst="rect">
            <a:avLst/>
          </a:prstGeom>
          <a:noFill/>
        </p:spPr>
        <p:txBody>
          <a:bodyPr wrap="square">
            <a:spAutoFit/>
          </a:bodyPr>
          <a:lstStyle/>
          <a:p>
            <a:pPr algn="l">
              <a:lnSpc>
                <a:spcPts val="1380"/>
              </a:lnSpc>
              <a:spcBef>
                <a:spcPts val="0"/>
              </a:spcBef>
              <a:spcAft>
                <a:spcPts val="400"/>
              </a:spcAft>
              <a:defRPr sz="1200" b="0">
                <a:solidFill>
                  <a:srgbClr val="2D3748"/>
                </a:solidFill>
                <a:latin typeface="Calibri"/>
              </a:defRPr>
            </a:pPr>
            <a:r>
              <a:t>Key takeaway: This principle is one dimension of trust — it interacts with the other five. Evaluating any one in isolation is a partial assessment.</a:t>
            </a:r>
          </a:p>
        </p:txBody>
      </p:sp>
      <p:sp>
        <p:nvSpPr>
          <p:cNvPr id="20" name="TextBox 19"/>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Core Principle: Privacy</a:t>
            </a:r>
          </a:p>
        </p:txBody>
      </p:sp>
      <p:sp>
        <p:nvSpPr>
          <p:cNvPr id="4" name="TextBox 3"/>
          <p:cNvSpPr txBox="1"/>
          <p:nvPr/>
        </p:nvSpPr>
        <p:spPr>
          <a:xfrm>
            <a:off x="731520" y="713232"/>
            <a:ext cx="10698480" cy="365760"/>
          </a:xfrm>
          <a:prstGeom prst="rect">
            <a:avLst/>
          </a:prstGeom>
          <a:noFill/>
        </p:spPr>
        <p:txBody>
          <a:bodyPr wrap="square">
            <a:spAutoFit/>
          </a:bodyPr>
          <a:lstStyle/>
          <a:p>
            <a:pPr algn="l">
              <a:lnSpc>
                <a:spcPts val="1380"/>
              </a:lnSpc>
              <a:spcBef>
                <a:spcPts val="0"/>
              </a:spcBef>
              <a:spcAft>
                <a:spcPts val="400"/>
              </a:spcAft>
              <a:defRPr sz="1200" b="0">
                <a:solidFill>
                  <a:srgbClr val="EEEEEE"/>
                </a:solidFill>
                <a:latin typeface="Calibri"/>
              </a:defRPr>
            </a:pPr>
            <a:r>
              <a:t>Slide Group 4  •  One principle per slide  •  Definition → Failure → Technique</a:t>
            </a:r>
          </a:p>
        </p:txBody>
      </p:sp>
      <p:sp>
        <p:nvSpPr>
          <p:cNvPr id="5" name="Rectangle 4"/>
          <p:cNvSpPr/>
          <p:nvPr/>
        </p:nvSpPr>
        <p:spPr>
          <a:xfrm>
            <a:off x="0" y="1234440"/>
            <a:ext cx="12191695"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3291840" cy="45720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DEFINITION</a:t>
            </a:r>
          </a:p>
        </p:txBody>
      </p:sp>
      <p:sp>
        <p:nvSpPr>
          <p:cNvPr id="8" name="Rounded Rectangle 7"/>
          <p:cNvSpPr/>
          <p:nvPr/>
        </p:nvSpPr>
        <p:spPr>
          <a:xfrm>
            <a:off x="73152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Differential privacy (formal definition):</a:t>
            </a:r>
          </a:p>
          <a:p>
            <a:pPr algn="l">
              <a:lnSpc>
                <a:spcPts val="2030"/>
              </a:lnSpc>
              <a:spcAft>
                <a:spcPts val="400"/>
              </a:spcAft>
              <a:defRPr sz="1400">
                <a:solidFill>
                  <a:srgbClr val="2D3748"/>
                </a:solidFill>
                <a:latin typeface="Calibri"/>
              </a:defRPr>
            </a:pPr>
            <a:r>
              <a:t>add calibrated noise so that no</a:t>
            </a:r>
          </a:p>
          <a:p>
            <a:pPr algn="l">
              <a:lnSpc>
                <a:spcPts val="2030"/>
              </a:lnSpc>
              <a:spcAft>
                <a:spcPts val="400"/>
              </a:spcAft>
              <a:defRPr sz="1400">
                <a:solidFill>
                  <a:srgbClr val="2D3748"/>
                </a:solidFill>
                <a:latin typeface="Calibri"/>
              </a:defRPr>
            </a:pPr>
            <a:r>
              <a:t>single individual's data materially</a:t>
            </a:r>
          </a:p>
          <a:p>
            <a:pPr algn="l">
              <a:lnSpc>
                <a:spcPts val="2030"/>
              </a:lnSpc>
              <a:spcAft>
                <a:spcPts val="400"/>
              </a:spcAft>
              <a:defRPr sz="1400">
                <a:solidFill>
                  <a:srgbClr val="2D3748"/>
                </a:solidFill>
                <a:latin typeface="Calibri"/>
              </a:defRPr>
            </a:pPr>
            <a:r>
              <a:t>changes the model's output or</a:t>
            </a:r>
          </a:p>
          <a:p>
            <a:pPr algn="l">
              <a:lnSpc>
                <a:spcPts val="2030"/>
              </a:lnSpc>
              <a:spcAft>
                <a:spcPts val="400"/>
              </a:spcAft>
              <a:defRPr sz="1400">
                <a:solidFill>
                  <a:srgbClr val="2D3748"/>
                </a:solidFill>
                <a:latin typeface="Calibri"/>
              </a:defRPr>
            </a:pPr>
            <a:r>
              <a:t>aggregate statistics — a mathematical</a:t>
            </a:r>
          </a:p>
          <a:p>
            <a:pPr algn="l">
              <a:lnSpc>
                <a:spcPts val="2030"/>
              </a:lnSpc>
              <a:spcAft>
                <a:spcPts val="400"/>
              </a:spcAft>
              <a:defRPr sz="1400">
                <a:solidFill>
                  <a:srgbClr val="2D3748"/>
                </a:solidFill>
                <a:latin typeface="Calibri"/>
              </a:defRPr>
            </a:pPr>
            <a:r>
              <a:t>(not just policy) privacy guarantee.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Contrast with simple anonymization</a:t>
            </a:r>
          </a:p>
          <a:p>
            <a:pPr algn="l">
              <a:lnSpc>
                <a:spcPts val="2030"/>
              </a:lnSpc>
              <a:spcAft>
                <a:spcPts val="400"/>
              </a:spcAft>
              <a:defRPr sz="1400">
                <a:solidFill>
                  <a:srgbClr val="2D3748"/>
                </a:solidFill>
                <a:latin typeface="Calibri"/>
              </a:defRPr>
            </a:pPr>
            <a:r>
              <a:t>or redaction: removing PII fields is</a:t>
            </a:r>
          </a:p>
          <a:p>
            <a:pPr algn="l">
              <a:lnSpc>
                <a:spcPts val="2030"/>
              </a:lnSpc>
              <a:spcAft>
                <a:spcPts val="400"/>
              </a:spcAft>
              <a:defRPr sz="1400">
                <a:solidFill>
                  <a:srgbClr val="2D3748"/>
                </a:solidFill>
                <a:latin typeface="Calibri"/>
              </a:defRPr>
            </a:pPr>
            <a:r>
              <a:t>a data hygiene practice, not a formal</a:t>
            </a:r>
          </a:p>
          <a:p>
            <a:pPr algn="l">
              <a:lnSpc>
                <a:spcPts val="2030"/>
              </a:lnSpc>
              <a:spcAft>
                <a:spcPts val="400"/>
              </a:spcAft>
              <a:defRPr sz="1400">
                <a:solidFill>
                  <a:srgbClr val="2D3748"/>
                </a:solidFill>
                <a:latin typeface="Calibri"/>
              </a:defRPr>
            </a:pPr>
            <a:r>
              <a:t>privacy guarantee. These solve</a:t>
            </a:r>
          </a:p>
          <a:p>
            <a:pPr algn="l">
              <a:lnSpc>
                <a:spcPts val="2030"/>
              </a:lnSpc>
              <a:spcAft>
                <a:spcPts val="400"/>
              </a:spcAft>
              <a:defRPr sz="1400">
                <a:solidFill>
                  <a:srgbClr val="2D3748"/>
                </a:solidFill>
                <a:latin typeface="Calibri"/>
              </a:defRPr>
            </a:pPr>
            <a:r>
              <a:t>different problems.</a:t>
            </a:r>
          </a:p>
        </p:txBody>
      </p:sp>
      <p:sp>
        <p:nvSpPr>
          <p:cNvPr id="10" name="Rounded Rectangle 9"/>
          <p:cNvSpPr/>
          <p:nvPr/>
        </p:nvSpPr>
        <p:spPr>
          <a:xfrm>
            <a:off x="4343400" y="1691640"/>
            <a:ext cx="32918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WHY IT FAILS IN PRACTICE</a:t>
            </a:r>
          </a:p>
        </p:txBody>
      </p:sp>
      <p:sp>
        <p:nvSpPr>
          <p:cNvPr id="12" name="Rounded Rectangle 11"/>
          <p:cNvSpPr/>
          <p:nvPr/>
        </p:nvSpPr>
        <p:spPr>
          <a:xfrm>
            <a:off x="434340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Simple anonymization/redaction can</a:t>
            </a:r>
          </a:p>
          <a:p>
            <a:pPr algn="l">
              <a:lnSpc>
                <a:spcPts val="2030"/>
              </a:lnSpc>
              <a:spcAft>
                <a:spcPts val="400"/>
              </a:spcAft>
              <a:defRPr sz="1400">
                <a:solidFill>
                  <a:srgbClr val="2D3748"/>
                </a:solidFill>
                <a:latin typeface="Calibri"/>
              </a:defRPr>
            </a:pPr>
            <a:r>
              <a:t>be defeated by linkage attacks —</a:t>
            </a:r>
          </a:p>
          <a:p>
            <a:pPr algn="l">
              <a:lnSpc>
                <a:spcPts val="2030"/>
              </a:lnSpc>
              <a:spcAft>
                <a:spcPts val="400"/>
              </a:spcAft>
              <a:defRPr sz="1400">
                <a:solidFill>
                  <a:srgbClr val="2D3748"/>
                </a:solidFill>
                <a:latin typeface="Calibri"/>
              </a:defRPr>
            </a:pPr>
            <a:r>
              <a:t>combining 'anonymized' datasets</a:t>
            </a:r>
          </a:p>
          <a:p>
            <a:pPr algn="l">
              <a:lnSpc>
                <a:spcPts val="2030"/>
              </a:lnSpc>
              <a:spcAft>
                <a:spcPts val="400"/>
              </a:spcAft>
              <a:defRPr sz="1400">
                <a:solidFill>
                  <a:srgbClr val="2D3748"/>
                </a:solidFill>
                <a:latin typeface="Calibri"/>
              </a:defRPr>
            </a:pPr>
            <a:r>
              <a:t>with public data to re-identify</a:t>
            </a:r>
          </a:p>
          <a:p>
            <a:pPr algn="l">
              <a:lnSpc>
                <a:spcPts val="2030"/>
              </a:lnSpc>
              <a:spcAft>
                <a:spcPts val="400"/>
              </a:spcAft>
              <a:defRPr sz="1400">
                <a:solidFill>
                  <a:srgbClr val="2D3748"/>
                </a:solidFill>
                <a:latin typeface="Calibri"/>
              </a:defRPr>
            </a:pPr>
            <a:r>
              <a:t>individuals.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Models themselves can memorize</a:t>
            </a:r>
          </a:p>
          <a:p>
            <a:pPr algn="l">
              <a:lnSpc>
                <a:spcPts val="2030"/>
              </a:lnSpc>
              <a:spcAft>
                <a:spcPts val="400"/>
              </a:spcAft>
              <a:defRPr sz="1400">
                <a:solidFill>
                  <a:srgbClr val="2D3748"/>
                </a:solidFill>
                <a:latin typeface="Calibri"/>
              </a:defRPr>
            </a:pPr>
            <a:r>
              <a:t>and later regurgitate training data</a:t>
            </a:r>
          </a:p>
          <a:p>
            <a:pPr algn="l">
              <a:lnSpc>
                <a:spcPts val="2030"/>
              </a:lnSpc>
              <a:spcAft>
                <a:spcPts val="400"/>
              </a:spcAft>
              <a:defRPr sz="1400">
                <a:solidFill>
                  <a:srgbClr val="2D3748"/>
                </a:solidFill>
                <a:latin typeface="Calibri"/>
              </a:defRPr>
            </a:pPr>
            <a:r>
              <a:t>(training data extraction attacks)</a:t>
            </a:r>
          </a:p>
          <a:p>
            <a:pPr algn="l">
              <a:lnSpc>
                <a:spcPts val="2030"/>
              </a:lnSpc>
              <a:spcAft>
                <a:spcPts val="400"/>
              </a:spcAft>
              <a:defRPr sz="1400">
                <a:solidFill>
                  <a:srgbClr val="2D3748"/>
                </a:solidFill>
                <a:latin typeface="Calibri"/>
              </a:defRPr>
            </a:pPr>
            <a:r>
              <a:t>— a privacy failure that redaction</a:t>
            </a:r>
          </a:p>
          <a:p>
            <a:pPr algn="l">
              <a:lnSpc>
                <a:spcPts val="2030"/>
              </a:lnSpc>
              <a:spcAft>
                <a:spcPts val="400"/>
              </a:spcAft>
              <a:defRPr sz="1400">
                <a:solidFill>
                  <a:srgbClr val="2D3748"/>
                </a:solidFill>
                <a:latin typeface="Calibri"/>
              </a:defRPr>
            </a:pPr>
            <a:r>
              <a:t>at inference time cannot prevent.</a:t>
            </a:r>
          </a:p>
        </p:txBody>
      </p:sp>
      <p:sp>
        <p:nvSpPr>
          <p:cNvPr id="14" name="Rounded Rectangle 13"/>
          <p:cNvSpPr/>
          <p:nvPr/>
        </p:nvSpPr>
        <p:spPr>
          <a:xfrm>
            <a:off x="7955279" y="1691640"/>
            <a:ext cx="329184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ONE CONCRETE TECHNIQUE</a:t>
            </a:r>
          </a:p>
        </p:txBody>
      </p:sp>
      <p:sp>
        <p:nvSpPr>
          <p:cNvPr id="16" name="Rounded Rectangle 15"/>
          <p:cNvSpPr/>
          <p:nvPr/>
        </p:nvSpPr>
        <p:spPr>
          <a:xfrm>
            <a:off x="7955279" y="2148840"/>
            <a:ext cx="3291840" cy="3291840"/>
          </a:xfrm>
          <a:prstGeom prst="roundRect">
            <a:avLst/>
          </a:prstGeom>
          <a:solidFill>
            <a:srgbClr val="E0F2F1"/>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59"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Layered approach — match the</a:t>
            </a:r>
          </a:p>
          <a:p>
            <a:pPr algn="l">
              <a:lnSpc>
                <a:spcPts val="2030"/>
              </a:lnSpc>
              <a:spcAft>
                <a:spcPts val="400"/>
              </a:spcAft>
              <a:defRPr sz="1400">
                <a:solidFill>
                  <a:srgbClr val="2D3748"/>
                </a:solidFill>
                <a:latin typeface="Calibri"/>
              </a:defRPr>
            </a:pPr>
            <a:r>
              <a:t>technique to the threat model:</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PII detection/redaction (Presidio):</a:t>
            </a:r>
          </a:p>
          <a:p>
            <a:pPr algn="l">
              <a:lnSpc>
                <a:spcPts val="2030"/>
              </a:lnSpc>
              <a:spcAft>
                <a:spcPts val="400"/>
              </a:spcAft>
              <a:defRPr sz="1400">
                <a:solidFill>
                  <a:srgbClr val="2D3748"/>
                </a:solidFill>
                <a:latin typeface="Calibri"/>
              </a:defRPr>
            </a:pPr>
            <a:r>
              <a:t>  prevents PII from appearing in</a:t>
            </a:r>
          </a:p>
          <a:p>
            <a:pPr algn="l">
              <a:lnSpc>
                <a:spcPts val="2030"/>
              </a:lnSpc>
              <a:spcAft>
                <a:spcPts val="400"/>
              </a:spcAft>
              <a:defRPr sz="1400">
                <a:solidFill>
                  <a:srgbClr val="2D3748"/>
                </a:solidFill>
                <a:latin typeface="Calibri"/>
              </a:defRPr>
            </a:pPr>
            <a:r>
              <a:t>  model inputs and outputs.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Differential privacy (DP-SGD, DP</a:t>
            </a:r>
          </a:p>
          <a:p>
            <a:pPr algn="l">
              <a:lnSpc>
                <a:spcPts val="2030"/>
              </a:lnSpc>
              <a:spcAft>
                <a:spcPts val="400"/>
              </a:spcAft>
              <a:defRPr sz="1400">
                <a:solidFill>
                  <a:srgbClr val="2D3748"/>
                </a:solidFill>
                <a:latin typeface="Calibri"/>
              </a:defRPr>
            </a:pPr>
            <a:r>
              <a:t>  aggregation): formal guarantee at</a:t>
            </a:r>
          </a:p>
          <a:p>
            <a:pPr algn="l">
              <a:lnSpc>
                <a:spcPts val="2030"/>
              </a:lnSpc>
              <a:spcAft>
                <a:spcPts val="400"/>
              </a:spcAft>
              <a:defRPr sz="1400">
                <a:solidFill>
                  <a:srgbClr val="2D3748"/>
                </a:solidFill>
                <a:latin typeface="Calibri"/>
              </a:defRPr>
            </a:pPr>
            <a:r>
              <a:t>  training time or in aggregate stats.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Be precise: these solve different</a:t>
            </a:r>
          </a:p>
          <a:p>
            <a:pPr algn="l">
              <a:lnSpc>
                <a:spcPts val="2030"/>
              </a:lnSpc>
              <a:spcAft>
                <a:spcPts val="400"/>
              </a:spcAft>
              <a:defRPr sz="1400">
                <a:solidFill>
                  <a:srgbClr val="2D3748"/>
                </a:solidFill>
                <a:latin typeface="Calibri"/>
              </a:defRPr>
            </a:pPr>
            <a:r>
              <a:t>problems. Redaction ≠ DP.</a:t>
            </a:r>
          </a:p>
        </p:txBody>
      </p:sp>
      <p:sp>
        <p:nvSpPr>
          <p:cNvPr id="18" name="Rounded Rectangle 17"/>
          <p:cNvSpPr/>
          <p:nvPr/>
        </p:nvSpPr>
        <p:spPr>
          <a:xfrm>
            <a:off x="731520" y="5760720"/>
            <a:ext cx="10698480" cy="41148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788152"/>
            <a:ext cx="10332720" cy="347472"/>
          </a:xfrm>
          <a:prstGeom prst="rect">
            <a:avLst/>
          </a:prstGeom>
          <a:noFill/>
        </p:spPr>
        <p:txBody>
          <a:bodyPr wrap="square">
            <a:spAutoFit/>
          </a:bodyPr>
          <a:lstStyle/>
          <a:p>
            <a:pPr algn="l">
              <a:lnSpc>
                <a:spcPts val="1380"/>
              </a:lnSpc>
              <a:spcBef>
                <a:spcPts val="0"/>
              </a:spcBef>
              <a:spcAft>
                <a:spcPts val="400"/>
              </a:spcAft>
              <a:defRPr sz="1200" b="0">
                <a:solidFill>
                  <a:srgbClr val="2D3748"/>
                </a:solidFill>
                <a:latin typeface="Calibri"/>
              </a:defRPr>
            </a:pPr>
            <a:r>
              <a:t>Key takeaway: This principle is one dimension of trust — it interacts with the other five. Evaluating any one in isolation is a partial assessment.</a:t>
            </a:r>
          </a:p>
        </p:txBody>
      </p:sp>
      <p:sp>
        <p:nvSpPr>
          <p:cNvPr id="20" name="TextBox 19"/>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Core Principle: Reliability</a:t>
            </a:r>
          </a:p>
        </p:txBody>
      </p:sp>
      <p:sp>
        <p:nvSpPr>
          <p:cNvPr id="4" name="TextBox 3"/>
          <p:cNvSpPr txBox="1"/>
          <p:nvPr/>
        </p:nvSpPr>
        <p:spPr>
          <a:xfrm>
            <a:off x="731520" y="713232"/>
            <a:ext cx="10698480" cy="365760"/>
          </a:xfrm>
          <a:prstGeom prst="rect">
            <a:avLst/>
          </a:prstGeom>
          <a:noFill/>
        </p:spPr>
        <p:txBody>
          <a:bodyPr wrap="square">
            <a:spAutoFit/>
          </a:bodyPr>
          <a:lstStyle/>
          <a:p>
            <a:pPr algn="l">
              <a:lnSpc>
                <a:spcPts val="1380"/>
              </a:lnSpc>
              <a:spcBef>
                <a:spcPts val="0"/>
              </a:spcBef>
              <a:spcAft>
                <a:spcPts val="400"/>
              </a:spcAft>
              <a:defRPr sz="1200" b="0">
                <a:solidFill>
                  <a:srgbClr val="EEEEEE"/>
                </a:solidFill>
                <a:latin typeface="Calibri"/>
              </a:defRPr>
            </a:pPr>
            <a:r>
              <a:t>Slide Group 4  •  One principle per slide  •  Definition → Failure → Technique</a:t>
            </a:r>
          </a:p>
        </p:txBody>
      </p:sp>
      <p:sp>
        <p:nvSpPr>
          <p:cNvPr id="5" name="Rectangle 4"/>
          <p:cNvSpPr/>
          <p:nvPr/>
        </p:nvSpPr>
        <p:spPr>
          <a:xfrm>
            <a:off x="0" y="1234440"/>
            <a:ext cx="12191695"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329184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DEFINITION</a:t>
            </a:r>
          </a:p>
        </p:txBody>
      </p:sp>
      <p:sp>
        <p:nvSpPr>
          <p:cNvPr id="8" name="Rounded Rectangle 7"/>
          <p:cNvSpPr/>
          <p:nvPr/>
        </p:nvSpPr>
        <p:spPr>
          <a:xfrm>
            <a:off x="73152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Consistent performance across time,</a:t>
            </a:r>
          </a:p>
          <a:p>
            <a:pPr algn="l">
              <a:lnSpc>
                <a:spcPts val="2030"/>
              </a:lnSpc>
              <a:spcAft>
                <a:spcPts val="400"/>
              </a:spcAft>
              <a:defRPr sz="1400">
                <a:solidFill>
                  <a:srgbClr val="2D3748"/>
                </a:solidFill>
                <a:latin typeface="Calibri"/>
              </a:defRPr>
            </a:pPr>
            <a:r>
              <a:t>environments, and inputs.</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Not just 'did it pass eval once' —</a:t>
            </a:r>
          </a:p>
          <a:p>
            <a:pPr algn="l">
              <a:lnSpc>
                <a:spcPts val="2030"/>
              </a:lnSpc>
              <a:spcAft>
                <a:spcPts val="400"/>
              </a:spcAft>
              <a:defRPr sz="1400">
                <a:solidFill>
                  <a:srgbClr val="2D3748"/>
                </a:solidFill>
                <a:latin typeface="Calibri"/>
              </a:defRPr>
            </a:pPr>
            <a:r>
              <a:t>does it keep performing at the</a:t>
            </a:r>
          </a:p>
          <a:p>
            <a:pPr algn="l">
              <a:lnSpc>
                <a:spcPts val="2030"/>
              </a:lnSpc>
              <a:spcAft>
                <a:spcPts val="400"/>
              </a:spcAft>
              <a:defRPr sz="1400">
                <a:solidFill>
                  <a:srgbClr val="2D3748"/>
                </a:solidFill>
                <a:latin typeface="Calibri"/>
              </a:defRPr>
            </a:pPr>
            <a:r>
              <a:t>same level as data, users, and</a:t>
            </a:r>
          </a:p>
          <a:p>
            <a:pPr algn="l">
              <a:lnSpc>
                <a:spcPts val="2030"/>
              </a:lnSpc>
              <a:spcAft>
                <a:spcPts val="400"/>
              </a:spcAft>
              <a:defRPr sz="1400">
                <a:solidFill>
                  <a:srgbClr val="2D3748"/>
                </a:solidFill>
                <a:latin typeface="Calibri"/>
              </a:defRPr>
            </a:pPr>
            <a:r>
              <a:t>context change.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Ties directly to NIST's Measure</a:t>
            </a:r>
          </a:p>
          <a:p>
            <a:pPr algn="l">
              <a:lnSpc>
                <a:spcPts val="2030"/>
              </a:lnSpc>
              <a:spcAft>
                <a:spcPts val="400"/>
              </a:spcAft>
              <a:defRPr sz="1400">
                <a:solidFill>
                  <a:srgbClr val="2D3748"/>
                </a:solidFill>
                <a:latin typeface="Calibri"/>
              </a:defRPr>
            </a:pPr>
            <a:r>
              <a:t>function being continuous, not</a:t>
            </a:r>
          </a:p>
          <a:p>
            <a:pPr algn="l">
              <a:lnSpc>
                <a:spcPts val="2030"/>
              </a:lnSpc>
              <a:spcAft>
                <a:spcPts val="400"/>
              </a:spcAft>
              <a:defRPr sz="1400">
                <a:solidFill>
                  <a:srgbClr val="2D3748"/>
                </a:solidFill>
                <a:latin typeface="Calibri"/>
              </a:defRPr>
            </a:pPr>
            <a:r>
              <a:t>a pre-deployment gate.</a:t>
            </a:r>
          </a:p>
        </p:txBody>
      </p:sp>
      <p:sp>
        <p:nvSpPr>
          <p:cNvPr id="10" name="Rounded Rectangle 9"/>
          <p:cNvSpPr/>
          <p:nvPr/>
        </p:nvSpPr>
        <p:spPr>
          <a:xfrm>
            <a:off x="4343400" y="1691640"/>
            <a:ext cx="329184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WHY IT FAILS IN PRACTICE</a:t>
            </a:r>
          </a:p>
        </p:txBody>
      </p:sp>
      <p:sp>
        <p:nvSpPr>
          <p:cNvPr id="12" name="Rounded Rectangle 11"/>
          <p:cNvSpPr/>
          <p:nvPr/>
        </p:nvSpPr>
        <p:spPr>
          <a:xfrm>
            <a:off x="4343400" y="2148840"/>
            <a:ext cx="32918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Data drift: the distribution of inputs</a:t>
            </a:r>
          </a:p>
          <a:p>
            <a:pPr algn="l">
              <a:lnSpc>
                <a:spcPts val="2030"/>
              </a:lnSpc>
              <a:spcAft>
                <a:spcPts val="400"/>
              </a:spcAft>
              <a:defRPr sz="1400">
                <a:solidFill>
                  <a:srgbClr val="2D3748"/>
                </a:solidFill>
                <a:latin typeface="Calibri"/>
              </a:defRPr>
            </a:pPr>
            <a:r>
              <a:t>in production diverges from training</a:t>
            </a:r>
          </a:p>
          <a:p>
            <a:pPr algn="l">
              <a:lnSpc>
                <a:spcPts val="2030"/>
              </a:lnSpc>
              <a:spcAft>
                <a:spcPts val="400"/>
              </a:spcAft>
              <a:defRPr sz="1400">
                <a:solidFill>
                  <a:srgbClr val="2D3748"/>
                </a:solidFill>
                <a:latin typeface="Calibri"/>
              </a:defRPr>
            </a:pPr>
            <a:r>
              <a:t>data — model accuracy silently</a:t>
            </a:r>
          </a:p>
          <a:p>
            <a:pPr algn="l">
              <a:lnSpc>
                <a:spcPts val="2030"/>
              </a:lnSpc>
              <a:spcAft>
                <a:spcPts val="400"/>
              </a:spcAft>
              <a:defRPr sz="1400">
                <a:solidFill>
                  <a:srgbClr val="2D3748"/>
                </a:solidFill>
                <a:latin typeface="Calibri"/>
              </a:defRPr>
            </a:pPr>
            <a:r>
              <a:t>degrades over time.</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Concept drift: the relationship</a:t>
            </a:r>
          </a:p>
          <a:p>
            <a:pPr algn="l">
              <a:lnSpc>
                <a:spcPts val="2030"/>
              </a:lnSpc>
              <a:spcAft>
                <a:spcPts val="400"/>
              </a:spcAft>
              <a:defRPr sz="1400">
                <a:solidFill>
                  <a:srgbClr val="2D3748"/>
                </a:solidFill>
                <a:latin typeface="Calibri"/>
              </a:defRPr>
            </a:pPr>
            <a:r>
              <a:t>between inputs and correct outputs</a:t>
            </a:r>
          </a:p>
          <a:p>
            <a:pPr algn="l">
              <a:lnSpc>
                <a:spcPts val="2030"/>
              </a:lnSpc>
              <a:spcAft>
                <a:spcPts val="400"/>
              </a:spcAft>
              <a:defRPr sz="1400">
                <a:solidFill>
                  <a:srgbClr val="2D3748"/>
                </a:solidFill>
                <a:latin typeface="Calibri"/>
              </a:defRPr>
            </a:pPr>
            <a:r>
              <a:t>changes — what was 'correct' last</a:t>
            </a:r>
          </a:p>
          <a:p>
            <a:pPr algn="l">
              <a:lnSpc>
                <a:spcPts val="2030"/>
              </a:lnSpc>
              <a:spcAft>
                <a:spcPts val="400"/>
              </a:spcAft>
              <a:defRPr sz="1400">
                <a:solidFill>
                  <a:srgbClr val="2D3748"/>
                </a:solidFill>
                <a:latin typeface="Calibri"/>
              </a:defRPr>
            </a:pPr>
            <a:r>
              <a:t>quarter may not be correct now.</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One-time evaluation gives a</a:t>
            </a:r>
          </a:p>
          <a:p>
            <a:pPr algn="l">
              <a:lnSpc>
                <a:spcPts val="2030"/>
              </a:lnSpc>
              <a:spcAft>
                <a:spcPts val="400"/>
              </a:spcAft>
              <a:defRPr sz="1400">
                <a:solidFill>
                  <a:srgbClr val="2D3748"/>
                </a:solidFill>
                <a:latin typeface="Calibri"/>
              </a:defRPr>
            </a:pPr>
            <a:r>
              <a:t>snapshot — it tells you nothing</a:t>
            </a:r>
          </a:p>
          <a:p>
            <a:pPr algn="l">
              <a:lnSpc>
                <a:spcPts val="2030"/>
              </a:lnSpc>
              <a:spcAft>
                <a:spcPts val="400"/>
              </a:spcAft>
              <a:defRPr sz="1400">
                <a:solidFill>
                  <a:srgbClr val="2D3748"/>
                </a:solidFill>
                <a:latin typeface="Calibri"/>
              </a:defRPr>
            </a:pPr>
            <a:r>
              <a:t>about the trend.</a:t>
            </a:r>
          </a:p>
        </p:txBody>
      </p:sp>
      <p:sp>
        <p:nvSpPr>
          <p:cNvPr id="14" name="Rounded Rectangle 13"/>
          <p:cNvSpPr/>
          <p:nvPr/>
        </p:nvSpPr>
        <p:spPr>
          <a:xfrm>
            <a:off x="7955279" y="1691640"/>
            <a:ext cx="329184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737360"/>
            <a:ext cx="3017520" cy="365760"/>
          </a:xfrm>
          <a:prstGeom prst="rect">
            <a:avLst/>
          </a:prstGeom>
          <a:noFill/>
        </p:spPr>
        <p:txBody>
          <a:bodyPr wrap="square">
            <a:spAutoFit/>
          </a:bodyPr>
          <a:lstStyle/>
          <a:p>
            <a:pPr algn="l">
              <a:lnSpc>
                <a:spcPts val="1609"/>
              </a:lnSpc>
              <a:spcBef>
                <a:spcPts val="0"/>
              </a:spcBef>
              <a:spcAft>
                <a:spcPts val="400"/>
              </a:spcAft>
              <a:defRPr sz="1400" b="1">
                <a:solidFill>
                  <a:srgbClr val="FFFFFF"/>
                </a:solidFill>
                <a:latin typeface="Calibri"/>
              </a:defRPr>
            </a:pPr>
            <a:r>
              <a:t>ONE CONCRETE TECHNIQUE</a:t>
            </a:r>
          </a:p>
        </p:txBody>
      </p:sp>
      <p:sp>
        <p:nvSpPr>
          <p:cNvPr id="16" name="Rounded Rectangle 15"/>
          <p:cNvSpPr/>
          <p:nvPr/>
        </p:nvSpPr>
        <p:spPr>
          <a:xfrm>
            <a:off x="7955279" y="2148840"/>
            <a:ext cx="3291840" cy="3291840"/>
          </a:xfrm>
          <a:prstGeom prst="roundRect">
            <a:avLst/>
          </a:prstGeom>
          <a:solidFill>
            <a:srgbClr val="E0F2F1"/>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59" y="2331720"/>
            <a:ext cx="2926080" cy="2926080"/>
          </a:xfrm>
          <a:prstGeom prst="rect">
            <a:avLst/>
          </a:prstGeom>
          <a:noFill/>
        </p:spPr>
        <p:txBody>
          <a:bodyPr wrap="square">
            <a:spAutoFit/>
          </a:bodyPr>
          <a:lstStyle/>
          <a:p>
            <a:pPr algn="l">
              <a:lnSpc>
                <a:spcPts val="2030"/>
              </a:lnSpc>
              <a:spcAft>
                <a:spcPts val="400"/>
              </a:spcAft>
              <a:defRPr sz="1400">
                <a:solidFill>
                  <a:srgbClr val="2D3748"/>
                </a:solidFill>
                <a:latin typeface="Calibri"/>
              </a:defRPr>
            </a:pPr>
            <a:r>
              <a:t>Continuous monitoring + scheduled</a:t>
            </a:r>
          </a:p>
          <a:p>
            <a:pPr algn="l">
              <a:lnSpc>
                <a:spcPts val="2030"/>
              </a:lnSpc>
              <a:spcAft>
                <a:spcPts val="400"/>
              </a:spcAft>
              <a:defRPr sz="1400">
                <a:solidFill>
                  <a:srgbClr val="2D3748"/>
                </a:solidFill>
                <a:latin typeface="Calibri"/>
              </a:defRPr>
            </a:pPr>
            <a:r>
              <a:t>re-evaluation:</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Groundedness/hallucination checks</a:t>
            </a:r>
          </a:p>
          <a:p>
            <a:pPr algn="l">
              <a:lnSpc>
                <a:spcPts val="2030"/>
              </a:lnSpc>
              <a:spcAft>
                <a:spcPts val="400"/>
              </a:spcAft>
              <a:defRPr sz="1400">
                <a:solidFill>
                  <a:srgbClr val="2D3748"/>
                </a:solidFill>
                <a:latin typeface="Calibri"/>
              </a:defRPr>
            </a:pPr>
            <a:r>
              <a:t>  as a continuous signal (not just</a:t>
            </a:r>
          </a:p>
          <a:p>
            <a:pPr algn="l">
              <a:lnSpc>
                <a:spcPts val="2030"/>
              </a:lnSpc>
              <a:spcAft>
                <a:spcPts val="400"/>
              </a:spcAft>
              <a:defRPr sz="1400">
                <a:solidFill>
                  <a:srgbClr val="2D3748"/>
                </a:solidFill>
                <a:latin typeface="Calibri"/>
              </a:defRPr>
            </a:pPr>
            <a:r>
              <a:t>  pre-deployment).</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Scheduled eval cadence: run the</a:t>
            </a:r>
          </a:p>
          <a:p>
            <a:pPr algn="l">
              <a:lnSpc>
                <a:spcPts val="2030"/>
              </a:lnSpc>
              <a:spcAft>
                <a:spcPts val="400"/>
              </a:spcAft>
              <a:defRPr sz="1400">
                <a:solidFill>
                  <a:srgbClr val="2D3748"/>
                </a:solidFill>
                <a:latin typeface="Calibri"/>
              </a:defRPr>
            </a:pPr>
            <a:r>
              <a:t>  same benchmark suite on a fixed</a:t>
            </a:r>
          </a:p>
          <a:p>
            <a:pPr algn="l">
              <a:lnSpc>
                <a:spcPts val="2030"/>
              </a:lnSpc>
              <a:spcAft>
                <a:spcPts val="400"/>
              </a:spcAft>
              <a:defRPr sz="1400">
                <a:solidFill>
                  <a:srgbClr val="2D3748"/>
                </a:solidFill>
                <a:latin typeface="Calibri"/>
              </a:defRPr>
            </a:pPr>
            <a:r>
              <a:t>  schedule to detect drift.</a:t>
            </a:r>
          </a:p>
          <a:p>
            <a:pPr algn="l">
              <a:lnSpc>
                <a:spcPts val="2030"/>
              </a:lnSpc>
              <a:spcAft>
                <a:spcPts val="400"/>
              </a:spcAft>
              <a:defRPr sz="1400">
                <a:solidFill>
                  <a:srgbClr val="2D3748"/>
                </a:solidFill>
                <a:latin typeface="Calibri"/>
              </a:defRPr>
            </a:pPr>
          </a:p>
          <a:p>
            <a:pPr algn="l">
              <a:lnSpc>
                <a:spcPts val="2030"/>
              </a:lnSpc>
              <a:spcAft>
                <a:spcPts val="400"/>
              </a:spcAft>
              <a:defRPr sz="1400">
                <a:solidFill>
                  <a:srgbClr val="2D3748"/>
                </a:solidFill>
                <a:latin typeface="Calibri"/>
              </a:defRPr>
            </a:pPr>
            <a:r>
              <a:t>• Monitor input/output distributions</a:t>
            </a:r>
          </a:p>
          <a:p>
            <a:pPr algn="l">
              <a:lnSpc>
                <a:spcPts val="2030"/>
              </a:lnSpc>
              <a:spcAft>
                <a:spcPts val="400"/>
              </a:spcAft>
              <a:defRPr sz="1400">
                <a:solidFill>
                  <a:srgbClr val="2D3748"/>
                </a:solidFill>
                <a:latin typeface="Calibri"/>
              </a:defRPr>
            </a:pPr>
            <a:r>
              <a:t>  for statistical divergence from</a:t>
            </a:r>
          </a:p>
          <a:p>
            <a:pPr algn="l">
              <a:lnSpc>
                <a:spcPts val="2030"/>
              </a:lnSpc>
              <a:spcAft>
                <a:spcPts val="400"/>
              </a:spcAft>
              <a:defRPr sz="1400">
                <a:solidFill>
                  <a:srgbClr val="2D3748"/>
                </a:solidFill>
                <a:latin typeface="Calibri"/>
              </a:defRPr>
            </a:pPr>
            <a:r>
              <a:t>  the reference distribution.</a:t>
            </a:r>
          </a:p>
        </p:txBody>
      </p:sp>
      <p:sp>
        <p:nvSpPr>
          <p:cNvPr id="18" name="Rounded Rectangle 17"/>
          <p:cNvSpPr/>
          <p:nvPr/>
        </p:nvSpPr>
        <p:spPr>
          <a:xfrm>
            <a:off x="731520" y="5760720"/>
            <a:ext cx="10698480" cy="41148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788152"/>
            <a:ext cx="10332720" cy="347472"/>
          </a:xfrm>
          <a:prstGeom prst="rect">
            <a:avLst/>
          </a:prstGeom>
          <a:noFill/>
        </p:spPr>
        <p:txBody>
          <a:bodyPr wrap="square">
            <a:spAutoFit/>
          </a:bodyPr>
          <a:lstStyle/>
          <a:p>
            <a:pPr algn="l">
              <a:lnSpc>
                <a:spcPts val="1380"/>
              </a:lnSpc>
              <a:spcBef>
                <a:spcPts val="0"/>
              </a:spcBef>
              <a:spcAft>
                <a:spcPts val="400"/>
              </a:spcAft>
              <a:defRPr sz="1200" b="0">
                <a:solidFill>
                  <a:srgbClr val="2D3748"/>
                </a:solidFill>
                <a:latin typeface="Calibri"/>
              </a:defRPr>
            </a:pPr>
            <a:r>
              <a:t>Key takeaway: This principle is one dimension of trust — it interacts with the other five. Evaluating any one in isolation is a partial assessment.</a:t>
            </a:r>
          </a:p>
        </p:txBody>
      </p:sp>
      <p:sp>
        <p:nvSpPr>
          <p:cNvPr id="20" name="TextBox 19"/>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Related Terms &amp; Concepts</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How the vocabulary connects to the core principles — a concept map</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906670" y="3200400"/>
            <a:ext cx="2377440" cy="9144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Core</a:t>
            </a:r>
            <a:br/>
            <a:r>
              <a:t>Principles</a:t>
            </a:r>
          </a:p>
        </p:txBody>
      </p:sp>
      <p:sp>
        <p:nvSpPr>
          <p:cNvPr id="7" name="Rounded Rectangle 6"/>
          <p:cNvSpPr/>
          <p:nvPr/>
        </p:nvSpPr>
        <p:spPr>
          <a:xfrm>
            <a:off x="5546750" y="1417319"/>
            <a:ext cx="1097280" cy="64008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Fairness</a:t>
            </a:r>
          </a:p>
        </p:txBody>
      </p:sp>
      <p:sp>
        <p:nvSpPr>
          <p:cNvPr id="8" name="Rounded Rectangle 7"/>
          <p:cNvSpPr/>
          <p:nvPr/>
        </p:nvSpPr>
        <p:spPr>
          <a:xfrm>
            <a:off x="7209727" y="2377440"/>
            <a:ext cx="1097280" cy="640080"/>
          </a:xfrm>
          <a:prstGeom prst="roundRect">
            <a:avLst/>
          </a:prstGeom>
          <a:solidFill>
            <a:srgbClr val="3181C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Transparency</a:t>
            </a:r>
          </a:p>
        </p:txBody>
      </p:sp>
      <p:sp>
        <p:nvSpPr>
          <p:cNvPr id="9" name="Rounded Rectangle 8"/>
          <p:cNvSpPr/>
          <p:nvPr/>
        </p:nvSpPr>
        <p:spPr>
          <a:xfrm>
            <a:off x="7209727" y="4297680"/>
            <a:ext cx="1097280" cy="64008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Accountability</a:t>
            </a:r>
          </a:p>
        </p:txBody>
      </p:sp>
      <p:sp>
        <p:nvSpPr>
          <p:cNvPr id="10" name="Rounded Rectangle 9"/>
          <p:cNvSpPr/>
          <p:nvPr/>
        </p:nvSpPr>
        <p:spPr>
          <a:xfrm>
            <a:off x="5546750" y="5257800"/>
            <a:ext cx="1097280" cy="64008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Robustness</a:t>
            </a:r>
            <a:br/>
            <a:r>
              <a:t>/ Safety</a:t>
            </a:r>
          </a:p>
        </p:txBody>
      </p:sp>
      <p:sp>
        <p:nvSpPr>
          <p:cNvPr id="11" name="Rounded Rectangle 10"/>
          <p:cNvSpPr/>
          <p:nvPr/>
        </p:nvSpPr>
        <p:spPr>
          <a:xfrm>
            <a:off x="3883773" y="4297680"/>
            <a:ext cx="1097280" cy="64008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Privacy</a:t>
            </a:r>
          </a:p>
        </p:txBody>
      </p:sp>
      <p:sp>
        <p:nvSpPr>
          <p:cNvPr id="12" name="Rounded Rectangle 11"/>
          <p:cNvSpPr/>
          <p:nvPr/>
        </p:nvSpPr>
        <p:spPr>
          <a:xfrm>
            <a:off x="3883773" y="2377439"/>
            <a:ext cx="1097280" cy="6400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Calibri"/>
              </a:defRPr>
            </a:pPr>
            <a:r>
              <a:t>Reliability</a:t>
            </a:r>
          </a:p>
        </p:txBody>
      </p:sp>
      <p:sp>
        <p:nvSpPr>
          <p:cNvPr id="13" name="Rounded Rectangle 12"/>
          <p:cNvSpPr/>
          <p:nvPr/>
        </p:nvSpPr>
        <p:spPr>
          <a:xfrm>
            <a:off x="457200" y="1691640"/>
            <a:ext cx="2560320" cy="1051560"/>
          </a:xfrm>
          <a:prstGeom prst="roundRect">
            <a:avLst/>
          </a:prstGeom>
          <a:solidFill>
            <a:srgbClr val="FFFFFF"/>
          </a:solidFill>
          <a:ln w="254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8F00"/>
                </a:solidFill>
                <a:latin typeface="Calibri"/>
              </a:defRPr>
            </a:pPr>
            <a:r>
              <a:t>Adversarial</a:t>
            </a:r>
            <a:br/>
            <a:r>
              <a:t>Robustness</a:t>
            </a:r>
          </a:p>
          <a:p>
            <a:pPr algn="ctr">
              <a:lnSpc>
                <a:spcPts val="1300"/>
              </a:lnSpc>
              <a:defRPr sz="900">
                <a:solidFill>
                  <a:srgbClr val="4A5568"/>
                </a:solidFill>
                <a:latin typeface="Calibri"/>
              </a:defRPr>
            </a:pPr>
            <a:r>
              <a:t>Resistance to inputs crafted</a:t>
            </a:r>
            <a:br/>
            <a:r>
              <a:t>to cause failure: adversarial</a:t>
            </a:r>
            <a:br/>
            <a:r>
              <a:t>examples, prompt injection,</a:t>
            </a:r>
            <a:br/>
            <a:r>
              <a:t>jailbreaks.</a:t>
            </a:r>
          </a:p>
        </p:txBody>
      </p:sp>
      <p:sp>
        <p:nvSpPr>
          <p:cNvPr id="14" name="Rounded Rectangle 13"/>
          <p:cNvSpPr/>
          <p:nvPr/>
        </p:nvSpPr>
        <p:spPr>
          <a:xfrm>
            <a:off x="8961120" y="1691640"/>
            <a:ext cx="2560320" cy="1051560"/>
          </a:xfrm>
          <a:prstGeom prst="roundRect">
            <a:avLst/>
          </a:prstGeom>
          <a:solidFill>
            <a:srgbClr val="FFFFFF"/>
          </a:solidFill>
          <a:ln w="25400">
            <a:solidFill>
              <a:srgbClr val="6B46C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6B46C1"/>
                </a:solidFill>
                <a:latin typeface="Calibri"/>
              </a:defRPr>
            </a:pPr>
            <a:r>
              <a:t>Model</a:t>
            </a:r>
            <a:br/>
            <a:r>
              <a:t>Auditing</a:t>
            </a:r>
          </a:p>
          <a:p>
            <a:pPr algn="ctr">
              <a:lnSpc>
                <a:spcPts val="1300"/>
              </a:lnSpc>
              <a:defRPr sz="900">
                <a:solidFill>
                  <a:srgbClr val="4A5568"/>
                </a:solidFill>
                <a:latin typeface="Calibri"/>
              </a:defRPr>
            </a:pPr>
            <a:r>
              <a:t>Independent review of data,</a:t>
            </a:r>
            <a:br/>
            <a:r>
              <a:t>training, and behavior against</a:t>
            </a:r>
            <a:br/>
            <a:r>
              <a:t>a standard — increasingly</a:t>
            </a:r>
            <a:br/>
            <a:r>
              <a:t>a regulatory requirement.</a:t>
            </a:r>
          </a:p>
        </p:txBody>
      </p:sp>
      <p:sp>
        <p:nvSpPr>
          <p:cNvPr id="15" name="Rounded Rectangle 14"/>
          <p:cNvSpPr/>
          <p:nvPr/>
        </p:nvSpPr>
        <p:spPr>
          <a:xfrm>
            <a:off x="457200" y="4754880"/>
            <a:ext cx="2560320" cy="1417320"/>
          </a:xfrm>
          <a:prstGeom prst="roundRect">
            <a:avLst/>
          </a:prstGeom>
          <a:solidFill>
            <a:srgbClr val="FFFFFF"/>
          </a:solidFill>
          <a:ln w="254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897B"/>
                </a:solidFill>
                <a:latin typeface="Calibri"/>
              </a:defRPr>
            </a:pPr>
            <a:r>
              <a:t>Regulatory</a:t>
            </a:r>
            <a:br/>
            <a:r>
              <a:t>Frameworks</a:t>
            </a:r>
          </a:p>
          <a:p>
            <a:pPr algn="ctr">
              <a:lnSpc>
                <a:spcPts val="1300"/>
              </a:lnSpc>
              <a:defRPr sz="900">
                <a:solidFill>
                  <a:srgbClr val="4A5568"/>
                </a:solidFill>
                <a:latin typeface="Calibri"/>
              </a:defRPr>
            </a:pPr>
            <a:r>
              <a:t>NIST AI RMF (voluntary, US-originated,</a:t>
            </a:r>
            <a:br/>
            <a:r>
              <a:t>globally referenced, 4 functions) + EU AI</a:t>
            </a:r>
            <a:br/>
            <a:r>
              <a:t>Act (binding law, 4 risk tiers, effective</a:t>
            </a:r>
            <a:br/>
            <a:r>
              <a:t>Aug 2026). NIST is not certifiable;</a:t>
            </a:r>
            <a:br/>
            <a:r>
              <a:t>ISO 42001 is the certifiable counterpart.</a:t>
            </a:r>
          </a:p>
        </p:txBody>
      </p:sp>
      <p:sp>
        <p:nvSpPr>
          <p:cNvPr id="16" name="Rounded Rectangle 15"/>
          <p:cNvSpPr/>
          <p:nvPr/>
        </p:nvSpPr>
        <p:spPr>
          <a:xfrm>
            <a:off x="8961120" y="4754880"/>
            <a:ext cx="2560320" cy="1417320"/>
          </a:xfrm>
          <a:prstGeom prst="roundRect">
            <a:avLst/>
          </a:prstGeom>
          <a:solidFill>
            <a:srgbClr val="FFFFFF"/>
          </a:solidFill>
          <a:ln w="2540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8A169"/>
                </a:solidFill>
                <a:latin typeface="Calibri"/>
              </a:defRPr>
            </a:pPr>
            <a:r>
              <a:t>Ethical</a:t>
            </a:r>
            <a:br/>
            <a:r>
              <a:t>Considerations</a:t>
            </a:r>
          </a:p>
          <a:p>
            <a:pPr algn="ctr">
              <a:lnSpc>
                <a:spcPts val="1300"/>
              </a:lnSpc>
              <a:defRPr sz="900">
                <a:solidFill>
                  <a:srgbClr val="4A5568"/>
                </a:solidFill>
                <a:latin typeface="Calibri"/>
              </a:defRPr>
            </a:pPr>
            <a:r>
              <a:t>The normative layer: whose values</a:t>
            </a:r>
            <a:br/>
            <a:r>
              <a:t>are encoded, who bears risk vs.</a:t>
            </a:r>
            <a:br/>
            <a:r>
              <a:t>who gets benefit, and what happens</a:t>
            </a:r>
            <a:br/>
            <a:r>
              <a:t>when a fairness metric conflicts</a:t>
            </a:r>
            <a:br/>
            <a:r>
              <a:t>with stakeholders' actual sense</a:t>
            </a:r>
            <a:br/>
            <a:r>
              <a:t>of fairness.</a:t>
            </a:r>
          </a:p>
        </p:txBody>
      </p:sp>
      <p:sp>
        <p:nvSpPr>
          <p:cNvPr id="17" name="Rounded Rectangle 16"/>
          <p:cNvSpPr/>
          <p:nvPr/>
        </p:nvSpPr>
        <p:spPr>
          <a:xfrm>
            <a:off x="4663440" y="777240"/>
            <a:ext cx="2743200" cy="640080"/>
          </a:xfrm>
          <a:prstGeom prst="roundRect">
            <a:avLst/>
          </a:prstGeom>
          <a:solidFill>
            <a:srgbClr val="FFFFFF"/>
          </a:solidFill>
          <a:ln w="254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4A5568"/>
                </a:solidFill>
                <a:latin typeface="Calibri"/>
              </a:defRPr>
            </a:pPr>
            <a:r>
              <a:t>Trust Calibration</a:t>
            </a:r>
          </a:p>
          <a:p>
            <a:pPr algn="ctr">
              <a:lnSpc>
                <a:spcPts val="1300"/>
              </a:lnSpc>
              <a:defRPr sz="900">
                <a:solidFill>
                  <a:srgbClr val="4A5568"/>
                </a:solidFill>
                <a:latin typeface="Calibri"/>
              </a:defRPr>
            </a:pPr>
            <a:r>
              <a:t>Goal: calibrated trust — human</a:t>
            </a:r>
            <a:br/>
            <a:r>
              <a:t>confidence matches actual system</a:t>
            </a:r>
            <a:br/>
            <a:r>
              <a:t>reliability. Over-trust and under-</a:t>
            </a:r>
            <a:br/>
            <a:r>
              <a:t>trust are both failures.</a:t>
            </a:r>
          </a:p>
        </p:txBody>
      </p:sp>
      <p:cxnSp>
        <p:nvCxnSpPr>
          <p:cNvPr id="18" name="Connector 17"/>
          <p:cNvCxnSpPr/>
          <p:nvPr/>
        </p:nvCxnSpPr>
        <p:spPr>
          <a:xfrm flipV="1">
            <a:off x="6095390" y="1737360"/>
            <a:ext cx="0" cy="1920240"/>
          </a:xfrm>
          <a:prstGeom prst="line">
            <a:avLst/>
          </a:prstGeom>
          <a:ln w="127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095390" y="2697480"/>
            <a:ext cx="1662977" cy="960120"/>
          </a:xfrm>
          <a:prstGeom prst="line">
            <a:avLst/>
          </a:prstGeom>
          <a:ln w="127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5390" y="3657600"/>
            <a:ext cx="1662977" cy="960120"/>
          </a:xfrm>
          <a:prstGeom prst="line">
            <a:avLst/>
          </a:prstGeom>
          <a:ln w="127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95390" y="3657600"/>
            <a:ext cx="0" cy="1920240"/>
          </a:xfrm>
          <a:prstGeom prst="line">
            <a:avLst/>
          </a:prstGeom>
          <a:ln w="127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432413" y="3657600"/>
            <a:ext cx="1662977" cy="960120"/>
          </a:xfrm>
          <a:prstGeom prst="line">
            <a:avLst/>
          </a:prstGeom>
          <a:ln w="127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432413" y="2697479"/>
            <a:ext cx="1662977" cy="960121"/>
          </a:xfrm>
          <a:prstGeom prst="line">
            <a:avLst/>
          </a:prstGeom>
          <a:ln w="12700">
            <a:solidFill>
              <a:srgbClr val="A0AEC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Regulatory Frameworks in Detail</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NIST AI RMF vs. EU AI Act — two frameworks, different teeth</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5029200" cy="4114800"/>
          </a:xfrm>
          <a:prstGeom prst="roundRect">
            <a:avLst/>
          </a:prstGeom>
          <a:solidFill>
            <a:srgbClr val="FFFFFF"/>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5029200" cy="6400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37360"/>
            <a:ext cx="4572000" cy="228600"/>
          </a:xfrm>
          <a:prstGeom prst="rect">
            <a:avLst/>
          </a:prstGeom>
          <a:noFill/>
        </p:spPr>
        <p:txBody>
          <a:bodyPr wrap="square">
            <a:spAutoFit/>
          </a:bodyPr>
          <a:lstStyle/>
          <a:p>
            <a:pPr algn="l">
              <a:lnSpc>
                <a:spcPts val="2070"/>
              </a:lnSpc>
              <a:spcBef>
                <a:spcPts val="0"/>
              </a:spcBef>
              <a:spcAft>
                <a:spcPts val="400"/>
              </a:spcAft>
              <a:defRPr sz="1800" b="1">
                <a:solidFill>
                  <a:srgbClr val="FFFFFF"/>
                </a:solidFill>
                <a:latin typeface="Calibri"/>
              </a:defRPr>
            </a:pPr>
            <a:r>
              <a:t>NIST AI RMF 1.0</a:t>
            </a:r>
          </a:p>
        </p:txBody>
      </p:sp>
      <p:sp>
        <p:nvSpPr>
          <p:cNvPr id="9" name="TextBox 8"/>
          <p:cNvSpPr txBox="1"/>
          <p:nvPr/>
        </p:nvSpPr>
        <p:spPr>
          <a:xfrm>
            <a:off x="1005840" y="2011680"/>
            <a:ext cx="4572000" cy="228600"/>
          </a:xfrm>
          <a:prstGeom prst="rect">
            <a:avLst/>
          </a:prstGeom>
          <a:noFill/>
        </p:spPr>
        <p:txBody>
          <a:bodyPr wrap="square">
            <a:spAutoFit/>
          </a:bodyPr>
          <a:lstStyle/>
          <a:p>
            <a:pPr algn="l">
              <a:lnSpc>
                <a:spcPts val="1380"/>
              </a:lnSpc>
              <a:spcBef>
                <a:spcPts val="0"/>
              </a:spcBef>
              <a:spcAft>
                <a:spcPts val="400"/>
              </a:spcAft>
              <a:defRPr sz="1200" b="0">
                <a:solidFill>
                  <a:srgbClr val="CCE5E0"/>
                </a:solidFill>
                <a:latin typeface="Calibri"/>
              </a:defRPr>
            </a:pPr>
            <a:r>
              <a:t>Voluntary framework — US-originated, globally referenced</a:t>
            </a:r>
          </a:p>
        </p:txBody>
      </p:sp>
      <p:sp>
        <p:nvSpPr>
          <p:cNvPr id="10" name="TextBox 9"/>
          <p:cNvSpPr txBox="1"/>
          <p:nvPr/>
        </p:nvSpPr>
        <p:spPr>
          <a:xfrm>
            <a:off x="1005840" y="2468880"/>
            <a:ext cx="4572000" cy="3108960"/>
          </a:xfrm>
          <a:prstGeom prst="rect">
            <a:avLst/>
          </a:prstGeom>
          <a:noFill/>
        </p:spPr>
        <p:txBody>
          <a:bodyPr wrap="square">
            <a:spAutoFit/>
          </a:bodyPr>
          <a:lstStyle/>
          <a:p>
            <a:pPr algn="l">
              <a:lnSpc>
                <a:spcPts val="1620"/>
              </a:lnSpc>
              <a:spcAft>
                <a:spcPts val="400"/>
              </a:spcAft>
              <a:defRPr sz="1200">
                <a:solidFill>
                  <a:srgbClr val="2D3748"/>
                </a:solidFill>
                <a:latin typeface="Calibri"/>
              </a:defRPr>
            </a:pPr>
            <a:r>
              <a:t>Four functions (continuous cycle):</a:t>
            </a:r>
          </a:p>
          <a:p>
            <a:pPr algn="l">
              <a:lnSpc>
                <a:spcPts val="1620"/>
              </a:lnSpc>
              <a:spcAft>
                <a:spcPts val="400"/>
              </a:spcAft>
              <a:defRPr sz="1200">
                <a:solidFill>
                  <a:srgbClr val="2D3748"/>
                </a:solidFill>
                <a:latin typeface="Calibri"/>
              </a:defRPr>
            </a:pPr>
          </a:p>
          <a:p>
            <a:pPr algn="l">
              <a:lnSpc>
                <a:spcPts val="1620"/>
              </a:lnSpc>
              <a:spcAft>
                <a:spcPts val="400"/>
              </a:spcAft>
              <a:defRPr sz="1200">
                <a:solidFill>
                  <a:srgbClr val="2D3748"/>
                </a:solidFill>
                <a:latin typeface="Calibri"/>
              </a:defRPr>
            </a:pPr>
            <a:r>
              <a:t>GOVERN → organizational context,</a:t>
            </a:r>
          </a:p>
          <a:p>
            <a:pPr algn="l">
              <a:lnSpc>
                <a:spcPts val="1620"/>
              </a:lnSpc>
              <a:spcAft>
                <a:spcPts val="400"/>
              </a:spcAft>
              <a:defRPr sz="1200">
                <a:solidFill>
                  <a:srgbClr val="2D3748"/>
                </a:solidFill>
                <a:latin typeface="Calibri"/>
              </a:defRPr>
            </a:pPr>
            <a:r>
              <a:t>  policies, accountability, risk culture</a:t>
            </a:r>
          </a:p>
          <a:p>
            <a:pPr algn="l">
              <a:lnSpc>
                <a:spcPts val="1620"/>
              </a:lnSpc>
              <a:spcAft>
                <a:spcPts val="400"/>
              </a:spcAft>
              <a:defRPr sz="1200">
                <a:solidFill>
                  <a:srgbClr val="2D3748"/>
                </a:solidFill>
                <a:latin typeface="Calibri"/>
              </a:defRPr>
            </a:pPr>
            <a:r>
              <a:t>MAP → system context, classification,</a:t>
            </a:r>
          </a:p>
          <a:p>
            <a:pPr algn="l">
              <a:lnSpc>
                <a:spcPts val="1620"/>
              </a:lnSpc>
              <a:spcAft>
                <a:spcPts val="400"/>
              </a:spcAft>
              <a:defRPr sz="1200">
                <a:solidFill>
                  <a:srgbClr val="2D3748"/>
                </a:solidFill>
                <a:latin typeface="Calibri"/>
              </a:defRPr>
            </a:pPr>
            <a:r>
              <a:t>  risk assessment, impact analysis</a:t>
            </a:r>
          </a:p>
          <a:p>
            <a:pPr algn="l">
              <a:lnSpc>
                <a:spcPts val="1620"/>
              </a:lnSpc>
              <a:spcAft>
                <a:spcPts val="400"/>
              </a:spcAft>
              <a:defRPr sz="1200">
                <a:solidFill>
                  <a:srgbClr val="2D3748"/>
                </a:solidFill>
                <a:latin typeface="Calibri"/>
              </a:defRPr>
            </a:pPr>
            <a:r>
              <a:t>MEASURE → quantitative &amp; qualitative</a:t>
            </a:r>
          </a:p>
          <a:p>
            <a:pPr algn="l">
              <a:lnSpc>
                <a:spcPts val="1620"/>
              </a:lnSpc>
              <a:spcAft>
                <a:spcPts val="400"/>
              </a:spcAft>
              <a:defRPr sz="1200">
                <a:solidFill>
                  <a:srgbClr val="2D3748"/>
                </a:solidFill>
                <a:latin typeface="Calibri"/>
              </a:defRPr>
            </a:pPr>
            <a:r>
              <a:t>  evaluation — continuous, not one-time</a:t>
            </a:r>
          </a:p>
          <a:p>
            <a:pPr algn="l">
              <a:lnSpc>
                <a:spcPts val="1620"/>
              </a:lnSpc>
              <a:spcAft>
                <a:spcPts val="400"/>
              </a:spcAft>
              <a:defRPr sz="1200">
                <a:solidFill>
                  <a:srgbClr val="2D3748"/>
                </a:solidFill>
                <a:latin typeface="Calibri"/>
              </a:defRPr>
            </a:pPr>
            <a:r>
              <a:t>MANAGE → risk treatment, incident</a:t>
            </a:r>
          </a:p>
          <a:p>
            <a:pPr algn="l">
              <a:lnSpc>
                <a:spcPts val="1620"/>
              </a:lnSpc>
              <a:spcAft>
                <a:spcPts val="400"/>
              </a:spcAft>
              <a:defRPr sz="1200">
                <a:solidFill>
                  <a:srgbClr val="2D3748"/>
                </a:solidFill>
                <a:latin typeface="Calibri"/>
              </a:defRPr>
            </a:pPr>
            <a:r>
              <a:t>  response, ongoing monitoring</a:t>
            </a:r>
          </a:p>
          <a:p>
            <a:pPr algn="l">
              <a:lnSpc>
                <a:spcPts val="1620"/>
              </a:lnSpc>
              <a:spcAft>
                <a:spcPts val="400"/>
              </a:spcAft>
              <a:defRPr sz="1200">
                <a:solidFill>
                  <a:srgbClr val="2D3748"/>
                </a:solidFill>
                <a:latin typeface="Calibri"/>
              </a:defRPr>
            </a:pPr>
          </a:p>
          <a:p>
            <a:pPr algn="l">
              <a:lnSpc>
                <a:spcPts val="1620"/>
              </a:lnSpc>
              <a:spcAft>
                <a:spcPts val="400"/>
              </a:spcAft>
              <a:defRPr sz="1200">
                <a:solidFill>
                  <a:srgbClr val="2D3748"/>
                </a:solidFill>
                <a:latin typeface="Calibri"/>
              </a:defRPr>
            </a:pPr>
            <a:r>
              <a:t>▸ Not certifiable — pair with ISO 42001</a:t>
            </a:r>
          </a:p>
          <a:p>
            <a:pPr algn="l">
              <a:lnSpc>
                <a:spcPts val="1620"/>
              </a:lnSpc>
              <a:spcAft>
                <a:spcPts val="400"/>
              </a:spcAft>
              <a:defRPr sz="1200">
                <a:solidFill>
                  <a:srgbClr val="2D3748"/>
                </a:solidFill>
                <a:latin typeface="Calibri"/>
              </a:defRPr>
            </a:pPr>
            <a:r>
              <a:t>  for a certifiable management system</a:t>
            </a:r>
          </a:p>
          <a:p>
            <a:pPr algn="l">
              <a:lnSpc>
                <a:spcPts val="1620"/>
              </a:lnSpc>
              <a:spcAft>
                <a:spcPts val="400"/>
              </a:spcAft>
              <a:defRPr sz="1200">
                <a:solidFill>
                  <a:srgbClr val="2D3748"/>
                </a:solidFill>
                <a:latin typeface="Calibri"/>
              </a:defRPr>
            </a:pPr>
            <a:r>
              <a:t>▸ Gen AI Profile (NIST AI 600-1, 2024)</a:t>
            </a:r>
          </a:p>
          <a:p>
            <a:pPr algn="l">
              <a:lnSpc>
                <a:spcPts val="1620"/>
              </a:lnSpc>
              <a:spcAft>
                <a:spcPts val="400"/>
              </a:spcAft>
              <a:defRPr sz="1200">
                <a:solidFill>
                  <a:srgbClr val="2D3748"/>
                </a:solidFill>
                <a:latin typeface="Calibri"/>
              </a:defRPr>
            </a:pPr>
            <a:r>
              <a:t>  addresses LLM/agentic-specific risks</a:t>
            </a:r>
          </a:p>
          <a:p>
            <a:pPr algn="l">
              <a:lnSpc>
                <a:spcPts val="1620"/>
              </a:lnSpc>
              <a:spcAft>
                <a:spcPts val="400"/>
              </a:spcAft>
              <a:defRPr sz="1200">
                <a:solidFill>
                  <a:srgbClr val="2D3748"/>
                </a:solidFill>
                <a:latin typeface="Calibri"/>
              </a:defRPr>
            </a:pPr>
            <a:r>
              <a:t>▸ Free, publicly available, widely adopted</a:t>
            </a:r>
          </a:p>
          <a:p>
            <a:pPr algn="l">
              <a:lnSpc>
                <a:spcPts val="1620"/>
              </a:lnSpc>
              <a:spcAft>
                <a:spcPts val="400"/>
              </a:spcAft>
              <a:defRPr sz="1200">
                <a:solidFill>
                  <a:srgbClr val="2D3748"/>
                </a:solidFill>
                <a:latin typeface="Calibri"/>
              </a:defRPr>
            </a:pPr>
            <a:r>
              <a:t>  as the shared vocabulary for AI risk</a:t>
            </a:r>
          </a:p>
        </p:txBody>
      </p:sp>
      <p:sp>
        <p:nvSpPr>
          <p:cNvPr id="11" name="Rounded Rectangle 10"/>
          <p:cNvSpPr/>
          <p:nvPr/>
        </p:nvSpPr>
        <p:spPr>
          <a:xfrm>
            <a:off x="6400800" y="1691640"/>
            <a:ext cx="5029200" cy="4114800"/>
          </a:xfrm>
          <a:prstGeom prst="roundRect">
            <a:avLst/>
          </a:prstGeom>
          <a:solidFill>
            <a:srgbClr val="FFFFFF"/>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1691640"/>
            <a:ext cx="5029200" cy="64008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737360"/>
            <a:ext cx="4572000" cy="228600"/>
          </a:xfrm>
          <a:prstGeom prst="rect">
            <a:avLst/>
          </a:prstGeom>
          <a:noFill/>
        </p:spPr>
        <p:txBody>
          <a:bodyPr wrap="square">
            <a:spAutoFit/>
          </a:bodyPr>
          <a:lstStyle/>
          <a:p>
            <a:pPr algn="l">
              <a:lnSpc>
                <a:spcPts val="2070"/>
              </a:lnSpc>
              <a:spcBef>
                <a:spcPts val="0"/>
              </a:spcBef>
              <a:spcAft>
                <a:spcPts val="400"/>
              </a:spcAft>
              <a:defRPr sz="1800" b="1">
                <a:solidFill>
                  <a:srgbClr val="FFFFFF"/>
                </a:solidFill>
                <a:latin typeface="Calibri"/>
              </a:defRPr>
            </a:pPr>
            <a:r>
              <a:t>EU AI Act</a:t>
            </a:r>
          </a:p>
        </p:txBody>
      </p:sp>
      <p:sp>
        <p:nvSpPr>
          <p:cNvPr id="14" name="TextBox 13"/>
          <p:cNvSpPr txBox="1"/>
          <p:nvPr/>
        </p:nvSpPr>
        <p:spPr>
          <a:xfrm>
            <a:off x="6675120" y="2011680"/>
            <a:ext cx="4572000" cy="228600"/>
          </a:xfrm>
          <a:prstGeom prst="rect">
            <a:avLst/>
          </a:prstGeom>
          <a:noFill/>
        </p:spPr>
        <p:txBody>
          <a:bodyPr wrap="square">
            <a:spAutoFit/>
          </a:bodyPr>
          <a:lstStyle/>
          <a:p>
            <a:pPr algn="l">
              <a:lnSpc>
                <a:spcPts val="1380"/>
              </a:lnSpc>
              <a:spcBef>
                <a:spcPts val="0"/>
              </a:spcBef>
              <a:spcAft>
                <a:spcPts val="400"/>
              </a:spcAft>
              <a:defRPr sz="1200" b="0">
                <a:solidFill>
                  <a:srgbClr val="FDD8D5"/>
                </a:solidFill>
                <a:latin typeface="Calibri"/>
              </a:defRPr>
            </a:pPr>
            <a:r>
              <a:t>Binding law — enforceable, with penalties</a:t>
            </a:r>
          </a:p>
        </p:txBody>
      </p:sp>
      <p:sp>
        <p:nvSpPr>
          <p:cNvPr id="15" name="TextBox 14"/>
          <p:cNvSpPr txBox="1"/>
          <p:nvPr/>
        </p:nvSpPr>
        <p:spPr>
          <a:xfrm>
            <a:off x="6675120" y="2468880"/>
            <a:ext cx="4572000" cy="3108960"/>
          </a:xfrm>
          <a:prstGeom prst="rect">
            <a:avLst/>
          </a:prstGeom>
          <a:noFill/>
        </p:spPr>
        <p:txBody>
          <a:bodyPr wrap="square">
            <a:spAutoFit/>
          </a:bodyPr>
          <a:lstStyle/>
          <a:p>
            <a:pPr algn="l">
              <a:lnSpc>
                <a:spcPts val="1620"/>
              </a:lnSpc>
              <a:spcAft>
                <a:spcPts val="400"/>
              </a:spcAft>
              <a:defRPr sz="1200">
                <a:solidFill>
                  <a:srgbClr val="2D3748"/>
                </a:solidFill>
                <a:latin typeface="Calibri"/>
              </a:defRPr>
            </a:pPr>
            <a:r>
              <a:t>Four risk tiers:</a:t>
            </a:r>
          </a:p>
          <a:p>
            <a:pPr algn="l">
              <a:lnSpc>
                <a:spcPts val="1620"/>
              </a:lnSpc>
              <a:spcAft>
                <a:spcPts val="400"/>
              </a:spcAft>
              <a:defRPr sz="1200">
                <a:solidFill>
                  <a:srgbClr val="2D3748"/>
                </a:solidFill>
                <a:latin typeface="Calibri"/>
              </a:defRPr>
            </a:pPr>
          </a:p>
          <a:p>
            <a:pPr algn="l">
              <a:lnSpc>
                <a:spcPts val="1620"/>
              </a:lnSpc>
              <a:spcAft>
                <a:spcPts val="400"/>
              </a:spcAft>
              <a:defRPr sz="1200">
                <a:solidFill>
                  <a:srgbClr val="2D3748"/>
                </a:solidFill>
                <a:latin typeface="Calibri"/>
              </a:defRPr>
            </a:pPr>
            <a:r>
              <a:t>UNACCEPTABLE → prohibited entirely</a:t>
            </a:r>
          </a:p>
          <a:p>
            <a:pPr algn="l">
              <a:lnSpc>
                <a:spcPts val="1620"/>
              </a:lnSpc>
              <a:spcAft>
                <a:spcPts val="400"/>
              </a:spcAft>
              <a:defRPr sz="1200">
                <a:solidFill>
                  <a:srgbClr val="2D3748"/>
                </a:solidFill>
                <a:latin typeface="Calibri"/>
              </a:defRPr>
            </a:pPr>
            <a:r>
              <a:t>  (social scoring, manipulative AI, etc.)</a:t>
            </a:r>
          </a:p>
          <a:p>
            <a:pPr algn="l">
              <a:lnSpc>
                <a:spcPts val="1620"/>
              </a:lnSpc>
              <a:spcAft>
                <a:spcPts val="400"/>
              </a:spcAft>
              <a:defRPr sz="1200">
                <a:solidFill>
                  <a:srgbClr val="2D3748"/>
                </a:solidFill>
                <a:latin typeface="Calibri"/>
              </a:defRPr>
            </a:pPr>
            <a:r>
              <a:t>HIGH RISK → strict obligations:</a:t>
            </a:r>
          </a:p>
          <a:p>
            <a:pPr algn="l">
              <a:lnSpc>
                <a:spcPts val="1620"/>
              </a:lnSpc>
              <a:spcAft>
                <a:spcPts val="400"/>
              </a:spcAft>
              <a:defRPr sz="1200">
                <a:solidFill>
                  <a:srgbClr val="2D3748"/>
                </a:solidFill>
                <a:latin typeface="Calibri"/>
              </a:defRPr>
            </a:pPr>
            <a:r>
              <a:t>  conformity assessment, human</a:t>
            </a:r>
          </a:p>
          <a:p>
            <a:pPr algn="l">
              <a:lnSpc>
                <a:spcPts val="1620"/>
              </a:lnSpc>
              <a:spcAft>
                <a:spcPts val="400"/>
              </a:spcAft>
              <a:defRPr sz="1200">
                <a:solidFill>
                  <a:srgbClr val="2D3748"/>
                </a:solidFill>
                <a:latin typeface="Calibri"/>
              </a:defRPr>
            </a:pPr>
            <a:r>
              <a:t>  oversight, risk management system,</a:t>
            </a:r>
          </a:p>
          <a:p>
            <a:pPr algn="l">
              <a:lnSpc>
                <a:spcPts val="1620"/>
              </a:lnSpc>
              <a:spcAft>
                <a:spcPts val="400"/>
              </a:spcAft>
              <a:defRPr sz="1200">
                <a:solidFill>
                  <a:srgbClr val="2D3748"/>
                </a:solidFill>
                <a:latin typeface="Calibri"/>
              </a:defRPr>
            </a:pPr>
            <a:r>
              <a:t>  technical documentation, transparency</a:t>
            </a:r>
          </a:p>
          <a:p>
            <a:pPr algn="l">
              <a:lnSpc>
                <a:spcPts val="1620"/>
              </a:lnSpc>
              <a:spcAft>
                <a:spcPts val="400"/>
              </a:spcAft>
              <a:defRPr sz="1200">
                <a:solidFill>
                  <a:srgbClr val="2D3748"/>
                </a:solidFill>
                <a:latin typeface="Calibri"/>
              </a:defRPr>
            </a:pPr>
            <a:r>
              <a:t>LIMITED RISK → transparency obligations</a:t>
            </a:r>
          </a:p>
          <a:p>
            <a:pPr algn="l">
              <a:lnSpc>
                <a:spcPts val="1620"/>
              </a:lnSpc>
              <a:spcAft>
                <a:spcPts val="400"/>
              </a:spcAft>
              <a:defRPr sz="1200">
                <a:solidFill>
                  <a:srgbClr val="2D3748"/>
                </a:solidFill>
                <a:latin typeface="Calibri"/>
              </a:defRPr>
            </a:pPr>
            <a:r>
              <a:t>  only (e.g., chatbot disclosure)</a:t>
            </a:r>
          </a:p>
          <a:p>
            <a:pPr algn="l">
              <a:lnSpc>
                <a:spcPts val="1620"/>
              </a:lnSpc>
              <a:spcAft>
                <a:spcPts val="400"/>
              </a:spcAft>
              <a:defRPr sz="1200">
                <a:solidFill>
                  <a:srgbClr val="2D3748"/>
                </a:solidFill>
                <a:latin typeface="Calibri"/>
              </a:defRPr>
            </a:pPr>
            <a:r>
              <a:t>MINIMAL RISK → no mandatory obligations</a:t>
            </a:r>
          </a:p>
          <a:p>
            <a:pPr algn="l">
              <a:lnSpc>
                <a:spcPts val="1620"/>
              </a:lnSpc>
              <a:spcAft>
                <a:spcPts val="400"/>
              </a:spcAft>
              <a:defRPr sz="1200">
                <a:solidFill>
                  <a:srgbClr val="2D3748"/>
                </a:solidFill>
                <a:latin typeface="Calibri"/>
              </a:defRPr>
            </a:pPr>
          </a:p>
          <a:p>
            <a:pPr algn="l">
              <a:lnSpc>
                <a:spcPts val="1620"/>
              </a:lnSpc>
              <a:spcAft>
                <a:spcPts val="400"/>
              </a:spcAft>
              <a:defRPr sz="1200">
                <a:solidFill>
                  <a:srgbClr val="2D3748"/>
                </a:solidFill>
                <a:latin typeface="Calibri"/>
              </a:defRPr>
            </a:pPr>
            <a:r>
              <a:t>▸ Most rules effective August 2026</a:t>
            </a:r>
          </a:p>
          <a:p>
            <a:pPr algn="l">
              <a:lnSpc>
                <a:spcPts val="1620"/>
              </a:lnSpc>
              <a:spcAft>
                <a:spcPts val="400"/>
              </a:spcAft>
              <a:defRPr sz="1200">
                <a:solidFill>
                  <a:srgbClr val="2D3748"/>
                </a:solidFill>
                <a:latin typeface="Calibri"/>
              </a:defRPr>
            </a:pPr>
            <a:r>
              <a:t>▸ High-risk obligations phase in through</a:t>
            </a:r>
          </a:p>
          <a:p>
            <a:pPr algn="l">
              <a:lnSpc>
                <a:spcPts val="1620"/>
              </a:lnSpc>
              <a:spcAft>
                <a:spcPts val="400"/>
              </a:spcAft>
              <a:defRPr sz="1200">
                <a:solidFill>
                  <a:srgbClr val="2D3748"/>
                </a:solidFill>
                <a:latin typeface="Calibri"/>
              </a:defRPr>
            </a:pPr>
            <a:r>
              <a:t>  2026–2027 — this is now, not later</a:t>
            </a:r>
          </a:p>
          <a:p>
            <a:pPr algn="l">
              <a:lnSpc>
                <a:spcPts val="1620"/>
              </a:lnSpc>
              <a:spcAft>
                <a:spcPts val="400"/>
              </a:spcAft>
              <a:defRPr sz="1200">
                <a:solidFill>
                  <a:srgbClr val="2D3748"/>
                </a:solidFill>
                <a:latin typeface="Calibri"/>
              </a:defRPr>
            </a:pPr>
            <a:r>
              <a:t>▸ Extraterritorial scope — applies to</a:t>
            </a:r>
          </a:p>
          <a:p>
            <a:pPr algn="l">
              <a:lnSpc>
                <a:spcPts val="1620"/>
              </a:lnSpc>
              <a:spcAft>
                <a:spcPts val="400"/>
              </a:spcAft>
              <a:defRPr sz="1200">
                <a:solidFill>
                  <a:srgbClr val="2D3748"/>
                </a:solidFill>
                <a:latin typeface="Calibri"/>
              </a:defRPr>
            </a:pPr>
            <a:r>
              <a:t>  any system deployed in the EU market</a:t>
            </a:r>
          </a:p>
        </p:txBody>
      </p:sp>
      <p:sp>
        <p:nvSpPr>
          <p:cNvPr id="16" name="Rounded Rectangle 15"/>
          <p:cNvSpPr/>
          <p:nvPr/>
        </p:nvSpPr>
        <p:spPr>
          <a:xfrm>
            <a:off x="731520" y="6035040"/>
            <a:ext cx="10698480" cy="41148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6062472"/>
            <a:ext cx="10149840" cy="347472"/>
          </a:xfrm>
          <a:prstGeom prst="rect">
            <a:avLst/>
          </a:prstGeom>
          <a:noFill/>
        </p:spPr>
        <p:txBody>
          <a:bodyPr wrap="square">
            <a:spAutoFit/>
          </a:bodyPr>
          <a:lstStyle/>
          <a:p>
            <a:pPr algn="l">
              <a:lnSpc>
                <a:spcPts val="1495"/>
              </a:lnSpc>
              <a:spcBef>
                <a:spcPts val="0"/>
              </a:spcBef>
              <a:spcAft>
                <a:spcPts val="400"/>
              </a:spcAft>
              <a:defRPr sz="1300" b="1">
                <a:solidFill>
                  <a:srgbClr val="2D3748"/>
                </a:solidFill>
                <a:latin typeface="Calibri"/>
              </a:defRPr>
            </a:pPr>
            <a:r>
              <a:t>Practical guidance: Use NIST's vocabulary for internal risk conversations. Use the EU AI Act's risk tiers to determine your compliance obligations. They're complementary, not competing.</a:t>
            </a:r>
          </a:p>
        </p:txBody>
      </p:sp>
      <p:sp>
        <p:nvSpPr>
          <p:cNvPr id="18" name="TextBox 17"/>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XAI × Causal AI</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The core problem: most XAI explains association, not causation</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029200" cy="3931920"/>
          </a:xfrm>
          <a:prstGeom prst="roundRect">
            <a:avLst/>
          </a:prstGeom>
          <a:solidFill>
            <a:srgbClr val="FFFFFF"/>
          </a:solidFill>
          <a:ln w="1270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029200" cy="50292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83080"/>
            <a:ext cx="4572000" cy="411480"/>
          </a:xfrm>
          <a:prstGeom prst="rect">
            <a:avLst/>
          </a:prstGeom>
          <a:noFill/>
        </p:spPr>
        <p:txBody>
          <a:bodyPr wrap="square">
            <a:spAutoFit/>
          </a:bodyPr>
          <a:lstStyle/>
          <a:p>
            <a:pPr algn="l">
              <a:lnSpc>
                <a:spcPts val="1839"/>
              </a:lnSpc>
              <a:spcBef>
                <a:spcPts val="0"/>
              </a:spcBef>
              <a:spcAft>
                <a:spcPts val="400"/>
              </a:spcAft>
              <a:defRPr sz="1600" b="1">
                <a:solidFill>
                  <a:srgbClr val="FFFFFF"/>
                </a:solidFill>
                <a:latin typeface="Calibri"/>
              </a:defRPr>
            </a:pPr>
            <a:r>
              <a:t>What SHAP / LIME / Attention Gives You</a:t>
            </a:r>
          </a:p>
        </p:txBody>
      </p:sp>
      <p:sp>
        <p:nvSpPr>
          <p:cNvPr id="9" name="TextBox 8"/>
          <p:cNvSpPr txBox="1"/>
          <p:nvPr/>
        </p:nvSpPr>
        <p:spPr>
          <a:xfrm>
            <a:off x="1005840" y="2423160"/>
            <a:ext cx="4572000" cy="3017520"/>
          </a:xfrm>
          <a:prstGeom prst="rect">
            <a:avLst/>
          </a:prstGeom>
          <a:noFill/>
        </p:spPr>
        <p:txBody>
          <a:bodyPr wrap="square">
            <a:spAutoFit/>
          </a:bodyPr>
          <a:lstStyle/>
          <a:p>
            <a:pPr algn="l">
              <a:lnSpc>
                <a:spcPts val="1820"/>
              </a:lnSpc>
              <a:spcAft>
                <a:spcPts val="400"/>
              </a:spcAft>
              <a:defRPr sz="1300">
                <a:solidFill>
                  <a:srgbClr val="2D3748"/>
                </a:solidFill>
                <a:latin typeface="Calibri"/>
              </a:defRPr>
            </a:pPr>
            <a:r>
              <a:t>Correlational attribution:</a:t>
            </a:r>
          </a:p>
          <a:p>
            <a:pPr algn="l">
              <a:lnSpc>
                <a:spcPts val="1820"/>
              </a:lnSpc>
              <a:spcAft>
                <a:spcPts val="400"/>
              </a:spcAft>
              <a:defRPr sz="1300">
                <a:solidFill>
                  <a:srgbClr val="2D3748"/>
                </a:solidFill>
                <a:latin typeface="Calibri"/>
              </a:defRPr>
            </a:pPr>
            <a:r>
              <a:t>"Feature X was associated with output Y"</a:t>
            </a:r>
          </a:p>
          <a:p>
            <a:pPr algn="l">
              <a:lnSpc>
                <a:spcPts val="1820"/>
              </a:lnSpc>
              <a:spcAft>
                <a:spcPts val="400"/>
              </a:spcAft>
              <a:defRPr sz="1300">
                <a:solidFill>
                  <a:srgbClr val="2D3748"/>
                </a:solidFill>
                <a:latin typeface="Calibri"/>
              </a:defRPr>
            </a:pPr>
          </a:p>
          <a:p>
            <a:pPr algn="l">
              <a:lnSpc>
                <a:spcPts val="1820"/>
              </a:lnSpc>
              <a:spcAft>
                <a:spcPts val="400"/>
              </a:spcAft>
              <a:defRPr sz="1300">
                <a:solidFill>
                  <a:srgbClr val="2D3748"/>
                </a:solidFill>
                <a:latin typeface="Calibri"/>
              </a:defRPr>
            </a:pPr>
            <a:r>
              <a:t>The explanation is locally faithful</a:t>
            </a:r>
          </a:p>
          <a:p>
            <a:pPr algn="l">
              <a:lnSpc>
                <a:spcPts val="1820"/>
              </a:lnSpc>
              <a:spcAft>
                <a:spcPts val="400"/>
              </a:spcAft>
              <a:defRPr sz="1300">
                <a:solidFill>
                  <a:srgbClr val="2D3748"/>
                </a:solidFill>
                <a:latin typeface="Calibri"/>
              </a:defRPr>
            </a:pPr>
            <a:r>
              <a:t>— correct for this prediction — but</a:t>
            </a:r>
          </a:p>
          <a:p>
            <a:pPr algn="l">
              <a:lnSpc>
                <a:spcPts val="1820"/>
              </a:lnSpc>
              <a:spcAft>
                <a:spcPts val="400"/>
              </a:spcAft>
              <a:defRPr sz="1300">
                <a:solidFill>
                  <a:srgbClr val="2D3748"/>
                </a:solidFill>
                <a:latin typeface="Calibri"/>
              </a:defRPr>
            </a:pPr>
            <a:r>
              <a:t>globally silent about whether the model</a:t>
            </a:r>
          </a:p>
          <a:p>
            <a:pPr algn="l">
              <a:lnSpc>
                <a:spcPts val="1820"/>
              </a:lnSpc>
              <a:spcAft>
                <a:spcPts val="400"/>
              </a:spcAft>
              <a:defRPr sz="1300">
                <a:solidFill>
                  <a:srgbClr val="2D3748"/>
                </a:solidFill>
                <a:latin typeface="Calibri"/>
              </a:defRPr>
            </a:pPr>
            <a:r>
              <a:t>would fail under distribution shift.</a:t>
            </a:r>
          </a:p>
          <a:p>
            <a:pPr algn="l">
              <a:lnSpc>
                <a:spcPts val="1820"/>
              </a:lnSpc>
              <a:spcAft>
                <a:spcPts val="400"/>
              </a:spcAft>
              <a:defRPr sz="1300">
                <a:solidFill>
                  <a:srgbClr val="2D3748"/>
                </a:solidFill>
                <a:latin typeface="Calibri"/>
              </a:defRPr>
            </a:pPr>
          </a:p>
          <a:p>
            <a:pPr algn="l">
              <a:lnSpc>
                <a:spcPts val="1820"/>
              </a:lnSpc>
              <a:spcAft>
                <a:spcPts val="400"/>
              </a:spcAft>
              <a:defRPr sz="1300">
                <a:solidFill>
                  <a:srgbClr val="2D3748"/>
                </a:solidFill>
                <a:latin typeface="Calibri"/>
              </a:defRPr>
            </a:pPr>
            <a:r>
              <a:t>A SHAP value can look perfectly</a:t>
            </a:r>
          </a:p>
          <a:p>
            <a:pPr algn="l">
              <a:lnSpc>
                <a:spcPts val="1820"/>
              </a:lnSpc>
              <a:spcAft>
                <a:spcPts val="400"/>
              </a:spcAft>
              <a:defRPr sz="1300">
                <a:solidFill>
                  <a:srgbClr val="2D3748"/>
                </a:solidFill>
                <a:latin typeface="Calibri"/>
              </a:defRPr>
            </a:pPr>
            <a:r>
              <a:t>reasonable while the model is latched</a:t>
            </a:r>
          </a:p>
          <a:p>
            <a:pPr algn="l">
              <a:lnSpc>
                <a:spcPts val="1820"/>
              </a:lnSpc>
              <a:spcAft>
                <a:spcPts val="400"/>
              </a:spcAft>
              <a:defRPr sz="1300">
                <a:solidFill>
                  <a:srgbClr val="2D3748"/>
                </a:solidFill>
                <a:latin typeface="Calibri"/>
              </a:defRPr>
            </a:pPr>
            <a:r>
              <a:t>onto a spurious correlate of a</a:t>
            </a:r>
          </a:p>
          <a:p>
            <a:pPr algn="l">
              <a:lnSpc>
                <a:spcPts val="1820"/>
              </a:lnSpc>
              <a:spcAft>
                <a:spcPts val="400"/>
              </a:spcAft>
              <a:defRPr sz="1300">
                <a:solidFill>
                  <a:srgbClr val="2D3748"/>
                </a:solidFill>
                <a:latin typeface="Calibri"/>
              </a:defRPr>
            </a:pPr>
            <a:r>
              <a:t>protected attribute.</a:t>
            </a:r>
          </a:p>
          <a:p>
            <a:pPr algn="l">
              <a:lnSpc>
                <a:spcPts val="1820"/>
              </a:lnSpc>
              <a:spcAft>
                <a:spcPts val="400"/>
              </a:spcAft>
              <a:defRPr sz="1300">
                <a:solidFill>
                  <a:srgbClr val="2D3748"/>
                </a:solidFill>
                <a:latin typeface="Calibri"/>
              </a:defRPr>
            </a:pPr>
          </a:p>
          <a:p>
            <a:pPr algn="l">
              <a:lnSpc>
                <a:spcPts val="1820"/>
              </a:lnSpc>
              <a:spcAft>
                <a:spcPts val="400"/>
              </a:spcAft>
              <a:defRPr sz="1300">
                <a:solidFill>
                  <a:srgbClr val="2D3748"/>
                </a:solidFill>
                <a:latin typeface="Calibri"/>
              </a:defRPr>
            </a:pPr>
            <a:r>
              <a:t>→ Right for the wrong reason.</a:t>
            </a:r>
          </a:p>
        </p:txBody>
      </p:sp>
      <p:sp>
        <p:nvSpPr>
          <p:cNvPr id="10" name="Rounded Rectangle 9"/>
          <p:cNvSpPr/>
          <p:nvPr/>
        </p:nvSpPr>
        <p:spPr>
          <a:xfrm>
            <a:off x="6400800" y="1737360"/>
            <a:ext cx="5029200" cy="3931920"/>
          </a:xfrm>
          <a:prstGeom prst="roundRect">
            <a:avLst/>
          </a:prstGeom>
          <a:solidFill>
            <a:srgbClr val="FFFFFF"/>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737360"/>
            <a:ext cx="502920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783080"/>
            <a:ext cx="4572000" cy="411480"/>
          </a:xfrm>
          <a:prstGeom prst="rect">
            <a:avLst/>
          </a:prstGeom>
          <a:noFill/>
        </p:spPr>
        <p:txBody>
          <a:bodyPr wrap="square">
            <a:spAutoFit/>
          </a:bodyPr>
          <a:lstStyle/>
          <a:p>
            <a:pPr algn="l">
              <a:lnSpc>
                <a:spcPts val="1839"/>
              </a:lnSpc>
              <a:spcBef>
                <a:spcPts val="0"/>
              </a:spcBef>
              <a:spcAft>
                <a:spcPts val="400"/>
              </a:spcAft>
              <a:defRPr sz="1600" b="1">
                <a:solidFill>
                  <a:srgbClr val="FFFFFF"/>
                </a:solidFill>
                <a:latin typeface="Calibri"/>
              </a:defRPr>
            </a:pPr>
            <a:r>
              <a:t>What Causal Explanations Add</a:t>
            </a:r>
          </a:p>
        </p:txBody>
      </p:sp>
      <p:sp>
        <p:nvSpPr>
          <p:cNvPr id="13" name="TextBox 12"/>
          <p:cNvSpPr txBox="1"/>
          <p:nvPr/>
        </p:nvSpPr>
        <p:spPr>
          <a:xfrm>
            <a:off x="6675120" y="2423160"/>
            <a:ext cx="4572000" cy="3017520"/>
          </a:xfrm>
          <a:prstGeom prst="rect">
            <a:avLst/>
          </a:prstGeom>
          <a:noFill/>
        </p:spPr>
        <p:txBody>
          <a:bodyPr wrap="square">
            <a:spAutoFit/>
          </a:bodyPr>
          <a:lstStyle/>
          <a:p>
            <a:pPr algn="l">
              <a:lnSpc>
                <a:spcPts val="1820"/>
              </a:lnSpc>
              <a:spcAft>
                <a:spcPts val="400"/>
              </a:spcAft>
              <a:defRPr sz="1300">
                <a:solidFill>
                  <a:srgbClr val="2D3748"/>
                </a:solidFill>
                <a:latin typeface="Calibri"/>
              </a:defRPr>
            </a:pPr>
            <a:r>
              <a:t>Counterfactual reasoning:</a:t>
            </a:r>
          </a:p>
          <a:p>
            <a:pPr algn="l">
              <a:lnSpc>
                <a:spcPts val="1820"/>
              </a:lnSpc>
              <a:spcAft>
                <a:spcPts val="400"/>
              </a:spcAft>
              <a:defRPr sz="1300">
                <a:solidFill>
                  <a:srgbClr val="2D3748"/>
                </a:solidFill>
                <a:latin typeface="Calibri"/>
              </a:defRPr>
            </a:pPr>
            <a:r>
              <a:t>"If X had been different, would the</a:t>
            </a:r>
          </a:p>
          <a:p>
            <a:pPr algn="l">
              <a:lnSpc>
                <a:spcPts val="1820"/>
              </a:lnSpc>
              <a:spcAft>
                <a:spcPts val="400"/>
              </a:spcAft>
              <a:defRPr sz="1300">
                <a:solidFill>
                  <a:srgbClr val="2D3748"/>
                </a:solidFill>
                <a:latin typeface="Calibri"/>
              </a:defRPr>
            </a:pPr>
            <a:r>
              <a:t>outcome have changed?"</a:t>
            </a:r>
          </a:p>
          <a:p>
            <a:pPr algn="l">
              <a:lnSpc>
                <a:spcPts val="1820"/>
              </a:lnSpc>
              <a:spcAft>
                <a:spcPts val="400"/>
              </a:spcAft>
              <a:defRPr sz="1300">
                <a:solidFill>
                  <a:srgbClr val="2D3748"/>
                </a:solidFill>
                <a:latin typeface="Calibri"/>
              </a:defRPr>
            </a:pPr>
          </a:p>
          <a:p>
            <a:pPr algn="l">
              <a:lnSpc>
                <a:spcPts val="1820"/>
              </a:lnSpc>
              <a:spcAft>
                <a:spcPts val="400"/>
              </a:spcAft>
              <a:defRPr sz="1300">
                <a:solidFill>
                  <a:srgbClr val="2D3748"/>
                </a:solidFill>
                <a:latin typeface="Calibri"/>
              </a:defRPr>
            </a:pPr>
            <a:r>
              <a:t>Causal graphs give you an explanation</a:t>
            </a:r>
          </a:p>
          <a:p>
            <a:pPr algn="l">
              <a:lnSpc>
                <a:spcPts val="1820"/>
              </a:lnSpc>
              <a:spcAft>
                <a:spcPts val="400"/>
              </a:spcAft>
              <a:defRPr sz="1300">
                <a:solidFill>
                  <a:srgbClr val="2D3748"/>
                </a:solidFill>
                <a:latin typeface="Calibri"/>
              </a:defRPr>
            </a:pPr>
            <a:r>
              <a:t>tied to an actual mechanism — far</a:t>
            </a:r>
          </a:p>
          <a:p>
            <a:pPr algn="l">
              <a:lnSpc>
                <a:spcPts val="1820"/>
              </a:lnSpc>
              <a:spcAft>
                <a:spcPts val="400"/>
              </a:spcAft>
              <a:defRPr sz="1300">
                <a:solidFill>
                  <a:srgbClr val="2D3748"/>
                </a:solidFill>
                <a:latin typeface="Calibri"/>
              </a:defRPr>
            </a:pPr>
            <a:r>
              <a:t>more robust to distribution shift</a:t>
            </a:r>
          </a:p>
          <a:p>
            <a:pPr algn="l">
              <a:lnSpc>
                <a:spcPts val="1820"/>
              </a:lnSpc>
              <a:spcAft>
                <a:spcPts val="400"/>
              </a:spcAft>
              <a:defRPr sz="1300">
                <a:solidFill>
                  <a:srgbClr val="2D3748"/>
                </a:solidFill>
                <a:latin typeface="Calibri"/>
              </a:defRPr>
            </a:pPr>
            <a:r>
              <a:t>and far harder to game.</a:t>
            </a:r>
          </a:p>
          <a:p>
            <a:pPr algn="l">
              <a:lnSpc>
                <a:spcPts val="1820"/>
              </a:lnSpc>
              <a:spcAft>
                <a:spcPts val="400"/>
              </a:spcAft>
              <a:defRPr sz="1300">
                <a:solidFill>
                  <a:srgbClr val="2D3748"/>
                </a:solidFill>
                <a:latin typeface="Calibri"/>
              </a:defRPr>
            </a:pPr>
          </a:p>
          <a:p>
            <a:pPr algn="l">
              <a:lnSpc>
                <a:spcPts val="1820"/>
              </a:lnSpc>
              <a:spcAft>
                <a:spcPts val="400"/>
              </a:spcAft>
              <a:defRPr sz="1300">
                <a:solidFill>
                  <a:srgbClr val="2D3748"/>
                </a:solidFill>
                <a:latin typeface="Calibri"/>
              </a:defRPr>
            </a:pPr>
            <a:r>
              <a:t>A causal explanation surviving a</a:t>
            </a:r>
          </a:p>
          <a:p>
            <a:pPr algn="l">
              <a:lnSpc>
                <a:spcPts val="1820"/>
              </a:lnSpc>
              <a:spcAft>
                <a:spcPts val="400"/>
              </a:spcAft>
              <a:defRPr sz="1300">
                <a:solidFill>
                  <a:srgbClr val="2D3748"/>
                </a:solidFill>
                <a:latin typeface="Calibri"/>
              </a:defRPr>
            </a:pPr>
            <a:r>
              <a:t>distribution shift is genuine evidence</a:t>
            </a:r>
          </a:p>
          <a:p>
            <a:pPr algn="l">
              <a:lnSpc>
                <a:spcPts val="1820"/>
              </a:lnSpc>
              <a:spcAft>
                <a:spcPts val="400"/>
              </a:spcAft>
              <a:defRPr sz="1300">
                <a:solidFill>
                  <a:srgbClr val="2D3748"/>
                </a:solidFill>
                <a:latin typeface="Calibri"/>
              </a:defRPr>
            </a:pPr>
            <a:r>
              <a:t>of trustworthiness; a correlational one</a:t>
            </a:r>
          </a:p>
          <a:p>
            <a:pPr algn="l">
              <a:lnSpc>
                <a:spcPts val="1820"/>
              </a:lnSpc>
              <a:spcAft>
                <a:spcPts val="400"/>
              </a:spcAft>
              <a:defRPr sz="1300">
                <a:solidFill>
                  <a:srgbClr val="2D3748"/>
                </a:solidFill>
                <a:latin typeface="Calibri"/>
              </a:defRPr>
            </a:pPr>
            <a:r>
              <a:t>surviving is not evidence either way.</a:t>
            </a:r>
          </a:p>
          <a:p>
            <a:pPr algn="l">
              <a:lnSpc>
                <a:spcPts val="1820"/>
              </a:lnSpc>
              <a:spcAft>
                <a:spcPts val="400"/>
              </a:spcAft>
              <a:defRPr sz="1300">
                <a:solidFill>
                  <a:srgbClr val="2D3748"/>
                </a:solidFill>
                <a:latin typeface="Calibri"/>
              </a:defRPr>
            </a:pPr>
          </a:p>
          <a:p>
            <a:pPr algn="l">
              <a:lnSpc>
                <a:spcPts val="1820"/>
              </a:lnSpc>
              <a:spcAft>
                <a:spcPts val="400"/>
              </a:spcAft>
              <a:defRPr sz="1300">
                <a:solidFill>
                  <a:srgbClr val="2D3748"/>
                </a:solidFill>
                <a:latin typeface="Calibri"/>
              </a:defRPr>
            </a:pPr>
            <a:r>
              <a:t>→ Right for the right reason.</a:t>
            </a:r>
          </a:p>
        </p:txBody>
      </p:sp>
      <p:sp>
        <p:nvSpPr>
          <p:cNvPr id="14" name="Rounded Rectangle 13"/>
          <p:cNvSpPr/>
          <p:nvPr/>
        </p:nvSpPr>
        <p:spPr>
          <a:xfrm>
            <a:off x="731520" y="5943600"/>
            <a:ext cx="10698480" cy="50292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971032"/>
            <a:ext cx="10149840" cy="411480"/>
          </a:xfrm>
          <a:prstGeom prst="rect">
            <a:avLst/>
          </a:prstGeom>
          <a:noFill/>
        </p:spPr>
        <p:txBody>
          <a:bodyPr wrap="square">
            <a:spAutoFit/>
          </a:bodyPr>
          <a:lstStyle/>
          <a:p>
            <a:pPr algn="l">
              <a:lnSpc>
                <a:spcPts val="1609"/>
              </a:lnSpc>
              <a:spcBef>
                <a:spcPts val="0"/>
              </a:spcBef>
              <a:spcAft>
                <a:spcPts val="400"/>
              </a:spcAft>
              <a:defRPr sz="1400" b="1">
                <a:solidFill>
                  <a:srgbClr val="2D3748"/>
                </a:solidFill>
                <a:latin typeface="Calibri"/>
              </a:defRPr>
            </a:pPr>
            <a:r>
              <a:t>Practical takeaway: You don't need a full causal model. Ask "is this explanation counterfactually testable?" as a discipline — that alone is a meaningfully more rigorous bar.</a:t>
            </a:r>
          </a:p>
        </p:txBody>
      </p:sp>
      <p:sp>
        <p:nvSpPr>
          <p:cNvPr id="16" name="TextBox 15"/>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Putting It All Together</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From explainability → causal reasoning → verifiable trust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011680"/>
            <a:ext cx="640080" cy="640080"/>
          </a:xfrm>
          <a:prstGeom prst="ellipse">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FFFFFF"/>
                </a:solidFill>
                <a:latin typeface="Calibri"/>
              </a:defRPr>
            </a:pPr>
            <a:r>
              <a:t>1</a:t>
            </a:r>
          </a:p>
        </p:txBody>
      </p:sp>
      <p:sp>
        <p:nvSpPr>
          <p:cNvPr id="7" name="TextBox 6"/>
          <p:cNvSpPr txBox="1"/>
          <p:nvPr/>
        </p:nvSpPr>
        <p:spPr>
          <a:xfrm>
            <a:off x="1828800" y="1874519"/>
            <a:ext cx="4114800" cy="640080"/>
          </a:xfrm>
          <a:prstGeom prst="rect">
            <a:avLst/>
          </a:prstGeom>
          <a:noFill/>
        </p:spPr>
        <p:txBody>
          <a:bodyPr wrap="square">
            <a:spAutoFit/>
          </a:bodyPr>
          <a:lstStyle/>
          <a:p>
            <a:pPr algn="l">
              <a:lnSpc>
                <a:spcPts val="2280"/>
              </a:lnSpc>
              <a:spcBef>
                <a:spcPts val="0"/>
              </a:spcBef>
              <a:spcAft>
                <a:spcPts val="400"/>
              </a:spcAft>
              <a:defRPr sz="1900" b="1">
                <a:solidFill>
                  <a:srgbClr val="00897B"/>
                </a:solidFill>
                <a:latin typeface="Calibri"/>
              </a:defRPr>
            </a:pPr>
            <a:r>
              <a:t>Explainability</a:t>
            </a:r>
            <a:br/>
            <a:r>
              <a:t>is necessary</a:t>
            </a:r>
          </a:p>
        </p:txBody>
      </p:sp>
      <p:sp>
        <p:nvSpPr>
          <p:cNvPr id="8" name="TextBox 7"/>
          <p:cNvSpPr txBox="1"/>
          <p:nvPr/>
        </p:nvSpPr>
        <p:spPr>
          <a:xfrm>
            <a:off x="1828800" y="2560320"/>
            <a:ext cx="9601200" cy="640080"/>
          </a:xfrm>
          <a:prstGeom prst="rect">
            <a:avLst/>
          </a:prstGeom>
          <a:noFill/>
        </p:spPr>
        <p:txBody>
          <a:bodyPr wrap="square">
            <a:spAutoFit/>
          </a:bodyPr>
          <a:lstStyle/>
          <a:p>
            <a:pPr algn="l">
              <a:lnSpc>
                <a:spcPts val="1820"/>
              </a:lnSpc>
              <a:spcBef>
                <a:spcPts val="0"/>
              </a:spcBef>
              <a:spcAft>
                <a:spcPts val="400"/>
              </a:spcAft>
              <a:defRPr sz="1300" b="0">
                <a:solidFill>
                  <a:srgbClr val="2D3748"/>
                </a:solidFill>
                <a:latin typeface="Calibri"/>
              </a:defRPr>
            </a:pPr>
            <a:r>
              <a:t>What we learned: XAI methods (SHAP, LIME) give local, correlational explanations — useful for debugging, insufficient for trust. Explanations are an input to trust judgments, not the output.</a:t>
            </a:r>
          </a:p>
        </p:txBody>
      </p:sp>
      <p:sp>
        <p:nvSpPr>
          <p:cNvPr id="9" name="Oval 8"/>
          <p:cNvSpPr/>
          <p:nvPr/>
        </p:nvSpPr>
        <p:spPr>
          <a:xfrm>
            <a:off x="914400" y="3611880"/>
            <a:ext cx="640080" cy="640080"/>
          </a:xfrm>
          <a:prstGeom prst="ellipse">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FFFFFF"/>
                </a:solidFill>
                <a:latin typeface="Calibri"/>
              </a:defRPr>
            </a:pPr>
            <a:r>
              <a:t>2</a:t>
            </a:r>
          </a:p>
        </p:txBody>
      </p:sp>
      <p:sp>
        <p:nvSpPr>
          <p:cNvPr id="10" name="TextBox 9"/>
          <p:cNvSpPr txBox="1"/>
          <p:nvPr/>
        </p:nvSpPr>
        <p:spPr>
          <a:xfrm>
            <a:off x="1828800" y="3474720"/>
            <a:ext cx="4114800" cy="640080"/>
          </a:xfrm>
          <a:prstGeom prst="rect">
            <a:avLst/>
          </a:prstGeom>
          <a:noFill/>
        </p:spPr>
        <p:txBody>
          <a:bodyPr wrap="square">
            <a:spAutoFit/>
          </a:bodyPr>
          <a:lstStyle/>
          <a:p>
            <a:pPr algn="l">
              <a:lnSpc>
                <a:spcPts val="2280"/>
              </a:lnSpc>
              <a:spcBef>
                <a:spcPts val="0"/>
              </a:spcBef>
              <a:spcAft>
                <a:spcPts val="400"/>
              </a:spcAft>
              <a:defRPr sz="1900" b="1">
                <a:solidFill>
                  <a:srgbClr val="FF8F00"/>
                </a:solidFill>
                <a:latin typeface="Calibri"/>
              </a:defRPr>
            </a:pPr>
            <a:r>
              <a:t>Causal reasoning</a:t>
            </a:r>
            <a:br/>
            <a:r>
              <a:t>is the upgrade</a:t>
            </a:r>
          </a:p>
        </p:txBody>
      </p:sp>
      <p:sp>
        <p:nvSpPr>
          <p:cNvPr id="11" name="TextBox 10"/>
          <p:cNvSpPr txBox="1"/>
          <p:nvPr/>
        </p:nvSpPr>
        <p:spPr>
          <a:xfrm>
            <a:off x="1828800" y="4160520"/>
            <a:ext cx="9601200" cy="640080"/>
          </a:xfrm>
          <a:prstGeom prst="rect">
            <a:avLst/>
          </a:prstGeom>
          <a:noFill/>
        </p:spPr>
        <p:txBody>
          <a:bodyPr wrap="square">
            <a:spAutoFit/>
          </a:bodyPr>
          <a:lstStyle/>
          <a:p>
            <a:pPr algn="l">
              <a:lnSpc>
                <a:spcPts val="1820"/>
              </a:lnSpc>
              <a:spcBef>
                <a:spcPts val="0"/>
              </a:spcBef>
              <a:spcAft>
                <a:spcPts val="400"/>
              </a:spcAft>
              <a:defRPr sz="1300" b="0">
                <a:solidFill>
                  <a:srgbClr val="2D3748"/>
                </a:solidFill>
                <a:latin typeface="Calibri"/>
              </a:defRPr>
            </a:pPr>
            <a:r>
              <a:t>What we learned: counterfactual reasoning and causal graphs give explanations tied to mechanisms — more robust to shift, harder to game. Even the discipline of asking 'is this counterfactually testable?' raises the bar meaningfully.</a:t>
            </a:r>
          </a:p>
        </p:txBody>
      </p:sp>
      <p:sp>
        <p:nvSpPr>
          <p:cNvPr id="12" name="Oval 11"/>
          <p:cNvSpPr/>
          <p:nvPr/>
        </p:nvSpPr>
        <p:spPr>
          <a:xfrm>
            <a:off x="914400" y="5212080"/>
            <a:ext cx="640080" cy="640080"/>
          </a:xfrm>
          <a:prstGeom prst="ellipse">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FFFFFF"/>
                </a:solidFill>
                <a:latin typeface="Calibri"/>
              </a:defRPr>
            </a:pPr>
            <a:r>
              <a:t>3</a:t>
            </a:r>
          </a:p>
        </p:txBody>
      </p:sp>
      <p:sp>
        <p:nvSpPr>
          <p:cNvPr id="13" name="TextBox 12"/>
          <p:cNvSpPr txBox="1"/>
          <p:nvPr/>
        </p:nvSpPr>
        <p:spPr>
          <a:xfrm>
            <a:off x="1828800" y="5074920"/>
            <a:ext cx="4114800" cy="640080"/>
          </a:xfrm>
          <a:prstGeom prst="rect">
            <a:avLst/>
          </a:prstGeom>
          <a:noFill/>
        </p:spPr>
        <p:txBody>
          <a:bodyPr wrap="square">
            <a:spAutoFit/>
          </a:bodyPr>
          <a:lstStyle/>
          <a:p>
            <a:pPr algn="l">
              <a:lnSpc>
                <a:spcPts val="2280"/>
              </a:lnSpc>
              <a:spcBef>
                <a:spcPts val="0"/>
              </a:spcBef>
              <a:spcAft>
                <a:spcPts val="400"/>
              </a:spcAft>
              <a:defRPr sz="1900" b="1">
                <a:solidFill>
                  <a:srgbClr val="1B2A4A"/>
                </a:solidFill>
                <a:latin typeface="Calibri"/>
              </a:defRPr>
            </a:pPr>
            <a:r>
              <a:t>System-level trust</a:t>
            </a:r>
            <a:br/>
            <a:r>
              <a:t>is the answer</a:t>
            </a:r>
          </a:p>
        </p:txBody>
      </p:sp>
      <p:sp>
        <p:nvSpPr>
          <p:cNvPr id="14" name="TextBox 13"/>
          <p:cNvSpPr txBox="1"/>
          <p:nvPr/>
        </p:nvSpPr>
        <p:spPr>
          <a:xfrm>
            <a:off x="1828800" y="5760720"/>
            <a:ext cx="9601200" cy="640080"/>
          </a:xfrm>
          <a:prstGeom prst="rect">
            <a:avLst/>
          </a:prstGeom>
          <a:noFill/>
        </p:spPr>
        <p:txBody>
          <a:bodyPr wrap="square">
            <a:spAutoFit/>
          </a:bodyPr>
          <a:lstStyle/>
          <a:p>
            <a:pPr algn="l">
              <a:lnSpc>
                <a:spcPts val="1820"/>
              </a:lnSpc>
              <a:spcBef>
                <a:spcPts val="0"/>
              </a:spcBef>
              <a:spcAft>
                <a:spcPts val="400"/>
              </a:spcAft>
              <a:defRPr sz="1300" b="0">
                <a:solidFill>
                  <a:srgbClr val="2D3748"/>
                </a:solidFill>
                <a:latin typeface="Calibri"/>
              </a:defRPr>
            </a:pPr>
            <a:r>
              <a:t>Where we land: trustworthiness isn't one property you measure once. It's a system-level property verified continuously across all seven NIST characteristics — and the next section shows exactly what that looks like in our codebase.</a:t>
            </a:r>
          </a:p>
        </p:txBody>
      </p:sp>
      <p:sp>
        <p:nvSpPr>
          <p:cNvPr id="15" name="TextBox 14"/>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Resources &amp; Further Reading</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For those who want to go deeper — all primary sources cited in this talk</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10698480" cy="274320"/>
          </a:xfrm>
          <a:prstGeom prst="rect">
            <a:avLst/>
          </a:prstGeom>
          <a:noFill/>
        </p:spPr>
        <p:txBody>
          <a:bodyPr wrap="square">
            <a:spAutoFit/>
          </a:bodyPr>
          <a:lstStyle/>
          <a:p>
            <a:pPr algn="l">
              <a:lnSpc>
                <a:spcPts val="1609"/>
              </a:lnSpc>
              <a:spcBef>
                <a:spcPts val="0"/>
              </a:spcBef>
              <a:spcAft>
                <a:spcPts val="400"/>
              </a:spcAft>
              <a:defRPr sz="1400" b="1">
                <a:solidFill>
                  <a:srgbClr val="2D3748"/>
                </a:solidFill>
                <a:latin typeface="Calibri"/>
              </a:defRPr>
            </a:pPr>
            <a:r>
              <a:t>NIST AI Risk Management Framework (AI RMF 1.0)</a:t>
            </a:r>
          </a:p>
        </p:txBody>
      </p:sp>
      <p:sp>
        <p:nvSpPr>
          <p:cNvPr id="7" name="TextBox 6"/>
          <p:cNvSpPr txBox="1"/>
          <p:nvPr/>
        </p:nvSpPr>
        <p:spPr>
          <a:xfrm>
            <a:off x="731520" y="1764792"/>
            <a:ext cx="10698480" cy="411480"/>
          </a:xfrm>
          <a:prstGeom prst="rect">
            <a:avLst/>
          </a:prstGeom>
          <a:noFill/>
        </p:spPr>
        <p:txBody>
          <a:bodyPr wrap="square">
            <a:spAutoFit/>
          </a:bodyPr>
          <a:lstStyle/>
          <a:p>
            <a:pPr algn="l">
              <a:lnSpc>
                <a:spcPts val="1320"/>
              </a:lnSpc>
              <a:spcBef>
                <a:spcPts val="0"/>
              </a:spcBef>
              <a:spcAft>
                <a:spcPts val="400"/>
              </a:spcAft>
              <a:defRPr sz="1100" b="0">
                <a:solidFill>
                  <a:srgbClr val="4A5568"/>
                </a:solidFill>
                <a:latin typeface="Calibri"/>
              </a:defRPr>
            </a:pPr>
            <a:r>
              <a:t>National Institute of Standards and Technology. The four-function core (Govern / Map / Measure / Manage) plus the Generative AI Profile (NIST AI 600-1) for LLM/agentic-specific risks. Available at: nist.gov/itl/ai-risk-management-framework</a:t>
            </a:r>
          </a:p>
        </p:txBody>
      </p:sp>
      <p:sp>
        <p:nvSpPr>
          <p:cNvPr id="8" name="Rectangle 7"/>
          <p:cNvSpPr/>
          <p:nvPr/>
        </p:nvSpPr>
        <p:spPr>
          <a:xfrm>
            <a:off x="731520" y="2203704"/>
            <a:ext cx="1069848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58568"/>
            <a:ext cx="10698480" cy="274320"/>
          </a:xfrm>
          <a:prstGeom prst="rect">
            <a:avLst/>
          </a:prstGeom>
          <a:noFill/>
        </p:spPr>
        <p:txBody>
          <a:bodyPr wrap="square">
            <a:spAutoFit/>
          </a:bodyPr>
          <a:lstStyle/>
          <a:p>
            <a:pPr algn="l">
              <a:lnSpc>
                <a:spcPts val="1609"/>
              </a:lnSpc>
              <a:spcBef>
                <a:spcPts val="0"/>
              </a:spcBef>
              <a:spcAft>
                <a:spcPts val="400"/>
              </a:spcAft>
              <a:defRPr sz="1400" b="1">
                <a:solidFill>
                  <a:srgbClr val="2D3748"/>
                </a:solidFill>
                <a:latin typeface="Calibri"/>
              </a:defRPr>
            </a:pPr>
            <a:r>
              <a:t>Christoph Molnar — Interpretable Machine Learning</a:t>
            </a:r>
          </a:p>
        </p:txBody>
      </p:sp>
      <p:sp>
        <p:nvSpPr>
          <p:cNvPr id="10" name="TextBox 9"/>
          <p:cNvSpPr txBox="1"/>
          <p:nvPr/>
        </p:nvSpPr>
        <p:spPr>
          <a:xfrm>
            <a:off x="731520" y="2514600"/>
            <a:ext cx="10698480" cy="411480"/>
          </a:xfrm>
          <a:prstGeom prst="rect">
            <a:avLst/>
          </a:prstGeom>
          <a:noFill/>
        </p:spPr>
        <p:txBody>
          <a:bodyPr wrap="square">
            <a:spAutoFit/>
          </a:bodyPr>
          <a:lstStyle/>
          <a:p>
            <a:pPr algn="l">
              <a:lnSpc>
                <a:spcPts val="1320"/>
              </a:lnSpc>
              <a:spcBef>
                <a:spcPts val="0"/>
              </a:spcBef>
              <a:spcAft>
                <a:spcPts val="400"/>
              </a:spcAft>
              <a:defRPr sz="1100" b="0">
                <a:solidFill>
                  <a:srgbClr val="4A5568"/>
                </a:solidFill>
                <a:latin typeface="Calibri"/>
              </a:defRPr>
            </a:pPr>
            <a:r>
              <a:t>Free online book; the standard reference for the actual mechanics of XAI methods (LIME, SHAP, permutation importance, partial dependence, counterfactual explanations) that Slide Groups 3 and 6 critique. Available at: christophm.github.io/interpretable-ml-book</a:t>
            </a:r>
          </a:p>
        </p:txBody>
      </p:sp>
      <p:sp>
        <p:nvSpPr>
          <p:cNvPr id="11" name="Rectangle 10"/>
          <p:cNvSpPr/>
          <p:nvPr/>
        </p:nvSpPr>
        <p:spPr>
          <a:xfrm>
            <a:off x="731520" y="2953511"/>
            <a:ext cx="1069848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008376"/>
            <a:ext cx="10698480" cy="274320"/>
          </a:xfrm>
          <a:prstGeom prst="rect">
            <a:avLst/>
          </a:prstGeom>
          <a:noFill/>
        </p:spPr>
        <p:txBody>
          <a:bodyPr wrap="square">
            <a:spAutoFit/>
          </a:bodyPr>
          <a:lstStyle/>
          <a:p>
            <a:pPr algn="l">
              <a:lnSpc>
                <a:spcPts val="1609"/>
              </a:lnSpc>
              <a:spcBef>
                <a:spcPts val="0"/>
              </a:spcBef>
              <a:spcAft>
                <a:spcPts val="400"/>
              </a:spcAft>
              <a:defRPr sz="1400" b="1">
                <a:solidFill>
                  <a:srgbClr val="2D3748"/>
                </a:solidFill>
                <a:latin typeface="Calibri"/>
              </a:defRPr>
            </a:pPr>
            <a:r>
              <a:t>Explainable AI: Interpreting, Explaining and Visualizing Deep Learning</a:t>
            </a:r>
          </a:p>
        </p:txBody>
      </p:sp>
      <p:sp>
        <p:nvSpPr>
          <p:cNvPr id="13" name="TextBox 12"/>
          <p:cNvSpPr txBox="1"/>
          <p:nvPr/>
        </p:nvSpPr>
        <p:spPr>
          <a:xfrm>
            <a:off x="731520" y="3264408"/>
            <a:ext cx="10698480" cy="411480"/>
          </a:xfrm>
          <a:prstGeom prst="rect">
            <a:avLst/>
          </a:prstGeom>
          <a:noFill/>
        </p:spPr>
        <p:txBody>
          <a:bodyPr wrap="square">
            <a:spAutoFit/>
          </a:bodyPr>
          <a:lstStyle/>
          <a:p>
            <a:pPr algn="l">
              <a:lnSpc>
                <a:spcPts val="1320"/>
              </a:lnSpc>
              <a:spcBef>
                <a:spcPts val="0"/>
              </a:spcBef>
              <a:spcAft>
                <a:spcPts val="400"/>
              </a:spcAft>
              <a:defRPr sz="1100" b="0">
                <a:solidFill>
                  <a:srgbClr val="4A5568"/>
                </a:solidFill>
                <a:latin typeface="Calibri"/>
              </a:defRPr>
            </a:pPr>
            <a:r>
              <a:t>Samek, Montavon, Vedaldi, Hansen, Müller (eds.). Deeper technical/academic grounding on XAI methods specifically for deep learning — useful for anyone who wants to go past the survey level. Springer LNCS vol. 11700, 2019.</a:t>
            </a:r>
          </a:p>
        </p:txBody>
      </p:sp>
      <p:sp>
        <p:nvSpPr>
          <p:cNvPr id="14" name="Rectangle 13"/>
          <p:cNvSpPr/>
          <p:nvPr/>
        </p:nvSpPr>
        <p:spPr>
          <a:xfrm>
            <a:off x="731520" y="3703320"/>
            <a:ext cx="1069848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758183"/>
            <a:ext cx="10698480" cy="274320"/>
          </a:xfrm>
          <a:prstGeom prst="rect">
            <a:avLst/>
          </a:prstGeom>
          <a:noFill/>
        </p:spPr>
        <p:txBody>
          <a:bodyPr wrap="square">
            <a:spAutoFit/>
          </a:bodyPr>
          <a:lstStyle/>
          <a:p>
            <a:pPr algn="l">
              <a:lnSpc>
                <a:spcPts val="1609"/>
              </a:lnSpc>
              <a:spcBef>
                <a:spcPts val="0"/>
              </a:spcBef>
              <a:spcAft>
                <a:spcPts val="400"/>
              </a:spcAft>
              <a:defRPr sz="1400" b="1">
                <a:solidFill>
                  <a:srgbClr val="2D3748"/>
                </a:solidFill>
                <a:latin typeface="Calibri"/>
              </a:defRPr>
            </a:pPr>
            <a:r>
              <a:t>EU AI Act — Official Text / European Commission Summary</a:t>
            </a:r>
          </a:p>
        </p:txBody>
      </p:sp>
      <p:sp>
        <p:nvSpPr>
          <p:cNvPr id="16" name="TextBox 15"/>
          <p:cNvSpPr txBox="1"/>
          <p:nvPr/>
        </p:nvSpPr>
        <p:spPr>
          <a:xfrm>
            <a:off x="731520" y="4014215"/>
            <a:ext cx="10698480" cy="411480"/>
          </a:xfrm>
          <a:prstGeom prst="rect">
            <a:avLst/>
          </a:prstGeom>
          <a:noFill/>
        </p:spPr>
        <p:txBody>
          <a:bodyPr wrap="square">
            <a:spAutoFit/>
          </a:bodyPr>
          <a:lstStyle/>
          <a:p>
            <a:pPr algn="l">
              <a:lnSpc>
                <a:spcPts val="1320"/>
              </a:lnSpc>
              <a:spcBef>
                <a:spcPts val="0"/>
              </a:spcBef>
              <a:spcAft>
                <a:spcPts val="400"/>
              </a:spcAft>
              <a:defRPr sz="1100" b="0">
                <a:solidFill>
                  <a:srgbClr val="4A5568"/>
                </a:solidFill>
                <a:latin typeface="Calibri"/>
              </a:defRPr>
            </a:pPr>
            <a:r>
              <a:t>Binding EU law establishing four risk tiers (unacceptable, high, limited, minimal) with staggered compliance deadlines through 2026–2027. Primary source at: artificialintelligenceact.eu</a:t>
            </a:r>
          </a:p>
        </p:txBody>
      </p:sp>
      <p:sp>
        <p:nvSpPr>
          <p:cNvPr id="17" name="Rectangle 16"/>
          <p:cNvSpPr/>
          <p:nvPr/>
        </p:nvSpPr>
        <p:spPr>
          <a:xfrm>
            <a:off x="731520" y="4453127"/>
            <a:ext cx="1069848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507992"/>
            <a:ext cx="10698480" cy="274320"/>
          </a:xfrm>
          <a:prstGeom prst="rect">
            <a:avLst/>
          </a:prstGeom>
          <a:noFill/>
        </p:spPr>
        <p:txBody>
          <a:bodyPr wrap="square">
            <a:spAutoFit/>
          </a:bodyPr>
          <a:lstStyle/>
          <a:p>
            <a:pPr algn="l">
              <a:lnSpc>
                <a:spcPts val="1609"/>
              </a:lnSpc>
              <a:spcBef>
                <a:spcPts val="0"/>
              </a:spcBef>
              <a:spcAft>
                <a:spcPts val="400"/>
              </a:spcAft>
              <a:defRPr sz="1400" b="1">
                <a:solidFill>
                  <a:srgbClr val="2D3748"/>
                </a:solidFill>
                <a:latin typeface="Calibri"/>
              </a:defRPr>
            </a:pPr>
            <a:r>
              <a:t>Dwork &amp; Roth — The Algorithmic Foundations of Differential Privacy</a:t>
            </a:r>
          </a:p>
        </p:txBody>
      </p:sp>
      <p:sp>
        <p:nvSpPr>
          <p:cNvPr id="19" name="TextBox 18"/>
          <p:cNvSpPr txBox="1"/>
          <p:nvPr/>
        </p:nvSpPr>
        <p:spPr>
          <a:xfrm>
            <a:off x="731520" y="4764024"/>
            <a:ext cx="10698480" cy="411480"/>
          </a:xfrm>
          <a:prstGeom prst="rect">
            <a:avLst/>
          </a:prstGeom>
          <a:noFill/>
        </p:spPr>
        <p:txBody>
          <a:bodyPr wrap="square">
            <a:spAutoFit/>
          </a:bodyPr>
          <a:lstStyle/>
          <a:p>
            <a:pPr algn="l">
              <a:lnSpc>
                <a:spcPts val="1320"/>
              </a:lnSpc>
              <a:spcBef>
                <a:spcPts val="0"/>
              </a:spcBef>
              <a:spcAft>
                <a:spcPts val="400"/>
              </a:spcAft>
              <a:defRPr sz="1100" b="0">
                <a:solidFill>
                  <a:srgbClr val="4A5568"/>
                </a:solidFill>
                <a:latin typeface="Calibri"/>
              </a:defRPr>
            </a:pPr>
            <a:r>
              <a:t>The foundational text on differential privacy — the mathematical framework for formal privacy guarantees. Foundations and Trends in Theoretical Computer Science, 2014.</a:t>
            </a:r>
          </a:p>
        </p:txBody>
      </p:sp>
      <p:sp>
        <p:nvSpPr>
          <p:cNvPr id="20" name="Rectangle 19"/>
          <p:cNvSpPr/>
          <p:nvPr/>
        </p:nvSpPr>
        <p:spPr>
          <a:xfrm>
            <a:off x="731520" y="5202936"/>
            <a:ext cx="1069848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257800"/>
            <a:ext cx="10698480" cy="274320"/>
          </a:xfrm>
          <a:prstGeom prst="rect">
            <a:avLst/>
          </a:prstGeom>
          <a:noFill/>
        </p:spPr>
        <p:txBody>
          <a:bodyPr wrap="square">
            <a:spAutoFit/>
          </a:bodyPr>
          <a:lstStyle/>
          <a:p>
            <a:pPr algn="l">
              <a:lnSpc>
                <a:spcPts val="1609"/>
              </a:lnSpc>
              <a:spcBef>
                <a:spcPts val="0"/>
              </a:spcBef>
              <a:spcAft>
                <a:spcPts val="400"/>
              </a:spcAft>
              <a:defRPr sz="1400" b="1">
                <a:solidFill>
                  <a:srgbClr val="2D3748"/>
                </a:solidFill>
                <a:latin typeface="Calibri"/>
              </a:defRPr>
            </a:pPr>
            <a:r>
              <a:t>Mitchell et al. — Model Cards for Model Reporting (2019)</a:t>
            </a:r>
          </a:p>
        </p:txBody>
      </p:sp>
      <p:sp>
        <p:nvSpPr>
          <p:cNvPr id="22" name="TextBox 21"/>
          <p:cNvSpPr txBox="1"/>
          <p:nvPr/>
        </p:nvSpPr>
        <p:spPr>
          <a:xfrm>
            <a:off x="731520" y="5513832"/>
            <a:ext cx="10698480" cy="411480"/>
          </a:xfrm>
          <a:prstGeom prst="rect">
            <a:avLst/>
          </a:prstGeom>
          <a:noFill/>
        </p:spPr>
        <p:txBody>
          <a:bodyPr wrap="square">
            <a:spAutoFit/>
          </a:bodyPr>
          <a:lstStyle/>
          <a:p>
            <a:pPr algn="l">
              <a:lnSpc>
                <a:spcPts val="1320"/>
              </a:lnSpc>
              <a:spcBef>
                <a:spcPts val="0"/>
              </a:spcBef>
              <a:spcAft>
                <a:spcPts val="400"/>
              </a:spcAft>
              <a:defRPr sz="1100" b="0">
                <a:solidFill>
                  <a:srgbClr val="4A5568"/>
                </a:solidFill>
                <a:latin typeface="Calibri"/>
              </a:defRPr>
            </a:pPr>
            <a:r>
              <a:t>Standardized framework for transparent model documentation: intended use, evaluation, limitations, ethical considerations. FAccT 2019.</a:t>
            </a:r>
          </a:p>
        </p:txBody>
      </p:sp>
      <p:sp>
        <p:nvSpPr>
          <p:cNvPr id="23" name="Rectangle 22"/>
          <p:cNvSpPr/>
          <p:nvPr/>
        </p:nvSpPr>
        <p:spPr>
          <a:xfrm>
            <a:off x="731520" y="5952744"/>
            <a:ext cx="1069848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6007608"/>
            <a:ext cx="10698480" cy="274320"/>
          </a:xfrm>
          <a:prstGeom prst="rect">
            <a:avLst/>
          </a:prstGeom>
          <a:noFill/>
        </p:spPr>
        <p:txBody>
          <a:bodyPr wrap="square">
            <a:spAutoFit/>
          </a:bodyPr>
          <a:lstStyle/>
          <a:p>
            <a:pPr algn="l">
              <a:lnSpc>
                <a:spcPts val="1609"/>
              </a:lnSpc>
              <a:spcBef>
                <a:spcPts val="0"/>
              </a:spcBef>
              <a:spcAft>
                <a:spcPts val="400"/>
              </a:spcAft>
              <a:defRPr sz="1400" b="1">
                <a:solidFill>
                  <a:srgbClr val="2D3748"/>
                </a:solidFill>
                <a:latin typeface="Calibri"/>
              </a:defRPr>
            </a:pPr>
            <a:r>
              <a:t>Gebru et al. — Datasheets for Datasets (2018)</a:t>
            </a:r>
          </a:p>
        </p:txBody>
      </p:sp>
      <p:sp>
        <p:nvSpPr>
          <p:cNvPr id="25" name="TextBox 24"/>
          <p:cNvSpPr txBox="1"/>
          <p:nvPr/>
        </p:nvSpPr>
        <p:spPr>
          <a:xfrm>
            <a:off x="731520" y="6263640"/>
            <a:ext cx="10698480" cy="411480"/>
          </a:xfrm>
          <a:prstGeom prst="rect">
            <a:avLst/>
          </a:prstGeom>
          <a:noFill/>
        </p:spPr>
        <p:txBody>
          <a:bodyPr wrap="square">
            <a:spAutoFit/>
          </a:bodyPr>
          <a:lstStyle/>
          <a:p>
            <a:pPr algn="l">
              <a:lnSpc>
                <a:spcPts val="1320"/>
              </a:lnSpc>
              <a:spcBef>
                <a:spcPts val="0"/>
              </a:spcBef>
              <a:spcAft>
                <a:spcPts val="400"/>
              </a:spcAft>
              <a:defRPr sz="1100" b="0">
                <a:solidFill>
                  <a:srgbClr val="4A5568"/>
                </a:solidFill>
                <a:latin typeface="Calibri"/>
              </a:defRPr>
            </a:pPr>
            <a:r>
              <a:t>Companion to Model Cards: standardized documentation for datasets — motivation, composition, collection, preprocessing, recommended uses. Communications of the ACM, 2021.</a:t>
            </a:r>
          </a:p>
        </p:txBody>
      </p:sp>
      <p:sp>
        <p:nvSpPr>
          <p:cNvPr id="26" name="TextBox 25"/>
          <p:cNvSpPr txBox="1"/>
          <p:nvPr/>
        </p:nvSpPr>
        <p:spPr>
          <a:xfrm>
            <a:off x="731520" y="6217920"/>
            <a:ext cx="10698480" cy="365760"/>
          </a:xfrm>
          <a:prstGeom prst="rect">
            <a:avLst/>
          </a:prstGeom>
          <a:noFill/>
        </p:spPr>
        <p:txBody>
          <a:bodyPr wrap="square">
            <a:spAutoFit/>
          </a:bodyPr>
          <a:lstStyle/>
          <a:p>
            <a:pPr algn="l">
              <a:lnSpc>
                <a:spcPts val="1264"/>
              </a:lnSpc>
              <a:spcBef>
                <a:spcPts val="0"/>
              </a:spcBef>
              <a:spcAft>
                <a:spcPts val="400"/>
              </a:spcAft>
              <a:defRPr sz="1100" b="0">
                <a:solidFill>
                  <a:srgbClr val="A0AEC0"/>
                </a:solidFill>
                <a:latin typeface="Calibri"/>
              </a:defRPr>
            </a:pPr>
            <a:r>
              <a:t>This slide is designed to be screenshotted — all citations are in one place.</a:t>
            </a:r>
          </a:p>
        </p:txBody>
      </p:sp>
      <p:sp>
        <p:nvSpPr>
          <p:cNvPr id="27" name="TextBox 26"/>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698480" cy="548640"/>
          </a:xfrm>
          <a:prstGeom prst="rect">
            <a:avLst/>
          </a:prstGeom>
          <a:noFill/>
        </p:spPr>
        <p:txBody>
          <a:bodyPr wrap="square">
            <a:spAutoFit/>
          </a:bodyPr>
          <a:lstStyle/>
          <a:p>
            <a:pPr algn="l">
              <a:lnSpc>
                <a:spcPts val="1839"/>
              </a:lnSpc>
              <a:spcBef>
                <a:spcPts val="0"/>
              </a:spcBef>
              <a:spcAft>
                <a:spcPts val="400"/>
              </a:spcAft>
              <a:defRPr sz="1600" b="1">
                <a:solidFill>
                  <a:srgbClr val="00897B"/>
                </a:solidFill>
                <a:latin typeface="Calibri"/>
              </a:defRPr>
            </a:pPr>
            <a:r>
              <a:t>PART FINAL SECTION</a:t>
            </a:r>
          </a:p>
        </p:txBody>
      </p:sp>
      <p:sp>
        <p:nvSpPr>
          <p:cNvPr id="4" name="TextBox 3"/>
          <p:cNvSpPr txBox="1"/>
          <p:nvPr/>
        </p:nvSpPr>
        <p:spPr>
          <a:xfrm>
            <a:off x="731520" y="2377440"/>
            <a:ext cx="10698480" cy="1097280"/>
          </a:xfrm>
          <a:prstGeom prst="rect">
            <a:avLst/>
          </a:prstGeom>
          <a:noFill/>
        </p:spPr>
        <p:txBody>
          <a:bodyPr wrap="square">
            <a:spAutoFit/>
          </a:bodyPr>
          <a:lstStyle/>
          <a:p>
            <a:pPr algn="l">
              <a:lnSpc>
                <a:spcPts val="4600"/>
              </a:lnSpc>
              <a:spcBef>
                <a:spcPts val="0"/>
              </a:spcBef>
              <a:spcAft>
                <a:spcPts val="400"/>
              </a:spcAft>
              <a:defRPr sz="4000" b="1">
                <a:solidFill>
                  <a:srgbClr val="FFFFFF"/>
                </a:solidFill>
                <a:latin typeface="Calibri"/>
              </a:defRPr>
            </a:pPr>
            <a:r>
              <a:t>Our Codebase, Mapped to the Framework</a:t>
            </a:r>
          </a:p>
        </p:txBody>
      </p:sp>
      <p:sp>
        <p:nvSpPr>
          <p:cNvPr id="5" name="TextBox 4"/>
          <p:cNvSpPr txBox="1"/>
          <p:nvPr/>
        </p:nvSpPr>
        <p:spPr>
          <a:xfrm>
            <a:off x="731520" y="3474720"/>
            <a:ext cx="10698480" cy="731520"/>
          </a:xfrm>
          <a:prstGeom prst="rect">
            <a:avLst/>
          </a:prstGeom>
          <a:noFill/>
        </p:spPr>
        <p:txBody>
          <a:bodyPr wrap="square">
            <a:spAutoFit/>
          </a:bodyPr>
          <a:lstStyle/>
          <a:p>
            <a:pPr algn="l">
              <a:lnSpc>
                <a:spcPts val="2070"/>
              </a:lnSpc>
              <a:spcBef>
                <a:spcPts val="0"/>
              </a:spcBef>
              <a:spcAft>
                <a:spcPts val="400"/>
              </a:spcAft>
              <a:defRPr sz="1800" b="0">
                <a:solidFill>
                  <a:srgbClr val="CCD5E0"/>
                </a:solidFill>
                <a:latin typeface="Calibri"/>
              </a:defRPr>
            </a:pPr>
            <a:r>
              <a:t>Here's the framework. Here's what we actually built against it.</a:t>
            </a:r>
          </a:p>
        </p:txBody>
      </p:sp>
      <p:sp>
        <p:nvSpPr>
          <p:cNvPr id="6" name="Rectangle 5"/>
          <p:cNvSpPr/>
          <p:nvPr/>
        </p:nvSpPr>
        <p:spPr>
          <a:xfrm>
            <a:off x="731520" y="4572000"/>
            <a:ext cx="1828800" cy="4572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Codebase → Framework Mapping</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One line per principle — what we built against what we talked about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508760"/>
          <a:ext cx="11064240" cy="4846320"/>
        </p:xfrm>
        <a:graphic>
          <a:graphicData uri="http://schemas.openxmlformats.org/drawingml/2006/table">
            <a:tbl>
              <a:tblPr firstRow="1" bandRow="1">
                <a:tableStyleId>{5C22544A-7EE6-4342-B048-85BDC9FD1C3A}</a:tableStyleId>
              </a:tblPr>
              <a:tblGrid>
                <a:gridCol w="4754880"/>
                <a:gridCol w="6309360"/>
              </a:tblGrid>
              <a:tr h="538480">
                <a:tc>
                  <a:txBody>
                    <a:bodyPr/>
                    <a:lstStyle/>
                    <a:p>
                      <a:pPr>
                        <a:defRPr sz="1300" b="1">
                          <a:solidFill>
                            <a:srgbClr val="FFFFFF"/>
                          </a:solidFill>
                          <a:latin typeface="Calibri"/>
                        </a:defRPr>
                      </a:pPr>
                      <a:r>
                        <a:t>Principle / Concept from the talk</a:t>
                      </a:r>
                    </a:p>
                  </a:txBody>
                  <a:tcPr marL="137160" marR="137160" marT="54864" marB="54864">
                    <a:solidFill>
                      <a:srgbClr val="1B2A4A"/>
                    </a:solidFill>
                  </a:tcPr>
                </a:tc>
                <a:tc>
                  <a:txBody>
                    <a:bodyPr/>
                    <a:lstStyle/>
                    <a:p>
                      <a:pPr>
                        <a:defRPr sz="1300" b="1">
                          <a:solidFill>
                            <a:srgbClr val="FFFFFF"/>
                          </a:solidFill>
                          <a:latin typeface="Calibri"/>
                        </a:defRPr>
                      </a:pPr>
                      <a:r>
                        <a:t>What we built</a:t>
                      </a:r>
                    </a:p>
                  </a:txBody>
                  <a:tcPr marL="137160" marR="137160" marT="54864" marB="54864">
                    <a:solidFill>
                      <a:srgbClr val="1B2A4A"/>
                    </a:solidFill>
                  </a:tcPr>
                </a:tc>
              </a:tr>
              <a:tr h="538480">
                <a:tc>
                  <a:txBody>
                    <a:bodyPr/>
                    <a:lstStyle/>
                    <a:p>
                      <a:pPr>
                        <a:defRPr sz="1200" b="0">
                          <a:solidFill>
                            <a:srgbClr val="2D3748"/>
                          </a:solidFill>
                          <a:latin typeface="Calibri"/>
                        </a:defRPr>
                      </a:pPr>
                      <a:r>
                        <a:t>Fairness (bias detection)</a:t>
                      </a:r>
                    </a:p>
                  </a:txBody>
                  <a:tcPr marL="137160" marR="137160" marT="54864" marB="54864">
                    <a:solidFill>
                      <a:srgbClr val="FFFFFF"/>
                    </a:solidFill>
                  </a:tcPr>
                </a:tc>
                <a:tc>
                  <a:txBody>
                    <a:bodyPr/>
                    <a:lstStyle/>
                    <a:p>
                      <a:pPr>
                        <a:defRPr sz="1200" b="0">
                          <a:solidFill>
                            <a:srgbClr val="2D3748"/>
                          </a:solidFill>
                          <a:latin typeface="Calibri"/>
                        </a:defRPr>
                      </a:pPr>
                      <a:r>
                        <a:t>Counterfactual test suite (Section 8, architecture doc) — same technique described in Core Principles, not a toy example</a:t>
                      </a:r>
                    </a:p>
                  </a:txBody>
                  <a:tcPr marL="137160" marR="137160" marT="54864" marB="54864">
                    <a:solidFill>
                      <a:srgbClr val="FFFFFF"/>
                    </a:solidFill>
                  </a:tcPr>
                </a:tc>
              </a:tr>
              <a:tr h="538480">
                <a:tc>
                  <a:txBody>
                    <a:bodyPr/>
                    <a:lstStyle/>
                    <a:p>
                      <a:pPr>
                        <a:defRPr sz="1200" b="0">
                          <a:solidFill>
                            <a:srgbClr val="2D3748"/>
                          </a:solidFill>
                          <a:latin typeface="Calibri"/>
                        </a:defRPr>
                      </a:pPr>
                      <a:r>
                        <a:t>Transparency / Accountability</a:t>
                      </a:r>
                    </a:p>
                  </a:txBody>
                  <a:tcPr marL="137160" marR="137160" marT="54864" marB="54864">
                    <a:solidFill>
                      <a:srgbClr val="F0F4F8"/>
                    </a:solidFill>
                  </a:tcPr>
                </a:tc>
                <a:tc>
                  <a:txBody>
                    <a:bodyPr/>
                    <a:lstStyle/>
                    <a:p>
                      <a:pPr>
                        <a:defRPr sz="1200" b="0">
                          <a:solidFill>
                            <a:srgbClr val="2D3748"/>
                          </a:solidFill>
                          <a:latin typeface="Calibri"/>
                        </a:defRPr>
                      </a:pPr>
                      <a:r>
                        <a:t>Governance plane, audit log, policy-versioned 'constitution' document (Sections 9.1 / 12)</a:t>
                      </a:r>
                    </a:p>
                  </a:txBody>
                  <a:tcPr marL="137160" marR="137160" marT="54864" marB="54864">
                    <a:solidFill>
                      <a:srgbClr val="F0F4F8"/>
                    </a:solidFill>
                  </a:tcPr>
                </a:tc>
              </a:tr>
              <a:tr h="538480">
                <a:tc>
                  <a:txBody>
                    <a:bodyPr/>
                    <a:lstStyle/>
                    <a:p>
                      <a:pPr>
                        <a:defRPr sz="1200" b="0">
                          <a:solidFill>
                            <a:srgbClr val="2D3748"/>
                          </a:solidFill>
                          <a:latin typeface="Calibri"/>
                        </a:defRPr>
                      </a:pPr>
                      <a:r>
                        <a:t>Robustness / Safety (adversarial)</a:t>
                      </a:r>
                    </a:p>
                  </a:txBody>
                  <a:tcPr marL="137160" marR="137160" marT="54864" marB="54864">
                    <a:solidFill>
                      <a:srgbClr val="FFFFFF"/>
                    </a:solidFill>
                  </a:tcPr>
                </a:tc>
                <a:tc>
                  <a:txBody>
                    <a:bodyPr/>
                    <a:lstStyle/>
                    <a:p>
                      <a:pPr>
                        <a:defRPr sz="1200" b="0">
                          <a:solidFill>
                            <a:srgbClr val="2D3748"/>
                          </a:solidFill>
                          <a:latin typeface="Calibri"/>
                        </a:defRPr>
                      </a:pPr>
                      <a:r>
                        <a:t>Red-team harness (Garak / PyRIT), prompt injection defenses (Sections 2 / 3)</a:t>
                      </a:r>
                    </a:p>
                  </a:txBody>
                  <a:tcPr marL="137160" marR="137160" marT="54864" marB="54864">
                    <a:solidFill>
                      <a:srgbClr val="FFFFFF"/>
                    </a:solidFill>
                  </a:tcPr>
                </a:tc>
              </a:tr>
              <a:tr h="538480">
                <a:tc>
                  <a:txBody>
                    <a:bodyPr/>
                    <a:lstStyle/>
                    <a:p>
                      <a:pPr>
                        <a:defRPr sz="1200" b="0">
                          <a:solidFill>
                            <a:srgbClr val="2D3748"/>
                          </a:solidFill>
                          <a:latin typeface="Calibri"/>
                        </a:defRPr>
                      </a:pPr>
                      <a:r>
                        <a:t>Privacy</a:t>
                      </a:r>
                    </a:p>
                  </a:txBody>
                  <a:tcPr marL="137160" marR="137160" marT="54864" marB="54864">
                    <a:solidFill>
                      <a:srgbClr val="F0F4F8"/>
                    </a:solidFill>
                  </a:tcPr>
                </a:tc>
                <a:tc>
                  <a:txBody>
                    <a:bodyPr/>
                    <a:lstStyle/>
                    <a:p>
                      <a:pPr>
                        <a:defRPr sz="1200" b="0">
                          <a:solidFill>
                            <a:srgbClr val="2D3748"/>
                          </a:solidFill>
                          <a:latin typeface="Calibri"/>
                        </a:defRPr>
                      </a:pPr>
                      <a:r>
                        <a:t>PII detection/redaction pipeline (Presidio-based, Section 5). ⚠ Honest note: this is redaction/tokenization, not differential privacy in the formal sense — see the distinction made in the Privacy principle slide.</a:t>
                      </a:r>
                    </a:p>
                  </a:txBody>
                  <a:tcPr marL="137160" marR="137160" marT="54864" marB="54864">
                    <a:solidFill>
                      <a:srgbClr val="F0F4F8"/>
                    </a:solidFill>
                  </a:tcPr>
                </a:tc>
              </a:tr>
              <a:tr h="538480">
                <a:tc>
                  <a:txBody>
                    <a:bodyPr/>
                    <a:lstStyle/>
                    <a:p>
                      <a:pPr>
                        <a:defRPr sz="1200" b="0">
                          <a:solidFill>
                            <a:srgbClr val="2D3748"/>
                          </a:solidFill>
                          <a:latin typeface="Calibri"/>
                        </a:defRPr>
                      </a:pPr>
                      <a:r>
                        <a:t>Reliability</a:t>
                      </a:r>
                    </a:p>
                  </a:txBody>
                  <a:tcPr marL="137160" marR="137160" marT="54864" marB="54864">
                    <a:solidFill>
                      <a:srgbClr val="FFFFFF"/>
                    </a:solidFill>
                  </a:tcPr>
                </a:tc>
                <a:tc>
                  <a:txBody>
                    <a:bodyPr/>
                    <a:lstStyle/>
                    <a:p>
                      <a:pPr>
                        <a:defRPr sz="1200" b="0">
                          <a:solidFill>
                            <a:srgbClr val="2D3748"/>
                          </a:solidFill>
                          <a:latin typeface="Calibri"/>
                        </a:defRPr>
                      </a:pPr>
                      <a:r>
                        <a:t>Groundedness / hallucination checks, scheduled eval cadence (Sections 11 / 13)</a:t>
                      </a:r>
                    </a:p>
                  </a:txBody>
                  <a:tcPr marL="137160" marR="137160" marT="54864" marB="54864">
                    <a:solidFill>
                      <a:srgbClr val="FFFFFF"/>
                    </a:solidFill>
                  </a:tcPr>
                </a:tc>
              </a:tr>
              <a:tr h="538480">
                <a:tc>
                  <a:txBody>
                    <a:bodyPr/>
                    <a:lstStyle/>
                    <a:p>
                      <a:pPr>
                        <a:defRPr sz="1200" b="0">
                          <a:solidFill>
                            <a:srgbClr val="2D3748"/>
                          </a:solidFill>
                          <a:latin typeface="Calibri"/>
                        </a:defRPr>
                      </a:pPr>
                      <a:r>
                        <a:t>Human-AI collaboration / trust calibration</a:t>
                      </a:r>
                    </a:p>
                  </a:txBody>
                  <a:tcPr marL="137160" marR="137160" marT="54864" marB="54864">
                    <a:solidFill>
                      <a:srgbClr val="F0F4F8"/>
                    </a:solidFill>
                  </a:tcPr>
                </a:tc>
                <a:tc>
                  <a:txBody>
                    <a:bodyPr/>
                    <a:lstStyle/>
                    <a:p>
                      <a:pPr>
                        <a:defRPr sz="1200" b="0">
                          <a:solidFill>
                            <a:srgbClr val="2D3748"/>
                          </a:solidFill>
                          <a:latin typeface="Calibri"/>
                        </a:defRPr>
                      </a:pPr>
                      <a:r>
                        <a:t>HITL approval queue surfacing model reasoning vs. action divergence (Section 9.2), Streamlit test console (Addendum §8.5)</a:t>
                      </a:r>
                    </a:p>
                  </a:txBody>
                  <a:tcPr marL="137160" marR="137160" marT="54864" marB="54864">
                    <a:solidFill>
                      <a:srgbClr val="F0F4F8"/>
                    </a:solidFill>
                  </a:tcPr>
                </a:tc>
              </a:tr>
              <a:tr h="538480">
                <a:tc>
                  <a:txBody>
                    <a:bodyPr/>
                    <a:lstStyle/>
                    <a:p>
                      <a:pPr>
                        <a:defRPr sz="1200" b="0">
                          <a:solidFill>
                            <a:srgbClr val="2D3748"/>
                          </a:solidFill>
                          <a:latin typeface="Calibri"/>
                        </a:defRPr>
                      </a:pPr>
                      <a:r>
                        <a:t>Regulatory frameworks (NIST functions)</a:t>
                      </a:r>
                    </a:p>
                  </a:txBody>
                  <a:tcPr marL="137160" marR="137160" marT="54864" marB="54864">
                    <a:solidFill>
                      <a:srgbClr val="FFFFFF"/>
                    </a:solidFill>
                  </a:tcPr>
                </a:tc>
                <a:tc>
                  <a:txBody>
                    <a:bodyPr/>
                    <a:lstStyle/>
                    <a:p>
                      <a:pPr>
                        <a:defRPr sz="1200" b="0">
                          <a:solidFill>
                            <a:srgbClr val="2D3748"/>
                          </a:solidFill>
                          <a:latin typeface="Calibri"/>
                        </a:defRPr>
                      </a:pPr>
                      <a:r>
                        <a:t>Govern → policy docs; Map → data classification tiers (§4); Measure → eval suite; Manage → incident review loop (§13) — direct 1:1 mapping</a:t>
                      </a:r>
                    </a:p>
                  </a:txBody>
                  <a:tcPr marL="137160" marR="137160" marT="54864" marB="54864">
                    <a:solidFill>
                      <a:srgbClr val="FFFFFF"/>
                    </a:solidFill>
                  </a:tcPr>
                </a:tc>
              </a:tr>
              <a:tr h="538480">
                <a:tc>
                  <a:txBody>
                    <a:bodyPr/>
                    <a:lstStyle/>
                    <a:p>
                      <a:pPr>
                        <a:defRPr sz="1200" b="0">
                          <a:solidFill>
                            <a:srgbClr val="2D3748"/>
                          </a:solidFill>
                          <a:latin typeface="Calibri"/>
                        </a:defRPr>
                      </a:pPr>
                      <a:r>
                        <a:t>Explainability vs. trustworthiness (Slide Group 3)</a:t>
                      </a:r>
                    </a:p>
                  </a:txBody>
                  <a:tcPr marL="137160" marR="137160" marT="54864" marB="54864">
                    <a:solidFill>
                      <a:srgbClr val="F0F4F8"/>
                    </a:solidFill>
                  </a:tcPr>
                </a:tc>
                <a:tc>
                  <a:txBody>
                    <a:bodyPr/>
                    <a:lstStyle/>
                    <a:p>
                      <a:pPr>
                        <a:defRPr sz="1200" b="0">
                          <a:solidFill>
                            <a:srgbClr val="2D3748"/>
                          </a:solidFill>
                          <a:latin typeface="Calibri"/>
                        </a:defRPr>
                      </a:pPr>
                      <a:r>
                        <a:t>What we do NOT do: model-internals interpretability. We have guardrails and governance, not SHAP/LIME integration — and being explicit about this gap is more credible than overclaiming.</a:t>
                      </a:r>
                    </a:p>
                  </a:txBody>
                  <a:tcPr marL="137160" marR="137160" marT="54864" marB="54864">
                    <a:solidFill>
                      <a:srgbClr val="F0F4F8"/>
                    </a:solidFill>
                  </a:tcPr>
                </a:tc>
              </a:tr>
            </a:tbl>
          </a:graphicData>
        </a:graphic>
      </p:graphicFrame>
      <p:sp>
        <p:nvSpPr>
          <p:cNvPr id="7" name="TextBox 6"/>
          <p:cNvSpPr txBox="1"/>
          <p:nvPr/>
        </p:nvSpPr>
        <p:spPr>
          <a:xfrm>
            <a:off x="731520" y="6446520"/>
            <a:ext cx="10698480" cy="320040"/>
          </a:xfrm>
          <a:prstGeom prst="rect">
            <a:avLst/>
          </a:prstGeom>
          <a:noFill/>
        </p:spPr>
        <p:txBody>
          <a:bodyPr wrap="square">
            <a:spAutoFit/>
          </a:bodyPr>
          <a:lstStyle/>
          <a:p>
            <a:pPr algn="l">
              <a:lnSpc>
                <a:spcPts val="1150"/>
              </a:lnSpc>
              <a:spcBef>
                <a:spcPts val="0"/>
              </a:spcBef>
              <a:spcAft>
                <a:spcPts val="400"/>
              </a:spcAft>
              <a:defRPr sz="1000" b="0">
                <a:solidFill>
                  <a:srgbClr val="A0AEC0"/>
                </a:solidFill>
                <a:latin typeface="Calibri"/>
              </a:defRPr>
            </a:pPr>
            <a:r>
              <a:t>Sections refer to the main architecture document. All implementations are in this repository.</a:t>
            </a:r>
          </a:p>
        </p:txBody>
      </p:sp>
      <p:sp>
        <p:nvSpPr>
          <p:cNvPr id="8" name="TextBox 7"/>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NIST AI RMF Functions → Our Implementation</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A direct 1:1 mapping — each NIST function has a concrete counterpart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1645920" cy="54864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1645920" cy="365760"/>
          </a:xfrm>
          <a:prstGeom prst="rect">
            <a:avLst/>
          </a:prstGeom>
          <a:noFill/>
        </p:spPr>
        <p:txBody>
          <a:bodyPr wrap="square">
            <a:spAutoFit/>
          </a:bodyPr>
          <a:lstStyle/>
          <a:p>
            <a:pPr algn="ctr">
              <a:lnSpc>
                <a:spcPts val="1839"/>
              </a:lnSpc>
              <a:spcBef>
                <a:spcPts val="0"/>
              </a:spcBef>
              <a:spcAft>
                <a:spcPts val="400"/>
              </a:spcAft>
              <a:defRPr sz="1600" b="1">
                <a:solidFill>
                  <a:srgbClr val="FFFFFF"/>
                </a:solidFill>
                <a:latin typeface="Calibri"/>
              </a:defRPr>
            </a:pPr>
            <a:r>
              <a:t>GOVERN</a:t>
            </a:r>
          </a:p>
        </p:txBody>
      </p:sp>
      <p:sp>
        <p:nvSpPr>
          <p:cNvPr id="8" name="TextBox 7"/>
          <p:cNvSpPr txBox="1"/>
          <p:nvPr/>
        </p:nvSpPr>
        <p:spPr>
          <a:xfrm>
            <a:off x="2560320" y="1783080"/>
            <a:ext cx="457200" cy="365760"/>
          </a:xfrm>
          <a:prstGeom prst="rect">
            <a:avLst/>
          </a:prstGeom>
          <a:noFill/>
        </p:spPr>
        <p:txBody>
          <a:bodyPr wrap="square">
            <a:spAutoFit/>
          </a:bodyPr>
          <a:lstStyle/>
          <a:p>
            <a:pPr algn="ctr">
              <a:lnSpc>
                <a:spcPts val="2529"/>
              </a:lnSpc>
              <a:spcBef>
                <a:spcPts val="0"/>
              </a:spcBef>
              <a:spcAft>
                <a:spcPts val="400"/>
              </a:spcAft>
              <a:defRPr sz="2200" b="1">
                <a:solidFill>
                  <a:srgbClr val="00897B"/>
                </a:solidFill>
                <a:latin typeface="Calibri"/>
              </a:defRPr>
            </a:pPr>
            <a:r>
              <a:t>→</a:t>
            </a:r>
          </a:p>
        </p:txBody>
      </p:sp>
      <p:sp>
        <p:nvSpPr>
          <p:cNvPr id="9" name="Rounded Rectangle 8"/>
          <p:cNvSpPr/>
          <p:nvPr/>
        </p:nvSpPr>
        <p:spPr>
          <a:xfrm>
            <a:off x="3108960" y="1691640"/>
            <a:ext cx="4572000" cy="868680"/>
          </a:xfrm>
          <a:prstGeom prst="roundRect">
            <a:avLst/>
          </a:prstGeom>
          <a:solidFill>
            <a:srgbClr val="FFFFFF"/>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6120" y="1764792"/>
            <a:ext cx="4297680" cy="182880"/>
          </a:xfrm>
          <a:prstGeom prst="rect">
            <a:avLst/>
          </a:prstGeom>
          <a:noFill/>
        </p:spPr>
        <p:txBody>
          <a:bodyPr wrap="square">
            <a:spAutoFit/>
          </a:bodyPr>
          <a:lstStyle/>
          <a:p>
            <a:pPr algn="l">
              <a:lnSpc>
                <a:spcPts val="1035"/>
              </a:lnSpc>
              <a:spcBef>
                <a:spcPts val="0"/>
              </a:spcBef>
              <a:spcAft>
                <a:spcPts val="400"/>
              </a:spcAft>
              <a:defRPr sz="900" b="1">
                <a:solidFill>
                  <a:srgbClr val="00897B"/>
                </a:solidFill>
                <a:latin typeface="Calibri"/>
              </a:defRPr>
            </a:pPr>
            <a:r>
              <a:t>OUR IMPLEMENTATION</a:t>
            </a:r>
          </a:p>
        </p:txBody>
      </p:sp>
      <p:sp>
        <p:nvSpPr>
          <p:cNvPr id="11" name="TextBox 10"/>
          <p:cNvSpPr txBox="1"/>
          <p:nvPr/>
        </p:nvSpPr>
        <p:spPr>
          <a:xfrm>
            <a:off x="3246120" y="1947672"/>
            <a:ext cx="4297680" cy="548640"/>
          </a:xfrm>
          <a:prstGeom prst="rect">
            <a:avLst/>
          </a:prstGeom>
          <a:noFill/>
        </p:spPr>
        <p:txBody>
          <a:bodyPr wrap="square">
            <a:spAutoFit/>
          </a:bodyPr>
          <a:lstStyle/>
          <a:p>
            <a:pPr algn="l">
              <a:lnSpc>
                <a:spcPts val="1690"/>
              </a:lnSpc>
              <a:spcAft>
                <a:spcPts val="400"/>
              </a:spcAft>
              <a:defRPr sz="1300">
                <a:solidFill>
                  <a:srgbClr val="2D3748"/>
                </a:solidFill>
                <a:latin typeface="Calibri"/>
              </a:defRPr>
            </a:pPr>
            <a:r>
              <a:t>Policy documents, accountability</a:t>
            </a:r>
          </a:p>
          <a:p>
            <a:pPr algn="l">
              <a:lnSpc>
                <a:spcPts val="1690"/>
              </a:lnSpc>
              <a:spcAft>
                <a:spcPts val="400"/>
              </a:spcAft>
              <a:defRPr sz="1300">
                <a:solidFill>
                  <a:srgbClr val="2D3748"/>
                </a:solidFill>
                <a:latin typeface="Calibri"/>
              </a:defRPr>
            </a:pPr>
            <a:r>
              <a:t>structure, risk appetite statements</a:t>
            </a:r>
          </a:p>
        </p:txBody>
      </p:sp>
      <p:sp>
        <p:nvSpPr>
          <p:cNvPr id="12" name="TextBox 11"/>
          <p:cNvSpPr txBox="1"/>
          <p:nvPr/>
        </p:nvSpPr>
        <p:spPr>
          <a:xfrm>
            <a:off x="8046720" y="1764792"/>
            <a:ext cx="3474720" cy="228600"/>
          </a:xfrm>
          <a:prstGeom prst="rect">
            <a:avLst/>
          </a:prstGeom>
          <a:noFill/>
        </p:spPr>
        <p:txBody>
          <a:bodyPr wrap="square">
            <a:spAutoFit/>
          </a:bodyPr>
          <a:lstStyle/>
          <a:p>
            <a:pPr algn="l">
              <a:lnSpc>
                <a:spcPts val="1035"/>
              </a:lnSpc>
              <a:spcBef>
                <a:spcPts val="0"/>
              </a:spcBef>
              <a:spcAft>
                <a:spcPts val="400"/>
              </a:spcAft>
              <a:defRPr sz="900" b="1">
                <a:solidFill>
                  <a:srgbClr val="A0AEC0"/>
                </a:solidFill>
                <a:latin typeface="Calibri"/>
              </a:defRPr>
            </a:pPr>
            <a:r>
              <a:t>NIST DEFINITION</a:t>
            </a:r>
          </a:p>
        </p:txBody>
      </p:sp>
      <p:sp>
        <p:nvSpPr>
          <p:cNvPr id="13" name="TextBox 12"/>
          <p:cNvSpPr txBox="1"/>
          <p:nvPr/>
        </p:nvSpPr>
        <p:spPr>
          <a:xfrm>
            <a:off x="8046720" y="1947672"/>
            <a:ext cx="3474720" cy="548640"/>
          </a:xfrm>
          <a:prstGeom prst="rect">
            <a:avLst/>
          </a:prstGeom>
          <a:noFill/>
        </p:spPr>
        <p:txBody>
          <a:bodyPr wrap="square">
            <a:spAutoFit/>
          </a:bodyPr>
          <a:lstStyle/>
          <a:p>
            <a:pPr algn="l">
              <a:lnSpc>
                <a:spcPts val="1560"/>
              </a:lnSpc>
              <a:spcAft>
                <a:spcPts val="400"/>
              </a:spcAft>
              <a:defRPr sz="1200">
                <a:solidFill>
                  <a:srgbClr val="4A5568"/>
                </a:solidFill>
                <a:latin typeface="Calibri"/>
              </a:defRPr>
            </a:pPr>
            <a:r>
              <a:t>Establishes the organizational context</a:t>
            </a:r>
          </a:p>
          <a:p>
            <a:pPr algn="l">
              <a:lnSpc>
                <a:spcPts val="1560"/>
              </a:lnSpc>
              <a:spcAft>
                <a:spcPts val="400"/>
              </a:spcAft>
              <a:defRPr sz="1200">
                <a:solidFill>
                  <a:srgbClr val="4A5568"/>
                </a:solidFill>
                <a:latin typeface="Calibri"/>
              </a:defRPr>
            </a:pPr>
            <a:r>
              <a:t>and governance culture</a:t>
            </a:r>
          </a:p>
        </p:txBody>
      </p:sp>
      <p:sp>
        <p:nvSpPr>
          <p:cNvPr id="14" name="Rounded Rectangle 13"/>
          <p:cNvSpPr/>
          <p:nvPr/>
        </p:nvSpPr>
        <p:spPr>
          <a:xfrm>
            <a:off x="731520" y="2926080"/>
            <a:ext cx="1645920" cy="54864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17520"/>
            <a:ext cx="1645920" cy="365760"/>
          </a:xfrm>
          <a:prstGeom prst="rect">
            <a:avLst/>
          </a:prstGeom>
          <a:noFill/>
        </p:spPr>
        <p:txBody>
          <a:bodyPr wrap="square">
            <a:spAutoFit/>
          </a:bodyPr>
          <a:lstStyle/>
          <a:p>
            <a:pPr algn="ctr">
              <a:lnSpc>
                <a:spcPts val="1839"/>
              </a:lnSpc>
              <a:spcBef>
                <a:spcPts val="0"/>
              </a:spcBef>
              <a:spcAft>
                <a:spcPts val="400"/>
              </a:spcAft>
              <a:defRPr sz="1600" b="1">
                <a:solidFill>
                  <a:srgbClr val="FFFFFF"/>
                </a:solidFill>
                <a:latin typeface="Calibri"/>
              </a:defRPr>
            </a:pPr>
            <a:r>
              <a:t>MAP</a:t>
            </a:r>
          </a:p>
        </p:txBody>
      </p:sp>
      <p:sp>
        <p:nvSpPr>
          <p:cNvPr id="16" name="TextBox 15"/>
          <p:cNvSpPr txBox="1"/>
          <p:nvPr/>
        </p:nvSpPr>
        <p:spPr>
          <a:xfrm>
            <a:off x="2560320" y="3017520"/>
            <a:ext cx="457200" cy="365760"/>
          </a:xfrm>
          <a:prstGeom prst="rect">
            <a:avLst/>
          </a:prstGeom>
          <a:noFill/>
        </p:spPr>
        <p:txBody>
          <a:bodyPr wrap="square">
            <a:spAutoFit/>
          </a:bodyPr>
          <a:lstStyle/>
          <a:p>
            <a:pPr algn="ctr">
              <a:lnSpc>
                <a:spcPts val="2529"/>
              </a:lnSpc>
              <a:spcBef>
                <a:spcPts val="0"/>
              </a:spcBef>
              <a:spcAft>
                <a:spcPts val="400"/>
              </a:spcAft>
              <a:defRPr sz="2200" b="1">
                <a:solidFill>
                  <a:srgbClr val="00897B"/>
                </a:solidFill>
                <a:latin typeface="Calibri"/>
              </a:defRPr>
            </a:pPr>
            <a:r>
              <a:t>→</a:t>
            </a:r>
          </a:p>
        </p:txBody>
      </p:sp>
      <p:sp>
        <p:nvSpPr>
          <p:cNvPr id="17" name="Rounded Rectangle 16"/>
          <p:cNvSpPr/>
          <p:nvPr/>
        </p:nvSpPr>
        <p:spPr>
          <a:xfrm>
            <a:off x="3108960" y="2926080"/>
            <a:ext cx="4572000" cy="868680"/>
          </a:xfrm>
          <a:prstGeom prst="roundRect">
            <a:avLst/>
          </a:prstGeom>
          <a:solidFill>
            <a:srgbClr val="FFFFFF"/>
          </a:solidFill>
          <a:ln w="127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6120" y="2999232"/>
            <a:ext cx="4297680" cy="182880"/>
          </a:xfrm>
          <a:prstGeom prst="rect">
            <a:avLst/>
          </a:prstGeom>
          <a:noFill/>
        </p:spPr>
        <p:txBody>
          <a:bodyPr wrap="square">
            <a:spAutoFit/>
          </a:bodyPr>
          <a:lstStyle/>
          <a:p>
            <a:pPr algn="l">
              <a:lnSpc>
                <a:spcPts val="1035"/>
              </a:lnSpc>
              <a:spcBef>
                <a:spcPts val="0"/>
              </a:spcBef>
              <a:spcAft>
                <a:spcPts val="400"/>
              </a:spcAft>
              <a:defRPr sz="900" b="1">
                <a:solidFill>
                  <a:srgbClr val="FF8F00"/>
                </a:solidFill>
                <a:latin typeface="Calibri"/>
              </a:defRPr>
            </a:pPr>
            <a:r>
              <a:t>OUR IMPLEMENTATION</a:t>
            </a:r>
          </a:p>
        </p:txBody>
      </p:sp>
      <p:sp>
        <p:nvSpPr>
          <p:cNvPr id="19" name="TextBox 18"/>
          <p:cNvSpPr txBox="1"/>
          <p:nvPr/>
        </p:nvSpPr>
        <p:spPr>
          <a:xfrm>
            <a:off x="3246120" y="3182112"/>
            <a:ext cx="4297680" cy="548640"/>
          </a:xfrm>
          <a:prstGeom prst="rect">
            <a:avLst/>
          </a:prstGeom>
          <a:noFill/>
        </p:spPr>
        <p:txBody>
          <a:bodyPr wrap="square">
            <a:spAutoFit/>
          </a:bodyPr>
          <a:lstStyle/>
          <a:p>
            <a:pPr algn="l">
              <a:lnSpc>
                <a:spcPts val="1690"/>
              </a:lnSpc>
              <a:spcAft>
                <a:spcPts val="400"/>
              </a:spcAft>
              <a:defRPr sz="1300">
                <a:solidFill>
                  <a:srgbClr val="2D3748"/>
                </a:solidFill>
                <a:latin typeface="Calibri"/>
              </a:defRPr>
            </a:pPr>
            <a:r>
              <a:t>Data classification tiers (Section 4),</a:t>
            </a:r>
          </a:p>
          <a:p>
            <a:pPr algn="l">
              <a:lnSpc>
                <a:spcPts val="1690"/>
              </a:lnSpc>
              <a:spcAft>
                <a:spcPts val="400"/>
              </a:spcAft>
              <a:defRPr sz="1300">
                <a:solidFill>
                  <a:srgbClr val="2D3748"/>
                </a:solidFill>
                <a:latin typeface="Calibri"/>
              </a:defRPr>
            </a:pPr>
            <a:r>
              <a:t>context definition, risk assessment</a:t>
            </a:r>
          </a:p>
        </p:txBody>
      </p:sp>
      <p:sp>
        <p:nvSpPr>
          <p:cNvPr id="20" name="TextBox 19"/>
          <p:cNvSpPr txBox="1"/>
          <p:nvPr/>
        </p:nvSpPr>
        <p:spPr>
          <a:xfrm>
            <a:off x="8046720" y="2999232"/>
            <a:ext cx="3474720" cy="228600"/>
          </a:xfrm>
          <a:prstGeom prst="rect">
            <a:avLst/>
          </a:prstGeom>
          <a:noFill/>
        </p:spPr>
        <p:txBody>
          <a:bodyPr wrap="square">
            <a:spAutoFit/>
          </a:bodyPr>
          <a:lstStyle/>
          <a:p>
            <a:pPr algn="l">
              <a:lnSpc>
                <a:spcPts val="1035"/>
              </a:lnSpc>
              <a:spcBef>
                <a:spcPts val="0"/>
              </a:spcBef>
              <a:spcAft>
                <a:spcPts val="400"/>
              </a:spcAft>
              <a:defRPr sz="900" b="1">
                <a:solidFill>
                  <a:srgbClr val="A0AEC0"/>
                </a:solidFill>
                <a:latin typeface="Calibri"/>
              </a:defRPr>
            </a:pPr>
            <a:r>
              <a:t>NIST DEFINITION</a:t>
            </a:r>
          </a:p>
        </p:txBody>
      </p:sp>
      <p:sp>
        <p:nvSpPr>
          <p:cNvPr id="21" name="TextBox 20"/>
          <p:cNvSpPr txBox="1"/>
          <p:nvPr/>
        </p:nvSpPr>
        <p:spPr>
          <a:xfrm>
            <a:off x="8046720" y="3182112"/>
            <a:ext cx="3474720" cy="548640"/>
          </a:xfrm>
          <a:prstGeom prst="rect">
            <a:avLst/>
          </a:prstGeom>
          <a:noFill/>
        </p:spPr>
        <p:txBody>
          <a:bodyPr wrap="square">
            <a:spAutoFit/>
          </a:bodyPr>
          <a:lstStyle/>
          <a:p>
            <a:pPr algn="l">
              <a:lnSpc>
                <a:spcPts val="1560"/>
              </a:lnSpc>
              <a:spcAft>
                <a:spcPts val="400"/>
              </a:spcAft>
              <a:defRPr sz="1200">
                <a:solidFill>
                  <a:srgbClr val="4A5568"/>
                </a:solidFill>
                <a:latin typeface="Calibri"/>
              </a:defRPr>
            </a:pPr>
            <a:r>
              <a:t>Understand the system's context,</a:t>
            </a:r>
          </a:p>
          <a:p>
            <a:pPr algn="l">
              <a:lnSpc>
                <a:spcPts val="1560"/>
              </a:lnSpc>
              <a:spcAft>
                <a:spcPts val="400"/>
              </a:spcAft>
              <a:defRPr sz="1200">
                <a:solidFill>
                  <a:srgbClr val="4A5568"/>
                </a:solidFill>
                <a:latin typeface="Calibri"/>
              </a:defRPr>
            </a:pPr>
            <a:r>
              <a:t>identify and categorize risks</a:t>
            </a:r>
          </a:p>
        </p:txBody>
      </p:sp>
      <p:sp>
        <p:nvSpPr>
          <p:cNvPr id="22" name="Rounded Rectangle 21"/>
          <p:cNvSpPr/>
          <p:nvPr/>
        </p:nvSpPr>
        <p:spPr>
          <a:xfrm>
            <a:off x="731520" y="4160520"/>
            <a:ext cx="1645920" cy="54864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251960"/>
            <a:ext cx="1645920" cy="365760"/>
          </a:xfrm>
          <a:prstGeom prst="rect">
            <a:avLst/>
          </a:prstGeom>
          <a:noFill/>
        </p:spPr>
        <p:txBody>
          <a:bodyPr wrap="square">
            <a:spAutoFit/>
          </a:bodyPr>
          <a:lstStyle/>
          <a:p>
            <a:pPr algn="ctr">
              <a:lnSpc>
                <a:spcPts val="1839"/>
              </a:lnSpc>
              <a:spcBef>
                <a:spcPts val="0"/>
              </a:spcBef>
              <a:spcAft>
                <a:spcPts val="400"/>
              </a:spcAft>
              <a:defRPr sz="1600" b="1">
                <a:solidFill>
                  <a:srgbClr val="FFFFFF"/>
                </a:solidFill>
                <a:latin typeface="Calibri"/>
              </a:defRPr>
            </a:pPr>
            <a:r>
              <a:t>MEASURE</a:t>
            </a:r>
          </a:p>
        </p:txBody>
      </p:sp>
      <p:sp>
        <p:nvSpPr>
          <p:cNvPr id="24" name="TextBox 23"/>
          <p:cNvSpPr txBox="1"/>
          <p:nvPr/>
        </p:nvSpPr>
        <p:spPr>
          <a:xfrm>
            <a:off x="2560320" y="4251960"/>
            <a:ext cx="457200" cy="365760"/>
          </a:xfrm>
          <a:prstGeom prst="rect">
            <a:avLst/>
          </a:prstGeom>
          <a:noFill/>
        </p:spPr>
        <p:txBody>
          <a:bodyPr wrap="square">
            <a:spAutoFit/>
          </a:bodyPr>
          <a:lstStyle/>
          <a:p>
            <a:pPr algn="ctr">
              <a:lnSpc>
                <a:spcPts val="2529"/>
              </a:lnSpc>
              <a:spcBef>
                <a:spcPts val="0"/>
              </a:spcBef>
              <a:spcAft>
                <a:spcPts val="400"/>
              </a:spcAft>
              <a:defRPr sz="2200" b="1">
                <a:solidFill>
                  <a:srgbClr val="00897B"/>
                </a:solidFill>
                <a:latin typeface="Calibri"/>
              </a:defRPr>
            </a:pPr>
            <a:r>
              <a:t>→</a:t>
            </a:r>
          </a:p>
        </p:txBody>
      </p:sp>
      <p:sp>
        <p:nvSpPr>
          <p:cNvPr id="25" name="Rounded Rectangle 24"/>
          <p:cNvSpPr/>
          <p:nvPr/>
        </p:nvSpPr>
        <p:spPr>
          <a:xfrm>
            <a:off x="3108960" y="4160520"/>
            <a:ext cx="4572000" cy="868680"/>
          </a:xfrm>
          <a:prstGeom prst="roundRect">
            <a:avLst/>
          </a:prstGeom>
          <a:solidFill>
            <a:srgbClr val="FFFFFF"/>
          </a:solidFill>
          <a:ln w="12700">
            <a:solidFill>
              <a:srgbClr val="6B4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46120" y="4233672"/>
            <a:ext cx="4297680" cy="182880"/>
          </a:xfrm>
          <a:prstGeom prst="rect">
            <a:avLst/>
          </a:prstGeom>
          <a:noFill/>
        </p:spPr>
        <p:txBody>
          <a:bodyPr wrap="square">
            <a:spAutoFit/>
          </a:bodyPr>
          <a:lstStyle/>
          <a:p>
            <a:pPr algn="l">
              <a:lnSpc>
                <a:spcPts val="1035"/>
              </a:lnSpc>
              <a:spcBef>
                <a:spcPts val="0"/>
              </a:spcBef>
              <a:spcAft>
                <a:spcPts val="400"/>
              </a:spcAft>
              <a:defRPr sz="900" b="1">
                <a:solidFill>
                  <a:srgbClr val="6B46C1"/>
                </a:solidFill>
                <a:latin typeface="Calibri"/>
              </a:defRPr>
            </a:pPr>
            <a:r>
              <a:t>OUR IMPLEMENTATION</a:t>
            </a:r>
          </a:p>
        </p:txBody>
      </p:sp>
      <p:sp>
        <p:nvSpPr>
          <p:cNvPr id="27" name="TextBox 26"/>
          <p:cNvSpPr txBox="1"/>
          <p:nvPr/>
        </p:nvSpPr>
        <p:spPr>
          <a:xfrm>
            <a:off x="3246120" y="4416552"/>
            <a:ext cx="4297680" cy="548640"/>
          </a:xfrm>
          <a:prstGeom prst="rect">
            <a:avLst/>
          </a:prstGeom>
          <a:noFill/>
        </p:spPr>
        <p:txBody>
          <a:bodyPr wrap="square">
            <a:spAutoFit/>
          </a:bodyPr>
          <a:lstStyle/>
          <a:p>
            <a:pPr algn="l">
              <a:lnSpc>
                <a:spcPts val="1690"/>
              </a:lnSpc>
              <a:spcAft>
                <a:spcPts val="400"/>
              </a:spcAft>
              <a:defRPr sz="1300">
                <a:solidFill>
                  <a:srgbClr val="2D3748"/>
                </a:solidFill>
                <a:latin typeface="Calibri"/>
              </a:defRPr>
            </a:pPr>
            <a:r>
              <a:t>Eval suite: fairness, robustness,</a:t>
            </a:r>
          </a:p>
          <a:p>
            <a:pPr algn="l">
              <a:lnSpc>
                <a:spcPts val="1690"/>
              </a:lnSpc>
              <a:spcAft>
                <a:spcPts val="400"/>
              </a:spcAft>
              <a:defRPr sz="1300">
                <a:solidFill>
                  <a:srgbClr val="2D3748"/>
                </a:solidFill>
                <a:latin typeface="Calibri"/>
              </a:defRPr>
            </a:pPr>
            <a:r>
              <a:t>groundedness, privacy checks</a:t>
            </a:r>
          </a:p>
        </p:txBody>
      </p:sp>
      <p:sp>
        <p:nvSpPr>
          <p:cNvPr id="28" name="TextBox 27"/>
          <p:cNvSpPr txBox="1"/>
          <p:nvPr/>
        </p:nvSpPr>
        <p:spPr>
          <a:xfrm>
            <a:off x="8046720" y="4233672"/>
            <a:ext cx="3474720" cy="228600"/>
          </a:xfrm>
          <a:prstGeom prst="rect">
            <a:avLst/>
          </a:prstGeom>
          <a:noFill/>
        </p:spPr>
        <p:txBody>
          <a:bodyPr wrap="square">
            <a:spAutoFit/>
          </a:bodyPr>
          <a:lstStyle/>
          <a:p>
            <a:pPr algn="l">
              <a:lnSpc>
                <a:spcPts val="1035"/>
              </a:lnSpc>
              <a:spcBef>
                <a:spcPts val="0"/>
              </a:spcBef>
              <a:spcAft>
                <a:spcPts val="400"/>
              </a:spcAft>
              <a:defRPr sz="900" b="1">
                <a:solidFill>
                  <a:srgbClr val="A0AEC0"/>
                </a:solidFill>
                <a:latin typeface="Calibri"/>
              </a:defRPr>
            </a:pPr>
            <a:r>
              <a:t>NIST DEFINITION</a:t>
            </a:r>
          </a:p>
        </p:txBody>
      </p:sp>
      <p:sp>
        <p:nvSpPr>
          <p:cNvPr id="29" name="TextBox 28"/>
          <p:cNvSpPr txBox="1"/>
          <p:nvPr/>
        </p:nvSpPr>
        <p:spPr>
          <a:xfrm>
            <a:off x="8046720" y="4416552"/>
            <a:ext cx="3474720" cy="548640"/>
          </a:xfrm>
          <a:prstGeom prst="rect">
            <a:avLst/>
          </a:prstGeom>
          <a:noFill/>
        </p:spPr>
        <p:txBody>
          <a:bodyPr wrap="square">
            <a:spAutoFit/>
          </a:bodyPr>
          <a:lstStyle/>
          <a:p>
            <a:pPr algn="l">
              <a:lnSpc>
                <a:spcPts val="1560"/>
              </a:lnSpc>
              <a:spcAft>
                <a:spcPts val="400"/>
              </a:spcAft>
              <a:defRPr sz="1200">
                <a:solidFill>
                  <a:srgbClr val="4A5568"/>
                </a:solidFill>
                <a:latin typeface="Calibri"/>
              </a:defRPr>
            </a:pPr>
            <a:r>
              <a:t>Quantitative and qualitative evaluation</a:t>
            </a:r>
          </a:p>
          <a:p>
            <a:pPr algn="l">
              <a:lnSpc>
                <a:spcPts val="1560"/>
              </a:lnSpc>
              <a:spcAft>
                <a:spcPts val="400"/>
              </a:spcAft>
              <a:defRPr sz="1200">
                <a:solidFill>
                  <a:srgbClr val="4A5568"/>
                </a:solidFill>
                <a:latin typeface="Calibri"/>
              </a:defRPr>
            </a:pPr>
            <a:r>
              <a:t>— continuous, not pre-deployment only</a:t>
            </a:r>
          </a:p>
        </p:txBody>
      </p:sp>
      <p:sp>
        <p:nvSpPr>
          <p:cNvPr id="30" name="Rounded Rectangle 29"/>
          <p:cNvSpPr/>
          <p:nvPr/>
        </p:nvSpPr>
        <p:spPr>
          <a:xfrm>
            <a:off x="731520" y="5394960"/>
            <a:ext cx="1645920" cy="54864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86400"/>
            <a:ext cx="1645920" cy="365760"/>
          </a:xfrm>
          <a:prstGeom prst="rect">
            <a:avLst/>
          </a:prstGeom>
          <a:noFill/>
        </p:spPr>
        <p:txBody>
          <a:bodyPr wrap="square">
            <a:spAutoFit/>
          </a:bodyPr>
          <a:lstStyle/>
          <a:p>
            <a:pPr algn="ctr">
              <a:lnSpc>
                <a:spcPts val="1839"/>
              </a:lnSpc>
              <a:spcBef>
                <a:spcPts val="0"/>
              </a:spcBef>
              <a:spcAft>
                <a:spcPts val="400"/>
              </a:spcAft>
              <a:defRPr sz="1600" b="1">
                <a:solidFill>
                  <a:srgbClr val="FFFFFF"/>
                </a:solidFill>
                <a:latin typeface="Calibri"/>
              </a:defRPr>
            </a:pPr>
            <a:r>
              <a:t>MANAGE</a:t>
            </a:r>
          </a:p>
        </p:txBody>
      </p:sp>
      <p:sp>
        <p:nvSpPr>
          <p:cNvPr id="32" name="TextBox 31"/>
          <p:cNvSpPr txBox="1"/>
          <p:nvPr/>
        </p:nvSpPr>
        <p:spPr>
          <a:xfrm>
            <a:off x="2560320" y="5486400"/>
            <a:ext cx="457200" cy="365760"/>
          </a:xfrm>
          <a:prstGeom prst="rect">
            <a:avLst/>
          </a:prstGeom>
          <a:noFill/>
        </p:spPr>
        <p:txBody>
          <a:bodyPr wrap="square">
            <a:spAutoFit/>
          </a:bodyPr>
          <a:lstStyle/>
          <a:p>
            <a:pPr algn="ctr">
              <a:lnSpc>
                <a:spcPts val="2529"/>
              </a:lnSpc>
              <a:spcBef>
                <a:spcPts val="0"/>
              </a:spcBef>
              <a:spcAft>
                <a:spcPts val="400"/>
              </a:spcAft>
              <a:defRPr sz="2200" b="1">
                <a:solidFill>
                  <a:srgbClr val="00897B"/>
                </a:solidFill>
                <a:latin typeface="Calibri"/>
              </a:defRPr>
            </a:pPr>
            <a:r>
              <a:t>→</a:t>
            </a:r>
          </a:p>
        </p:txBody>
      </p:sp>
      <p:sp>
        <p:nvSpPr>
          <p:cNvPr id="33" name="Rounded Rectangle 32"/>
          <p:cNvSpPr/>
          <p:nvPr/>
        </p:nvSpPr>
        <p:spPr>
          <a:xfrm>
            <a:off x="3108960" y="5394960"/>
            <a:ext cx="4572000" cy="868680"/>
          </a:xfrm>
          <a:prstGeom prst="roundRect">
            <a:avLst/>
          </a:prstGeom>
          <a:solidFill>
            <a:srgbClr val="FFFFFF"/>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6120" y="5468112"/>
            <a:ext cx="4297680" cy="182880"/>
          </a:xfrm>
          <a:prstGeom prst="rect">
            <a:avLst/>
          </a:prstGeom>
          <a:noFill/>
        </p:spPr>
        <p:txBody>
          <a:bodyPr wrap="square">
            <a:spAutoFit/>
          </a:bodyPr>
          <a:lstStyle/>
          <a:p>
            <a:pPr algn="l">
              <a:lnSpc>
                <a:spcPts val="1035"/>
              </a:lnSpc>
              <a:spcBef>
                <a:spcPts val="0"/>
              </a:spcBef>
              <a:spcAft>
                <a:spcPts val="400"/>
              </a:spcAft>
              <a:defRPr sz="900" b="1">
                <a:solidFill>
                  <a:srgbClr val="E53E3E"/>
                </a:solidFill>
                <a:latin typeface="Calibri"/>
              </a:defRPr>
            </a:pPr>
            <a:r>
              <a:t>OUR IMPLEMENTATION</a:t>
            </a:r>
          </a:p>
        </p:txBody>
      </p:sp>
      <p:sp>
        <p:nvSpPr>
          <p:cNvPr id="35" name="TextBox 34"/>
          <p:cNvSpPr txBox="1"/>
          <p:nvPr/>
        </p:nvSpPr>
        <p:spPr>
          <a:xfrm>
            <a:off x="3246120" y="5650992"/>
            <a:ext cx="4297680" cy="548640"/>
          </a:xfrm>
          <a:prstGeom prst="rect">
            <a:avLst/>
          </a:prstGeom>
          <a:noFill/>
        </p:spPr>
        <p:txBody>
          <a:bodyPr wrap="square">
            <a:spAutoFit/>
          </a:bodyPr>
          <a:lstStyle/>
          <a:p>
            <a:pPr algn="l">
              <a:lnSpc>
                <a:spcPts val="1690"/>
              </a:lnSpc>
              <a:spcAft>
                <a:spcPts val="400"/>
              </a:spcAft>
              <a:defRPr sz="1300">
                <a:solidFill>
                  <a:srgbClr val="2D3748"/>
                </a:solidFill>
                <a:latin typeface="Calibri"/>
              </a:defRPr>
            </a:pPr>
            <a:r>
              <a:t>Incident review loop (Section 13),</a:t>
            </a:r>
          </a:p>
          <a:p>
            <a:pPr algn="l">
              <a:lnSpc>
                <a:spcPts val="1690"/>
              </a:lnSpc>
              <a:spcAft>
                <a:spcPts val="400"/>
              </a:spcAft>
              <a:defRPr sz="1300">
                <a:solidFill>
                  <a:srgbClr val="2D3748"/>
                </a:solidFill>
                <a:latin typeface="Calibri"/>
              </a:defRPr>
            </a:pPr>
            <a:r>
              <a:t>continuous monitoring, HITL overrides</a:t>
            </a:r>
          </a:p>
        </p:txBody>
      </p:sp>
      <p:sp>
        <p:nvSpPr>
          <p:cNvPr id="36" name="TextBox 35"/>
          <p:cNvSpPr txBox="1"/>
          <p:nvPr/>
        </p:nvSpPr>
        <p:spPr>
          <a:xfrm>
            <a:off x="8046720" y="5468112"/>
            <a:ext cx="3474720" cy="228600"/>
          </a:xfrm>
          <a:prstGeom prst="rect">
            <a:avLst/>
          </a:prstGeom>
          <a:noFill/>
        </p:spPr>
        <p:txBody>
          <a:bodyPr wrap="square">
            <a:spAutoFit/>
          </a:bodyPr>
          <a:lstStyle/>
          <a:p>
            <a:pPr algn="l">
              <a:lnSpc>
                <a:spcPts val="1035"/>
              </a:lnSpc>
              <a:spcBef>
                <a:spcPts val="0"/>
              </a:spcBef>
              <a:spcAft>
                <a:spcPts val="400"/>
              </a:spcAft>
              <a:defRPr sz="900" b="1">
                <a:solidFill>
                  <a:srgbClr val="A0AEC0"/>
                </a:solidFill>
                <a:latin typeface="Calibri"/>
              </a:defRPr>
            </a:pPr>
            <a:r>
              <a:t>NIST DEFINITION</a:t>
            </a:r>
          </a:p>
        </p:txBody>
      </p:sp>
      <p:sp>
        <p:nvSpPr>
          <p:cNvPr id="37" name="TextBox 36"/>
          <p:cNvSpPr txBox="1"/>
          <p:nvPr/>
        </p:nvSpPr>
        <p:spPr>
          <a:xfrm>
            <a:off x="8046720" y="5650992"/>
            <a:ext cx="3474720" cy="548640"/>
          </a:xfrm>
          <a:prstGeom prst="rect">
            <a:avLst/>
          </a:prstGeom>
          <a:noFill/>
        </p:spPr>
        <p:txBody>
          <a:bodyPr wrap="square">
            <a:spAutoFit/>
          </a:bodyPr>
          <a:lstStyle/>
          <a:p>
            <a:pPr algn="l">
              <a:lnSpc>
                <a:spcPts val="1560"/>
              </a:lnSpc>
              <a:spcAft>
                <a:spcPts val="400"/>
              </a:spcAft>
              <a:defRPr sz="1200">
                <a:solidFill>
                  <a:srgbClr val="4A5568"/>
                </a:solidFill>
                <a:latin typeface="Calibri"/>
              </a:defRPr>
            </a:pPr>
            <a:r>
              <a:t>Risk treatment, response, and ongoing</a:t>
            </a:r>
          </a:p>
          <a:p>
            <a:pPr algn="l">
              <a:lnSpc>
                <a:spcPts val="1560"/>
              </a:lnSpc>
              <a:spcAft>
                <a:spcPts val="400"/>
              </a:spcAft>
              <a:defRPr sz="1200">
                <a:solidFill>
                  <a:srgbClr val="4A5568"/>
                </a:solidFill>
                <a:latin typeface="Calibri"/>
              </a:defRPr>
            </a:pPr>
            <a:r>
              <a:t>management based on measurement</a:t>
            </a:r>
          </a:p>
        </p:txBody>
      </p:sp>
      <p:sp>
        <p:nvSpPr>
          <p:cNvPr id="38" name="TextBox 37"/>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Bef>
                <a:spcPts val="0"/>
              </a:spcBef>
              <a:spcAft>
                <a:spcPts val="400"/>
              </a:spcAft>
              <a:defRPr sz="3000" b="1">
                <a:solidFill>
                  <a:srgbClr val="FFFFFF"/>
                </a:solidFill>
                <a:latin typeface="Calibri"/>
              </a:defRPr>
            </a:pPr>
            <a:r>
              <a:t>What We Don't Do (Yet)</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Bef>
                <a:spcPts val="0"/>
              </a:spcBef>
              <a:spcAft>
                <a:spcPts val="400"/>
              </a:spcAft>
              <a:defRPr sz="1400" b="0">
                <a:solidFill>
                  <a:srgbClr val="CCD5E0"/>
                </a:solidFill>
                <a:latin typeface="Calibri"/>
              </a:defRPr>
            </a:pPr>
            <a:r>
              <a:t>Being explicit about gaps is more credible than overclaiming</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73152" cy="1097280"/>
          </a:xfrm>
          <a:prstGeom prst="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28800"/>
            <a:ext cx="10058400" cy="320040"/>
          </a:xfrm>
          <a:prstGeom prst="rect">
            <a:avLst/>
          </a:prstGeom>
          <a:noFill/>
        </p:spPr>
        <p:txBody>
          <a:bodyPr wrap="square">
            <a:spAutoFit/>
          </a:bodyPr>
          <a:lstStyle/>
          <a:p>
            <a:pPr algn="l">
              <a:lnSpc>
                <a:spcPts val="2070"/>
              </a:lnSpc>
              <a:spcBef>
                <a:spcPts val="0"/>
              </a:spcBef>
              <a:spcAft>
                <a:spcPts val="400"/>
              </a:spcAft>
              <a:defRPr sz="1800" b="1">
                <a:solidFill>
                  <a:srgbClr val="2D3748"/>
                </a:solidFill>
                <a:latin typeface="Calibri"/>
              </a:defRPr>
            </a:pPr>
            <a:r>
              <a:t>No model-internals interpretability</a:t>
            </a:r>
          </a:p>
        </p:txBody>
      </p:sp>
      <p:sp>
        <p:nvSpPr>
          <p:cNvPr id="8" name="TextBox 7"/>
          <p:cNvSpPr txBox="1"/>
          <p:nvPr/>
        </p:nvSpPr>
        <p:spPr>
          <a:xfrm>
            <a:off x="1097280" y="2194560"/>
            <a:ext cx="10332720" cy="731520"/>
          </a:xfrm>
          <a:prstGeom prst="rect">
            <a:avLst/>
          </a:prstGeom>
          <a:noFill/>
        </p:spPr>
        <p:txBody>
          <a:bodyPr wrap="square">
            <a:spAutoFit/>
          </a:bodyPr>
          <a:lstStyle/>
          <a:p>
            <a:pPr algn="l">
              <a:lnSpc>
                <a:spcPts val="1959"/>
              </a:lnSpc>
              <a:spcBef>
                <a:spcPts val="0"/>
              </a:spcBef>
              <a:spcAft>
                <a:spcPts val="400"/>
              </a:spcAft>
              <a:defRPr sz="1400" b="0">
                <a:solidFill>
                  <a:srgbClr val="4A5568"/>
                </a:solidFill>
                <a:latin typeface="Calibri"/>
              </a:defRPr>
            </a:pPr>
            <a:r>
              <a:t>We have guardrails and governance — not SHAP/LIME integration or attention visualization. Our trustworthiness comes from system-level controls, not from peering inside the model. This is a legitimate architectural choice, not an omission, but it's worth naming explicitly.</a:t>
            </a:r>
          </a:p>
        </p:txBody>
      </p:sp>
      <p:sp>
        <p:nvSpPr>
          <p:cNvPr id="9" name="Rectangle 8"/>
          <p:cNvSpPr/>
          <p:nvPr/>
        </p:nvSpPr>
        <p:spPr>
          <a:xfrm>
            <a:off x="731520" y="3337560"/>
            <a:ext cx="73152" cy="1097280"/>
          </a:xfrm>
          <a:prstGeom prst="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337560"/>
            <a:ext cx="10058400" cy="320040"/>
          </a:xfrm>
          <a:prstGeom prst="rect">
            <a:avLst/>
          </a:prstGeom>
          <a:noFill/>
        </p:spPr>
        <p:txBody>
          <a:bodyPr wrap="square">
            <a:spAutoFit/>
          </a:bodyPr>
          <a:lstStyle/>
          <a:p>
            <a:pPr algn="l">
              <a:lnSpc>
                <a:spcPts val="2070"/>
              </a:lnSpc>
              <a:spcBef>
                <a:spcPts val="0"/>
              </a:spcBef>
              <a:spcAft>
                <a:spcPts val="400"/>
              </a:spcAft>
              <a:defRPr sz="1800" b="1">
                <a:solidFill>
                  <a:srgbClr val="2D3748"/>
                </a:solidFill>
                <a:latin typeface="Calibri"/>
              </a:defRPr>
            </a:pPr>
            <a:r>
              <a:t>Redaction ≠ Differential Privacy</a:t>
            </a:r>
          </a:p>
        </p:txBody>
      </p:sp>
      <p:sp>
        <p:nvSpPr>
          <p:cNvPr id="11" name="TextBox 10"/>
          <p:cNvSpPr txBox="1"/>
          <p:nvPr/>
        </p:nvSpPr>
        <p:spPr>
          <a:xfrm>
            <a:off x="1097280" y="3703320"/>
            <a:ext cx="10332720" cy="731520"/>
          </a:xfrm>
          <a:prstGeom prst="rect">
            <a:avLst/>
          </a:prstGeom>
          <a:noFill/>
        </p:spPr>
        <p:txBody>
          <a:bodyPr wrap="square">
            <a:spAutoFit/>
          </a:bodyPr>
          <a:lstStyle/>
          <a:p>
            <a:pPr algn="l">
              <a:lnSpc>
                <a:spcPts val="1959"/>
              </a:lnSpc>
              <a:spcBef>
                <a:spcPts val="0"/>
              </a:spcBef>
              <a:spcAft>
                <a:spcPts val="400"/>
              </a:spcAft>
              <a:defRPr sz="1400" b="0">
                <a:solidFill>
                  <a:srgbClr val="4A5568"/>
                </a:solidFill>
                <a:latin typeface="Calibri"/>
              </a:defRPr>
            </a:pPr>
            <a:r>
              <a:t>Our PII pipeline (Presidio) does detection and redaction/tokenization — this prevents PII from appearing in model inputs and outputs. It does NOT provide the formal mathematical guarantee of differential privacy. Different tools for different threat models; the honesty is in not conflating them.</a:t>
            </a:r>
          </a:p>
        </p:txBody>
      </p:sp>
      <p:sp>
        <p:nvSpPr>
          <p:cNvPr id="12" name="Rectangle 11"/>
          <p:cNvSpPr/>
          <p:nvPr/>
        </p:nvSpPr>
        <p:spPr>
          <a:xfrm>
            <a:off x="731520" y="4846320"/>
            <a:ext cx="73152" cy="1097280"/>
          </a:xfrm>
          <a:prstGeom prst="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46320"/>
            <a:ext cx="10058400" cy="320040"/>
          </a:xfrm>
          <a:prstGeom prst="rect">
            <a:avLst/>
          </a:prstGeom>
          <a:noFill/>
        </p:spPr>
        <p:txBody>
          <a:bodyPr wrap="square">
            <a:spAutoFit/>
          </a:bodyPr>
          <a:lstStyle/>
          <a:p>
            <a:pPr algn="l">
              <a:lnSpc>
                <a:spcPts val="2070"/>
              </a:lnSpc>
              <a:spcBef>
                <a:spcPts val="0"/>
              </a:spcBef>
              <a:spcAft>
                <a:spcPts val="400"/>
              </a:spcAft>
              <a:defRPr sz="1800" b="1">
                <a:solidFill>
                  <a:srgbClr val="2D3748"/>
                </a:solidFill>
                <a:latin typeface="Calibri"/>
              </a:defRPr>
            </a:pPr>
            <a:r>
              <a:t>Causal explanations are aspirational</a:t>
            </a:r>
          </a:p>
        </p:txBody>
      </p:sp>
      <p:sp>
        <p:nvSpPr>
          <p:cNvPr id="14" name="TextBox 13"/>
          <p:cNvSpPr txBox="1"/>
          <p:nvPr/>
        </p:nvSpPr>
        <p:spPr>
          <a:xfrm>
            <a:off x="1097280" y="5212080"/>
            <a:ext cx="10332720" cy="731520"/>
          </a:xfrm>
          <a:prstGeom prst="rect">
            <a:avLst/>
          </a:prstGeom>
          <a:noFill/>
        </p:spPr>
        <p:txBody>
          <a:bodyPr wrap="square">
            <a:spAutoFit/>
          </a:bodyPr>
          <a:lstStyle/>
          <a:p>
            <a:pPr algn="l">
              <a:lnSpc>
                <a:spcPts val="1959"/>
              </a:lnSpc>
              <a:spcBef>
                <a:spcPts val="0"/>
              </a:spcBef>
              <a:spcAft>
                <a:spcPts val="400"/>
              </a:spcAft>
              <a:defRPr sz="1400" b="0">
                <a:solidFill>
                  <a:srgbClr val="4A5568"/>
                </a:solidFill>
                <a:latin typeface="Calibri"/>
              </a:defRPr>
            </a:pPr>
            <a:r>
              <a:t>The XAI × Causal AI section described where the field is going. Our current system does not implement counterfactual explanation generation or causal graph-based reasoning. The practical takeaway from that section — 'ask whether an explanation is counterfactually testable' — is a review discipline we can adopt today without full causal infrastructure.</a:t>
            </a:r>
          </a:p>
        </p:txBody>
      </p:sp>
      <p:sp>
        <p:nvSpPr>
          <p:cNvPr id="15" name="TextBox 14"/>
          <p:cNvSpPr txBox="1"/>
          <p:nvPr/>
        </p:nvSpPr>
        <p:spPr>
          <a:xfrm>
            <a:off x="10789920" y="6400800"/>
            <a:ext cx="1097280" cy="365760"/>
          </a:xfrm>
          <a:prstGeom prst="rect">
            <a:avLst/>
          </a:prstGeom>
          <a:noFill/>
        </p:spPr>
        <p:txBody>
          <a:bodyPr wrap="square">
            <a:spAutoFit/>
          </a:bodyPr>
          <a:lstStyle/>
          <a:p>
            <a:pPr algn="r">
              <a:lnSpc>
                <a:spcPts val="1150"/>
              </a:lnSpc>
              <a:spcBef>
                <a:spcPts val="0"/>
              </a:spcBef>
              <a:spcAft>
                <a:spcPts val="400"/>
              </a:spcAft>
              <a:defRPr sz="1000" b="0">
                <a:solidFill>
                  <a:srgbClr val="A0AEC0"/>
                </a:solidFill>
                <a:latin typeface="Calibri"/>
              </a:defRPr>
            </a:pPr>
            <a:r>
              <a:t>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194560"/>
            <a:ext cx="73152" cy="18288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194560"/>
            <a:ext cx="10058400" cy="457200"/>
          </a:xfrm>
          <a:prstGeom prst="rect">
            <a:avLst/>
          </a:prstGeom>
          <a:noFill/>
        </p:spPr>
        <p:txBody>
          <a:bodyPr wrap="square">
            <a:spAutoFit/>
          </a:bodyPr>
          <a:lstStyle/>
          <a:p>
            <a:pPr algn="l">
              <a:lnSpc>
                <a:spcPts val="1839"/>
              </a:lnSpc>
              <a:spcBef>
                <a:spcPts val="0"/>
              </a:spcBef>
              <a:spcAft>
                <a:spcPts val="400"/>
              </a:spcAft>
              <a:defRPr sz="1600" b="1">
                <a:solidFill>
                  <a:srgbClr val="00897B"/>
                </a:solidFill>
                <a:latin typeface="Calibri"/>
              </a:defRPr>
            </a:pPr>
            <a:r>
              <a:t>DISCUSSION</a:t>
            </a:r>
          </a:p>
        </p:txBody>
      </p:sp>
      <p:sp>
        <p:nvSpPr>
          <p:cNvPr id="5" name="TextBox 4"/>
          <p:cNvSpPr txBox="1"/>
          <p:nvPr/>
        </p:nvSpPr>
        <p:spPr>
          <a:xfrm>
            <a:off x="1188720" y="2697480"/>
            <a:ext cx="10058400" cy="1097280"/>
          </a:xfrm>
          <a:prstGeom prst="rect">
            <a:avLst/>
          </a:prstGeom>
          <a:noFill/>
        </p:spPr>
        <p:txBody>
          <a:bodyPr wrap="square">
            <a:spAutoFit/>
          </a:bodyPr>
          <a:lstStyle/>
          <a:p>
            <a:pPr algn="l">
              <a:lnSpc>
                <a:spcPts val="4160"/>
              </a:lnSpc>
              <a:spcBef>
                <a:spcPts val="0"/>
              </a:spcBef>
              <a:spcAft>
                <a:spcPts val="400"/>
              </a:spcAft>
              <a:defRPr sz="3200" b="1">
                <a:solidFill>
                  <a:srgbClr val="FFFFFF"/>
                </a:solidFill>
                <a:latin typeface="Calibri"/>
              </a:defRPr>
            </a:pPr>
            <a:r>
              <a:t>Which of these seven characteristics</a:t>
            </a:r>
            <a:br/>
            <a:r>
              <a:t>is hardest to verify in your own</a:t>
            </a:r>
            <a:br/>
            <a:r>
              <a:t>team's systems today — and why?</a:t>
            </a:r>
          </a:p>
        </p:txBody>
      </p:sp>
      <p:sp>
        <p:nvSpPr>
          <p:cNvPr id="6" name="TextBox 5"/>
          <p:cNvSpPr txBox="1"/>
          <p:nvPr/>
        </p:nvSpPr>
        <p:spPr>
          <a:xfrm>
            <a:off x="1188720" y="4206240"/>
            <a:ext cx="10058400" cy="640080"/>
          </a:xfrm>
          <a:prstGeom prst="rect">
            <a:avLst/>
          </a:prstGeom>
          <a:noFill/>
        </p:spPr>
        <p:txBody>
          <a:bodyPr wrap="square">
            <a:spAutoFit/>
          </a:bodyPr>
          <a:lstStyle/>
          <a:p>
            <a:pPr algn="l">
              <a:lnSpc>
                <a:spcPts val="1725"/>
              </a:lnSpc>
              <a:spcBef>
                <a:spcPts val="0"/>
              </a:spcBef>
              <a:spcAft>
                <a:spcPts val="400"/>
              </a:spcAft>
              <a:defRPr sz="1500" b="0">
                <a:solidFill>
                  <a:srgbClr val="AAB5C5"/>
                </a:solidFill>
                <a:latin typeface="Calibri"/>
              </a:defRPr>
            </a:pPr>
            <a:r>
              <a:t>(No wrong answers — the goal is to surface where the gaps are,</a:t>
            </a:r>
            <a:br/>
            <a:r>
              <a:t>not to pretend every dimension is equally well-covered.)</a:t>
            </a:r>
          </a:p>
        </p:txBody>
      </p:sp>
      <p:sp>
        <p:nvSpPr>
          <p:cNvPr id="7" name="Rounded Rectangle 6"/>
          <p:cNvSpPr/>
          <p:nvPr/>
        </p:nvSpPr>
        <p:spPr>
          <a:xfrm>
            <a:off x="1188720" y="5120640"/>
            <a:ext cx="1371600" cy="685800"/>
          </a:xfrm>
          <a:prstGeom prst="roundRect">
            <a:avLst/>
          </a:prstGeom>
          <a:solidFill>
            <a:srgbClr val="2D3A55"/>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5148072"/>
            <a:ext cx="1188720" cy="640080"/>
          </a:xfrm>
          <a:prstGeom prst="rect">
            <a:avLst/>
          </a:prstGeom>
          <a:noFill/>
        </p:spPr>
        <p:txBody>
          <a:bodyPr wrap="square">
            <a:spAutoFit/>
          </a:bodyPr>
          <a:lstStyle/>
          <a:p>
            <a:pPr algn="ctr">
              <a:lnSpc>
                <a:spcPts val="1264"/>
              </a:lnSpc>
              <a:spcBef>
                <a:spcPts val="0"/>
              </a:spcBef>
              <a:spcAft>
                <a:spcPts val="400"/>
              </a:spcAft>
              <a:defRPr sz="1100" b="0">
                <a:solidFill>
                  <a:srgbClr val="CCD5E0"/>
                </a:solidFill>
                <a:latin typeface="Calibri"/>
              </a:defRPr>
            </a:pPr>
            <a:r>
              <a:t>Valid &amp;</a:t>
            </a:r>
            <a:br/>
            <a:r>
              <a:t>Reliable</a:t>
            </a:r>
          </a:p>
        </p:txBody>
      </p:sp>
      <p:sp>
        <p:nvSpPr>
          <p:cNvPr id="9" name="Rounded Rectangle 8"/>
          <p:cNvSpPr/>
          <p:nvPr/>
        </p:nvSpPr>
        <p:spPr>
          <a:xfrm>
            <a:off x="2743200" y="5120640"/>
            <a:ext cx="1371600" cy="685800"/>
          </a:xfrm>
          <a:prstGeom prst="roundRect">
            <a:avLst/>
          </a:prstGeom>
          <a:solidFill>
            <a:srgbClr val="2D3A55"/>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5148072"/>
            <a:ext cx="1188720" cy="640080"/>
          </a:xfrm>
          <a:prstGeom prst="rect">
            <a:avLst/>
          </a:prstGeom>
          <a:noFill/>
        </p:spPr>
        <p:txBody>
          <a:bodyPr wrap="square">
            <a:spAutoFit/>
          </a:bodyPr>
          <a:lstStyle/>
          <a:p>
            <a:pPr algn="ctr">
              <a:lnSpc>
                <a:spcPts val="1264"/>
              </a:lnSpc>
              <a:spcBef>
                <a:spcPts val="0"/>
              </a:spcBef>
              <a:spcAft>
                <a:spcPts val="400"/>
              </a:spcAft>
              <a:defRPr sz="1100" b="0">
                <a:solidFill>
                  <a:srgbClr val="CCD5E0"/>
                </a:solidFill>
                <a:latin typeface="Calibri"/>
              </a:defRPr>
            </a:pPr>
            <a:r>
              <a:t>Safe</a:t>
            </a:r>
          </a:p>
        </p:txBody>
      </p:sp>
      <p:sp>
        <p:nvSpPr>
          <p:cNvPr id="11" name="Rounded Rectangle 10"/>
          <p:cNvSpPr/>
          <p:nvPr/>
        </p:nvSpPr>
        <p:spPr>
          <a:xfrm>
            <a:off x="4297680" y="5120640"/>
            <a:ext cx="1371600" cy="685800"/>
          </a:xfrm>
          <a:prstGeom prst="roundRect">
            <a:avLst/>
          </a:prstGeom>
          <a:solidFill>
            <a:srgbClr val="2D3A55"/>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5148072"/>
            <a:ext cx="1188720" cy="640080"/>
          </a:xfrm>
          <a:prstGeom prst="rect">
            <a:avLst/>
          </a:prstGeom>
          <a:noFill/>
        </p:spPr>
        <p:txBody>
          <a:bodyPr wrap="square">
            <a:spAutoFit/>
          </a:bodyPr>
          <a:lstStyle/>
          <a:p>
            <a:pPr algn="ctr">
              <a:lnSpc>
                <a:spcPts val="1264"/>
              </a:lnSpc>
              <a:spcBef>
                <a:spcPts val="0"/>
              </a:spcBef>
              <a:spcAft>
                <a:spcPts val="400"/>
              </a:spcAft>
              <a:defRPr sz="1100" b="0">
                <a:solidFill>
                  <a:srgbClr val="CCD5E0"/>
                </a:solidFill>
                <a:latin typeface="Calibri"/>
              </a:defRPr>
            </a:pPr>
            <a:r>
              <a:t>Secure &amp;</a:t>
            </a:r>
            <a:br/>
            <a:r>
              <a:t>Resilient</a:t>
            </a:r>
          </a:p>
        </p:txBody>
      </p:sp>
      <p:sp>
        <p:nvSpPr>
          <p:cNvPr id="13" name="Rounded Rectangle 12"/>
          <p:cNvSpPr/>
          <p:nvPr/>
        </p:nvSpPr>
        <p:spPr>
          <a:xfrm>
            <a:off x="5852159" y="5120640"/>
            <a:ext cx="1371600" cy="685800"/>
          </a:xfrm>
          <a:prstGeom prst="roundRect">
            <a:avLst/>
          </a:prstGeom>
          <a:solidFill>
            <a:srgbClr val="2D3A55"/>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599" y="5148072"/>
            <a:ext cx="1188720" cy="640080"/>
          </a:xfrm>
          <a:prstGeom prst="rect">
            <a:avLst/>
          </a:prstGeom>
          <a:noFill/>
        </p:spPr>
        <p:txBody>
          <a:bodyPr wrap="square">
            <a:spAutoFit/>
          </a:bodyPr>
          <a:lstStyle/>
          <a:p>
            <a:pPr algn="ctr">
              <a:lnSpc>
                <a:spcPts val="1264"/>
              </a:lnSpc>
              <a:spcBef>
                <a:spcPts val="0"/>
              </a:spcBef>
              <a:spcAft>
                <a:spcPts val="400"/>
              </a:spcAft>
              <a:defRPr sz="1100" b="0">
                <a:solidFill>
                  <a:srgbClr val="CCD5E0"/>
                </a:solidFill>
                <a:latin typeface="Calibri"/>
              </a:defRPr>
            </a:pPr>
            <a:r>
              <a:t>Accountable &amp;</a:t>
            </a:r>
            <a:br/>
            <a:r>
              <a:t>Transparent</a:t>
            </a:r>
          </a:p>
        </p:txBody>
      </p:sp>
      <p:sp>
        <p:nvSpPr>
          <p:cNvPr id="15" name="Rounded Rectangle 14"/>
          <p:cNvSpPr/>
          <p:nvPr/>
        </p:nvSpPr>
        <p:spPr>
          <a:xfrm>
            <a:off x="7406640" y="5120640"/>
            <a:ext cx="1371600" cy="685800"/>
          </a:xfrm>
          <a:prstGeom prst="roundRect">
            <a:avLst/>
          </a:prstGeom>
          <a:solidFill>
            <a:srgbClr val="2D3A55"/>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5148072"/>
            <a:ext cx="1188720" cy="640080"/>
          </a:xfrm>
          <a:prstGeom prst="rect">
            <a:avLst/>
          </a:prstGeom>
          <a:noFill/>
        </p:spPr>
        <p:txBody>
          <a:bodyPr wrap="square">
            <a:spAutoFit/>
          </a:bodyPr>
          <a:lstStyle/>
          <a:p>
            <a:pPr algn="ctr">
              <a:lnSpc>
                <a:spcPts val="1264"/>
              </a:lnSpc>
              <a:spcBef>
                <a:spcPts val="0"/>
              </a:spcBef>
              <a:spcAft>
                <a:spcPts val="400"/>
              </a:spcAft>
              <a:defRPr sz="1100" b="0">
                <a:solidFill>
                  <a:srgbClr val="CCD5E0"/>
                </a:solidFill>
                <a:latin typeface="Calibri"/>
              </a:defRPr>
            </a:pPr>
            <a:r>
              <a:t>Explainable &amp;</a:t>
            </a:r>
            <a:br/>
            <a:r>
              <a:t>Interpretable</a:t>
            </a:r>
          </a:p>
        </p:txBody>
      </p:sp>
      <p:sp>
        <p:nvSpPr>
          <p:cNvPr id="17" name="Rounded Rectangle 16"/>
          <p:cNvSpPr/>
          <p:nvPr/>
        </p:nvSpPr>
        <p:spPr>
          <a:xfrm>
            <a:off x="8961120" y="5120640"/>
            <a:ext cx="1371600" cy="685800"/>
          </a:xfrm>
          <a:prstGeom prst="roundRect">
            <a:avLst/>
          </a:prstGeom>
          <a:solidFill>
            <a:srgbClr val="2D3A55"/>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5148072"/>
            <a:ext cx="1188720" cy="640080"/>
          </a:xfrm>
          <a:prstGeom prst="rect">
            <a:avLst/>
          </a:prstGeom>
          <a:noFill/>
        </p:spPr>
        <p:txBody>
          <a:bodyPr wrap="square">
            <a:spAutoFit/>
          </a:bodyPr>
          <a:lstStyle/>
          <a:p>
            <a:pPr algn="ctr">
              <a:lnSpc>
                <a:spcPts val="1264"/>
              </a:lnSpc>
              <a:spcBef>
                <a:spcPts val="0"/>
              </a:spcBef>
              <a:spcAft>
                <a:spcPts val="400"/>
              </a:spcAft>
              <a:defRPr sz="1100" b="0">
                <a:solidFill>
                  <a:srgbClr val="CCD5E0"/>
                </a:solidFill>
                <a:latin typeface="Calibri"/>
              </a:defRPr>
            </a:pPr>
            <a:r>
              <a:t>Privacy-</a:t>
            </a:r>
            <a:br/>
            <a:r>
              <a:t>Enhanced</a:t>
            </a:r>
          </a:p>
        </p:txBody>
      </p:sp>
      <p:sp>
        <p:nvSpPr>
          <p:cNvPr id="19" name="Rounded Rectangle 18"/>
          <p:cNvSpPr/>
          <p:nvPr/>
        </p:nvSpPr>
        <p:spPr>
          <a:xfrm>
            <a:off x="10515600" y="5120640"/>
            <a:ext cx="1371600" cy="685800"/>
          </a:xfrm>
          <a:prstGeom prst="roundRect">
            <a:avLst/>
          </a:prstGeom>
          <a:solidFill>
            <a:srgbClr val="2D3A55"/>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07040" y="5148072"/>
            <a:ext cx="1188720" cy="640080"/>
          </a:xfrm>
          <a:prstGeom prst="rect">
            <a:avLst/>
          </a:prstGeom>
          <a:noFill/>
        </p:spPr>
        <p:txBody>
          <a:bodyPr wrap="square">
            <a:spAutoFit/>
          </a:bodyPr>
          <a:lstStyle/>
          <a:p>
            <a:pPr algn="ctr">
              <a:lnSpc>
                <a:spcPts val="1264"/>
              </a:lnSpc>
              <a:spcBef>
                <a:spcPts val="0"/>
              </a:spcBef>
              <a:spcAft>
                <a:spcPts val="400"/>
              </a:spcAft>
              <a:defRPr sz="1100" b="0">
                <a:solidFill>
                  <a:srgbClr val="CCD5E0"/>
                </a:solidFill>
                <a:latin typeface="Calibri"/>
              </a:defRPr>
            </a:pPr>
            <a:r>
              <a:t>Fair</a:t>
            </a:r>
          </a:p>
        </p:txBody>
      </p:sp>
      <p:sp>
        <p:nvSpPr>
          <p:cNvPr id="21" name="TextBox 20"/>
          <p:cNvSpPr txBox="1"/>
          <p:nvPr/>
        </p:nvSpPr>
        <p:spPr>
          <a:xfrm>
            <a:off x="1188720" y="6126480"/>
            <a:ext cx="10058400" cy="365760"/>
          </a:xfrm>
          <a:prstGeom prst="rect">
            <a:avLst/>
          </a:prstGeom>
          <a:noFill/>
        </p:spPr>
        <p:txBody>
          <a:bodyPr wrap="square">
            <a:spAutoFit/>
          </a:bodyPr>
          <a:lstStyle/>
          <a:p>
            <a:pPr algn="l">
              <a:lnSpc>
                <a:spcPts val="1609"/>
              </a:lnSpc>
              <a:spcBef>
                <a:spcPts val="0"/>
              </a:spcBef>
              <a:spcAft>
                <a:spcPts val="400"/>
              </a:spcAft>
              <a:defRPr sz="1400" b="0">
                <a:solidFill>
                  <a:srgbClr val="A0AEC0"/>
                </a:solidFill>
                <a:latin typeface="Calibri"/>
              </a:defRPr>
            </a:pPr>
            <a:r>
              <a:t>Thank you. Questions, challenges, and pushback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