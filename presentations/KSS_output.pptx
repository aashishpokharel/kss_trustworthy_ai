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3" r:id="rId9"/>
    <p:sldId id="260" r:id="rId10"/>
    <p:sldId id="264" r:id="rId11"/>
    <p:sldId id="261"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62" r:id="rId26"/>
    <p:sldId id="278" r:id="rId27"/>
    <p:sldId id="279" r:id="rId28"/>
  </p:sldIdLst>
  <p:sldSz cx="9144000" cy="5143500"/>
  <p:notesSz cx="6858000" cy="9144000"/>
  <p:embeddedFontLst>
    <p:embeddedFont>
      <p:font typeface="Montserrat"/>
      <p:regular r:id="rId32"/>
      <p:bold r:id="rId33"/>
      <p:italic r:id="rId34"/>
    </p:embeddedFont>
    <p:embeddedFont>
      <p:font typeface="Calibri" panose="020F0502020204030204"/>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g3a1302c6c6a_4_1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Welcome everyone. Today's session is about Trustworthy AI — not as a buzzword, but as an engineering discipline with concrete properties we can measure, verify, and build against. We'll work through what trustworthy AI actually means under the NIST AI RMF definition, why explainability alone isn't enough, the six core principles, how they connect to causal reasoning, and then ground everything in what our codebase actually implements against each principle.</a:t>
            </a:r>
          </a:p>
        </p:txBody>
      </p:sp>
      <p:sp>
        <p:nvSpPr>
          <p:cNvPr id="162" name="Google Shape;162;g3a1302c6c6a_4_11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g3a1302c6c6a_4_11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t>Six sections today, each building on the last. We start with motivation — why this isn't optional anymore — then the conceptual hinge: why the industry's default answer ('just make it explainable') isn't sufficient. From there we build up the actual principles, map the vocabulary, connect to causal reasoning, and then ground everything in our implementation.</a:t>
            </a:r>
          </a:p>
        </p:txBody>
      </p:sp>
      <p:sp>
        <p:nvSpPr>
          <p:cNvPr id="167" name="Google Shape;167;g3a1302c6c6a_4_11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g3a24d489fac_1_27: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t>Agenda continued: the Core Principles section covers all six NIST-aligned principles one slide per principle with definition, failure modes, and concrete techniques. XAI × Causal AI explores why production XAI methods explain correlation, not causation. The final section maps every concept back to our actual codebase implementation.</a:t>
            </a:r>
          </a:p>
        </p:txBody>
      </p:sp>
      <p:sp>
        <p:nvSpPr>
          <p:cNvPr id="183" name="Google Shape;183;g3a24d489fac_1_2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g3a1302c6c6a_4_1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a1302c6c6a_4_17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Let's anchor on a precise definition immediately. The NIST AI Risk Management Framework defines trustworthy AI through seven characteristics. I want to call out explicitly: explainability is ONE of seven — not the whole definition. A lot of industry discourse treats 'explainable' as synonymous with 'trustworthy,' and that conflation is exactly what we'll unpack next.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concrete categories. Silent failure: hallucination is the canonical example. Adversarial failure: the model itself is functioning as designed — the input distribution has been weaponized. Systemic failure: disparate impact is the canonical example; you can't evaluate trustworthiness one prediction at a time.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g3a24d489fac_1_6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a24d489fac_1_6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fundamental shift: AI moved from recommending movies to making consequential decisions. Three concrete failure categories. Silent failure: the model is confidently wrong with no error signal. Adversarial failure: a bad actor deliberately manipulates the system. Systemic failure: individually correct predictions producing disparate impact across a protected group.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Regulation is a driver, not just ethics. EU AI Act is binding law — most rules effective August 2026. NIST AI RMF is voluntary but globally referenced. The four functions give you an operational cycle. These frameworks are complementary.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6" name="Shape 216"/>
        <p:cNvGrpSpPr/>
        <p:nvPr/>
      </p:nvGrpSpPr>
      <p:grpSpPr>
        <a:xfrm>
          <a:off x="0" y="0"/>
          <a:ext cx="0" cy="0"/>
          <a:chOff x="0" y="0"/>
          <a:chExt cx="0" cy="0"/>
        </a:xfrm>
      </p:grpSpPr>
      <p:sp>
        <p:nvSpPr>
          <p:cNvPr id="217" name="Google Shape;217;g3a24d489fac_1_92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a24d489fac_1_92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is the conceptual hinge. The historical assumption was reasonable when models were simpler. It doesn't hold anymore. Five distinct failure modes, each with concrete examples. Walk through each 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Five distinct reasons the old assumption breaks down. Walk each one. This is the conceptual hinge of the entire talk — spend real time here.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particularly hard problems. Left: LLMs can hallucinate explanations — treat model self-reported reasoning as signal, not ground truth. Right: explainability and robustness are separate dimensions. You need dedicated adversarial testing infrastructure.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reframe: the old model was 'make it explainable = done.' The new model: explainability is one input to a trust judgment among many. A trust judgment without these other inputs is incomplete — sometimes dangerously so.</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Fairness is the most philosophically complex principle — it sits at the intersection of technical metrics and normative values. The impossibility result is worth sitting with: you generally cannot satisfy all fairness metrics simultaneously. Choosing a metric is inherently a normative decision. Source: NIST AI RMF; Kleinberg et al. (2016).</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one of the most important distinctions in the entire talk. Transparency and explainability get used interchangeably constantly. A model can be explainable without being transparent, and vice versa. Sources: Mitchell et al. (2019); Gebru et al. (2018).</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Accountability is the principle most likely to be overlooked by technical teams because it's not a dashboard metric. But it's the answer to 'who is answerable when this system causes harm.' Our implementation: HITL approval queue surfaces model reasoning vs. action divergence.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Robustness is about how the model behaves when things go wrong. Two sub-dimensions requiring different testing strategies. LLMs introduce novel attack surfaces. Our implementation: red-team harness with Garak/PyRIT. Source: NIST AI 600-1.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Privacy is where precision of language matters most. Conflation here creates false confidence. Our implementation: PII redaction with Presidio. We should be honest: this is redaction, not formal DP. Sources: Dwork &amp; Roth; Presidio documentation.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Reliability is the temporal dimension of trustworthiness. A model that passes eval at deployment but silently degrades is not reliable. This is why NIST's Measure function is continuous. Our implementation: groundedness checks, scheduled eval cadence.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Vocabulary map showing relationships, not definitions. None of these terms is independent. Adversarial robustness without accountability is a technical exercise. Regulation without ethics is compliance theater. They form an interconnected system.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deepest section conceptually. Production XAI methods explain association, not causation. A correlational explanation can be right for the wrong reason. Causal explanations add counterfactual reasoning and mechanism-tied explanations. Practical framing: even asking 'is this counterfactually testable?' raises the bar.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Bridge slide connecting the conceptual deep-dive to practical application. Three beats: explainability is necessary but not sufficient, causal reasoning is the upgrade, and system-level trust is where we land. This is the transition moment — we've built the theory, now let's see the practice.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Reference slide — not reading aloud. All primary sources cited in the talk. Molnar's book and NIST framework are free online.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g3a24d489fac_1_8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a24d489fac_1_8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table is the payoff — every principle mapped to actual implementation. Walk through each row, connecting back to the relevant principle slide. The last row is the honesty row: we do NOT do model-internals interpretability.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Internal sessions are most valuable when honest. Three gaps to name explicitly. This is more credible than overclaiming.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Final slide — designed to start a conversation, not end one. The question is specific enough for concrete answers, open-ended with no right answer, and normalizes that every team has gaps. Offer your own answer first to break the ice.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Title slide">
  <p:cSld name="TITLE">
    <p:bg>
      <p:bgPr>
        <a:blipFill>
          <a:blip r:embed="rId2"/>
          <a:stretch>
            <a:fillRect/>
          </a:stretch>
        </a:blipFill>
        <a:effectLst/>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FFFFFF"/>
              </a:buClr>
              <a:buSzPts val="3400"/>
              <a:buNone/>
              <a:defRPr sz="3400" b="1">
                <a:solidFill>
                  <a:srgbClr val="FFFFFF"/>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FFFFFF"/>
              </a:buClr>
              <a:buSzPts val="2600"/>
              <a:buNone/>
              <a:defRPr sz="2600">
                <a:solidFill>
                  <a:srgbClr val="FFFFFF"/>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58" name="Shape 58"/>
        <p:cNvGrpSpPr/>
        <p:nvPr/>
      </p:nvGrpSpPr>
      <p:grpSpPr>
        <a:xfrm>
          <a:off x="0" y="0"/>
          <a:ext cx="0" cy="0"/>
          <a:chOff x="0" y="0"/>
          <a:chExt cx="0" cy="0"/>
        </a:xfrm>
      </p:grpSpPr>
      <p:sp>
        <p:nvSpPr>
          <p:cNvPr id="59" name="Google Shape;59;p15"/>
          <p:cNvSpPr txBox="1"/>
          <p:nvPr>
            <p:ph type="title"/>
          </p:nvPr>
        </p:nvSpPr>
        <p:spPr>
          <a:xfrm>
            <a:off x="457200" y="205979"/>
            <a:ext cx="8229600" cy="8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5"/>
          <p:cNvSpPr txBox="1"/>
          <p:nvPr>
            <p:ph type="body" idx="1"/>
          </p:nvPr>
        </p:nvSpPr>
        <p:spPr>
          <a:xfrm>
            <a:off x="457200" y="1200151"/>
            <a:ext cx="8229600" cy="33945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61" name="Google Shape;61;p15"/>
          <p:cNvSpPr txBox="1"/>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62" name="Google Shape;62;p15"/>
          <p:cNvSpPr txBox="1"/>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63" name="Google Shape;63;p15"/>
          <p:cNvSpPr txBox="1"/>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64" name="Shape 64"/>
        <p:cNvGrpSpPr/>
        <p:nvPr/>
      </p:nvGrpSpPr>
      <p:grpSpPr>
        <a:xfrm>
          <a:off x="0" y="0"/>
          <a:ext cx="0" cy="0"/>
          <a:chOff x="0" y="0"/>
          <a:chExt cx="0" cy="0"/>
        </a:xfrm>
      </p:grpSpPr>
      <p:sp>
        <p:nvSpPr>
          <p:cNvPr id="65" name="Google Shape;65;p16"/>
          <p:cNvSpPr txBox="1"/>
          <p:nvPr>
            <p:ph type="title"/>
          </p:nvPr>
        </p:nvSpPr>
        <p:spPr>
          <a:xfrm>
            <a:off x="311700" y="286500"/>
            <a:ext cx="85206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66" name="Google Shape;66;p1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67" name="Google Shape;67;p16"/>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8" name="Google Shape;68;p16"/>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redits">
  <p:cSld name="TITLE_1">
    <p:bg>
      <p:bgPr>
        <a:blipFill>
          <a:blip r:embed="rId2"/>
          <a:stretch>
            <a:fillRect/>
          </a:stretch>
        </a:blipFill>
        <a:effectLst/>
      </p:bgPr>
    </p:bg>
    <p:spTree>
      <p:nvGrpSpPr>
        <p:cNvPr id="69" name="Shape 69"/>
        <p:cNvGrpSpPr/>
        <p:nvPr/>
      </p:nvGrpSpPr>
      <p:grpSpPr>
        <a:xfrm>
          <a:off x="0" y="0"/>
          <a:ext cx="0" cy="0"/>
          <a:chOff x="0" y="0"/>
          <a:chExt cx="0" cy="0"/>
        </a:xfrm>
      </p:grpSpPr>
      <p:sp>
        <p:nvSpPr>
          <p:cNvPr id="70" name="Google Shape;70;p1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71" name="Google Shape;71;p17"/>
          <p:cNvSpPr txBox="1"/>
          <p:nvPr/>
        </p:nvSpPr>
        <p:spPr>
          <a:xfrm>
            <a:off x="661475" y="322225"/>
            <a:ext cx="2751300" cy="44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GB" sz="2400" b="1" i="0" u="none" strike="noStrike" cap="none">
                <a:solidFill>
                  <a:schemeClr val="lt1"/>
                </a:solidFill>
                <a:latin typeface="Montserrat"/>
                <a:ea typeface="Montserrat"/>
                <a:cs typeface="Montserrat"/>
                <a:sym typeface="Montserrat"/>
              </a:rPr>
              <a:t>Credits: </a:t>
            </a:r>
            <a:endParaRPr sz="2400" b="1" i="0" u="none" strike="noStrike" cap="none">
              <a:solidFill>
                <a:schemeClr val="lt1"/>
              </a:solidFill>
              <a:latin typeface="Montserrat"/>
              <a:ea typeface="Montserrat"/>
              <a:cs typeface="Montserrat"/>
              <a:sym typeface="Montserrat"/>
            </a:endParaRPr>
          </a:p>
        </p:txBody>
      </p:sp>
      <p:sp>
        <p:nvSpPr>
          <p:cNvPr id="72" name="Google Shape;72;p17"/>
          <p:cNvSpPr txBox="1"/>
          <p:nvPr>
            <p:ph type="body" idx="1"/>
          </p:nvPr>
        </p:nvSpPr>
        <p:spPr>
          <a:xfrm>
            <a:off x="661475" y="1152475"/>
            <a:ext cx="8170800" cy="34164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Clr>
                <a:srgbClr val="FFFFFF"/>
              </a:buClr>
              <a:buSzPts val="1600"/>
              <a:buChar char="●"/>
              <a:defRPr>
                <a:solidFill>
                  <a:srgbClr val="FFFFFF"/>
                </a:solidFill>
              </a:defRPr>
            </a:lvl1pPr>
            <a:lvl2pPr marL="914400" lvl="1" indent="-304800" algn="l">
              <a:lnSpc>
                <a:spcPct val="115000"/>
              </a:lnSpc>
              <a:spcBef>
                <a:spcPts val="1600"/>
              </a:spcBef>
              <a:spcAft>
                <a:spcPts val="0"/>
              </a:spcAft>
              <a:buClr>
                <a:srgbClr val="FFFFFF"/>
              </a:buClr>
              <a:buSzPts val="1200"/>
              <a:buChar char="○"/>
              <a:defRPr>
                <a:solidFill>
                  <a:srgbClr val="FFFFFF"/>
                </a:solidFill>
              </a:defRPr>
            </a:lvl2pPr>
            <a:lvl3pPr marL="1371600" lvl="2" indent="-304800" algn="l">
              <a:lnSpc>
                <a:spcPct val="115000"/>
              </a:lnSpc>
              <a:spcBef>
                <a:spcPts val="1600"/>
              </a:spcBef>
              <a:spcAft>
                <a:spcPts val="0"/>
              </a:spcAft>
              <a:buClr>
                <a:srgbClr val="FFFFFF"/>
              </a:buClr>
              <a:buSzPts val="1200"/>
              <a:buChar char="■"/>
              <a:defRPr>
                <a:solidFill>
                  <a:srgbClr val="FFFFFF"/>
                </a:solidFill>
              </a:defRPr>
            </a:lvl3pPr>
            <a:lvl4pPr marL="1828800" lvl="3" indent="-304800" algn="l">
              <a:lnSpc>
                <a:spcPct val="115000"/>
              </a:lnSpc>
              <a:spcBef>
                <a:spcPts val="1600"/>
              </a:spcBef>
              <a:spcAft>
                <a:spcPts val="0"/>
              </a:spcAft>
              <a:buClr>
                <a:srgbClr val="FFFFFF"/>
              </a:buClr>
              <a:buSzPts val="1200"/>
              <a:buChar char="●"/>
              <a:defRPr>
                <a:solidFill>
                  <a:srgbClr val="FFFFFF"/>
                </a:solidFill>
              </a:defRPr>
            </a:lvl4pPr>
            <a:lvl5pPr marL="2286000" lvl="4" indent="-304800" algn="l">
              <a:lnSpc>
                <a:spcPct val="115000"/>
              </a:lnSpc>
              <a:spcBef>
                <a:spcPts val="1600"/>
              </a:spcBef>
              <a:spcAft>
                <a:spcPts val="0"/>
              </a:spcAft>
              <a:buClr>
                <a:srgbClr val="FFFFFF"/>
              </a:buClr>
              <a:buSzPts val="1200"/>
              <a:buChar char="○"/>
              <a:defRPr>
                <a:solidFill>
                  <a:srgbClr val="FFFFFF"/>
                </a:solidFill>
              </a:defRPr>
            </a:lvl5pPr>
            <a:lvl6pPr marL="2743200" lvl="5" indent="-304800" algn="l">
              <a:lnSpc>
                <a:spcPct val="115000"/>
              </a:lnSpc>
              <a:spcBef>
                <a:spcPts val="1600"/>
              </a:spcBef>
              <a:spcAft>
                <a:spcPts val="0"/>
              </a:spcAft>
              <a:buClr>
                <a:srgbClr val="FFFFFF"/>
              </a:buClr>
              <a:buSzPts val="1200"/>
              <a:buChar char="■"/>
              <a:defRPr>
                <a:solidFill>
                  <a:srgbClr val="FFFFFF"/>
                </a:solidFill>
              </a:defRPr>
            </a:lvl6pPr>
            <a:lvl7pPr marL="3200400" lvl="6" indent="-304800" algn="l">
              <a:lnSpc>
                <a:spcPct val="115000"/>
              </a:lnSpc>
              <a:spcBef>
                <a:spcPts val="1600"/>
              </a:spcBef>
              <a:spcAft>
                <a:spcPts val="0"/>
              </a:spcAft>
              <a:buClr>
                <a:srgbClr val="FFFFFF"/>
              </a:buClr>
              <a:buSzPts val="1200"/>
              <a:buChar char="●"/>
              <a:defRPr>
                <a:solidFill>
                  <a:srgbClr val="FFFFFF"/>
                </a:solidFill>
              </a:defRPr>
            </a:lvl7pPr>
            <a:lvl8pPr marL="3657600" lvl="7" indent="-304800" algn="l">
              <a:lnSpc>
                <a:spcPct val="115000"/>
              </a:lnSpc>
              <a:spcBef>
                <a:spcPts val="1600"/>
              </a:spcBef>
              <a:spcAft>
                <a:spcPts val="0"/>
              </a:spcAft>
              <a:buClr>
                <a:srgbClr val="FFFFFF"/>
              </a:buClr>
              <a:buSzPts val="1200"/>
              <a:buChar char="○"/>
              <a:defRPr>
                <a:solidFill>
                  <a:srgbClr val="FFFFFF"/>
                </a:solidFill>
              </a:defRPr>
            </a:lvl8pPr>
            <a:lvl9pPr marL="4114800" lvl="8" indent="-304800" algn="l">
              <a:lnSpc>
                <a:spcPct val="115000"/>
              </a:lnSpc>
              <a:spcBef>
                <a:spcPts val="1600"/>
              </a:spcBef>
              <a:spcAft>
                <a:spcPts val="1600"/>
              </a:spcAft>
              <a:buClr>
                <a:srgbClr val="FFFFFF"/>
              </a:buClr>
              <a:buSzPts val="1200"/>
              <a:buChar char="■"/>
              <a:defRPr>
                <a:solidFill>
                  <a:srgbClr val="FFFFFF"/>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rgbClr val="58A4E2"/>
        </a:solidFill>
        <a:effectLst/>
      </p:bgPr>
    </p:bg>
    <p:spTree>
      <p:nvGrpSpPr>
        <p:cNvPr id="73" name="Shape 73"/>
        <p:cNvGrpSpPr/>
        <p:nvPr/>
      </p:nvGrpSpPr>
      <p:grpSpPr>
        <a:xfrm>
          <a:off x="0" y="0"/>
          <a:ext cx="0" cy="0"/>
          <a:chOff x="0" y="0"/>
          <a:chExt cx="0" cy="0"/>
        </a:xfrm>
      </p:grpSpPr>
      <p:sp>
        <p:nvSpPr>
          <p:cNvPr id="74" name="Google Shape;74;p18"/>
          <p:cNvSpPr txBox="1"/>
          <p:nvPr>
            <p:ph type="title"/>
          </p:nvPr>
        </p:nvSpPr>
        <p:spPr>
          <a:xfrm>
            <a:off x="540300" y="2990425"/>
            <a:ext cx="8093700" cy="1672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FFFFFF"/>
              </a:buClr>
              <a:buSzPts val="2800"/>
              <a:buNone/>
              <a:defRPr sz="2800" b="1">
                <a:solidFill>
                  <a:srgbClr val="FFFFFF"/>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5" name="Google Shape;75;p1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76" name="Shape 76"/>
        <p:cNvGrpSpPr/>
        <p:nvPr/>
      </p:nvGrpSpPr>
      <p:grpSpPr>
        <a:xfrm>
          <a:off x="0" y="0"/>
          <a:ext cx="0" cy="0"/>
          <a:chOff x="0" y="0"/>
          <a:chExt cx="0" cy="0"/>
        </a:xfrm>
      </p:grpSpPr>
      <p:sp>
        <p:nvSpPr>
          <p:cNvPr id="77" name="Google Shape;77;p19"/>
          <p:cNvSpPr txBox="1"/>
          <p:nvPr>
            <p:ph type="title"/>
          </p:nvPr>
        </p:nvSpPr>
        <p:spPr>
          <a:xfrm>
            <a:off x="311700" y="286500"/>
            <a:ext cx="85206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78" name="Google Shape;78;p19"/>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
        <p:nvSpPr>
          <p:cNvPr id="79" name="Google Shape;79;p1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80" name="Google Shape;80;p19"/>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1" name="Google Shape;81;p19"/>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opic Heading-Body">
  <p:cSld name="TITLE_AND_BODY_2">
    <p:spTree>
      <p:nvGrpSpPr>
        <p:cNvPr id="82" name="Shape 82"/>
        <p:cNvGrpSpPr/>
        <p:nvPr/>
      </p:nvGrpSpPr>
      <p:grpSpPr>
        <a:xfrm>
          <a:off x="0" y="0"/>
          <a:ext cx="0" cy="0"/>
          <a:chOff x="0" y="0"/>
          <a:chExt cx="0" cy="0"/>
        </a:xfrm>
      </p:grpSpPr>
      <p:sp>
        <p:nvSpPr>
          <p:cNvPr id="83" name="Google Shape;83;p20"/>
          <p:cNvSpPr txBox="1"/>
          <p:nvPr>
            <p:ph type="title"/>
          </p:nvPr>
        </p:nvSpPr>
        <p:spPr>
          <a:xfrm>
            <a:off x="311700" y="286500"/>
            <a:ext cx="34398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b="1"/>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84" name="Google Shape;84;p20"/>
          <p:cNvSpPr txBox="1"/>
          <p:nvPr>
            <p:ph type="body" idx="1"/>
          </p:nvPr>
        </p:nvSpPr>
        <p:spPr>
          <a:xfrm>
            <a:off x="311700" y="1283150"/>
            <a:ext cx="8520600" cy="32856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
        <p:nvSpPr>
          <p:cNvPr id="85" name="Google Shape;85;p2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86" name="Google Shape;86;p20"/>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7" name="Google Shape;87;p20"/>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ssertion-Evidence">
  <p:cSld name="TITLE_AND_BODY_1">
    <p:spTree>
      <p:nvGrpSpPr>
        <p:cNvPr id="88" name="Shape 88"/>
        <p:cNvGrpSpPr/>
        <p:nvPr/>
      </p:nvGrpSpPr>
      <p:grpSpPr>
        <a:xfrm>
          <a:off x="0" y="0"/>
          <a:ext cx="0" cy="0"/>
          <a:chOff x="0" y="0"/>
          <a:chExt cx="0" cy="0"/>
        </a:xfrm>
      </p:grpSpPr>
      <p:sp>
        <p:nvSpPr>
          <p:cNvPr id="89" name="Google Shape;89;p21"/>
          <p:cNvSpPr txBox="1"/>
          <p:nvPr>
            <p:ph type="title"/>
          </p:nvPr>
        </p:nvSpPr>
        <p:spPr>
          <a:xfrm>
            <a:off x="311700" y="21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90" name="Google Shape;90;p21"/>
          <p:cNvSpPr txBox="1"/>
          <p:nvPr>
            <p:ph type="body" idx="1"/>
          </p:nvPr>
        </p:nvSpPr>
        <p:spPr>
          <a:xfrm>
            <a:off x="311700" y="1405125"/>
            <a:ext cx="8520600" cy="31638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
        <p:nvSpPr>
          <p:cNvPr id="91" name="Google Shape;91;p2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92" name="Google Shape;92;p21"/>
          <p:cNvSpPr/>
          <p:nvPr/>
        </p:nvSpPr>
        <p:spPr>
          <a:xfrm>
            <a:off x="0" y="21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93" name="Google Shape;93;p21"/>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ssertion-Evidence 1">
  <p:cSld name="TITLE_AND_BODY_1_1">
    <p:spTree>
      <p:nvGrpSpPr>
        <p:cNvPr id="94" name="Shape 94"/>
        <p:cNvGrpSpPr/>
        <p:nvPr/>
      </p:nvGrpSpPr>
      <p:grpSpPr>
        <a:xfrm>
          <a:off x="0" y="0"/>
          <a:ext cx="0" cy="0"/>
          <a:chOff x="0" y="0"/>
          <a:chExt cx="0" cy="0"/>
        </a:xfrm>
      </p:grpSpPr>
      <p:sp>
        <p:nvSpPr>
          <p:cNvPr id="95" name="Google Shape;95;p22"/>
          <p:cNvSpPr txBox="1"/>
          <p:nvPr>
            <p:ph type="title"/>
          </p:nvPr>
        </p:nvSpPr>
        <p:spPr>
          <a:xfrm>
            <a:off x="311700" y="21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96" name="Google Shape;96;p2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97" name="Google Shape;97;p22"/>
          <p:cNvSpPr/>
          <p:nvPr/>
        </p:nvSpPr>
        <p:spPr>
          <a:xfrm>
            <a:off x="0" y="21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98" name="Google Shape;98;p22"/>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flection Spot">
  <p:cSld name="TITLE_AND_BODY_1_1_2">
    <p:spTree>
      <p:nvGrpSpPr>
        <p:cNvPr id="99" name="Shape 99"/>
        <p:cNvGrpSpPr/>
        <p:nvPr/>
      </p:nvGrpSpPr>
      <p:grpSpPr>
        <a:xfrm>
          <a:off x="0" y="0"/>
          <a:ext cx="0" cy="0"/>
          <a:chOff x="0" y="0"/>
          <a:chExt cx="0" cy="0"/>
        </a:xfrm>
      </p:grpSpPr>
      <p:sp>
        <p:nvSpPr>
          <p:cNvPr id="100" name="Google Shape;100;p23"/>
          <p:cNvSpPr txBox="1"/>
          <p:nvPr>
            <p:ph type="title"/>
          </p:nvPr>
        </p:nvSpPr>
        <p:spPr>
          <a:xfrm>
            <a:off x="1456750" y="390550"/>
            <a:ext cx="73623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01" name="Google Shape;101;p2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02" name="Google Shape;102;p23"/>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nvGrpSpPr>
          <p:cNvPr id="103" name="Google Shape;103;p23"/>
          <p:cNvGrpSpPr/>
          <p:nvPr/>
        </p:nvGrpSpPr>
        <p:grpSpPr>
          <a:xfrm>
            <a:off x="275437" y="298844"/>
            <a:ext cx="934800" cy="934800"/>
            <a:chOff x="170337" y="194819"/>
            <a:chExt cx="934800" cy="934800"/>
          </a:xfrm>
        </p:grpSpPr>
        <p:sp>
          <p:nvSpPr>
            <p:cNvPr id="104" name="Google Shape;104;p23"/>
            <p:cNvSpPr/>
            <p:nvPr/>
          </p:nvSpPr>
          <p:spPr>
            <a:xfrm>
              <a:off x="170337" y="194819"/>
              <a:ext cx="934800" cy="934800"/>
            </a:xfrm>
            <a:prstGeom prst="ellipse">
              <a:avLst/>
            </a:prstGeom>
            <a:solidFill>
              <a:srgbClr val="2074B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 name="Google Shape;105;p23"/>
            <p:cNvSpPr/>
            <p:nvPr/>
          </p:nvSpPr>
          <p:spPr>
            <a:xfrm>
              <a:off x="447325" y="409432"/>
              <a:ext cx="152400" cy="492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06" name="Google Shape;106;p23"/>
            <p:cNvSpPr/>
            <p:nvPr/>
          </p:nvSpPr>
          <p:spPr>
            <a:xfrm>
              <a:off x="689375" y="409432"/>
              <a:ext cx="152400" cy="492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grpSp>
      <p:sp>
        <p:nvSpPr>
          <p:cNvPr id="107" name="Google Shape;107;p23"/>
          <p:cNvSpPr txBox="1"/>
          <p:nvPr>
            <p:ph type="body" idx="1"/>
          </p:nvPr>
        </p:nvSpPr>
        <p:spPr>
          <a:xfrm>
            <a:off x="905400" y="1537450"/>
            <a:ext cx="7333200" cy="29403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lipped Assertion-Evidence">
  <p:cSld name="TITLE_AND_BODY_1_1_1">
    <p:spTree>
      <p:nvGrpSpPr>
        <p:cNvPr id="108" name="Shape 108"/>
        <p:cNvGrpSpPr/>
        <p:nvPr/>
      </p:nvGrpSpPr>
      <p:grpSpPr>
        <a:xfrm>
          <a:off x="0" y="0"/>
          <a:ext cx="0" cy="0"/>
          <a:chOff x="0" y="0"/>
          <a:chExt cx="0" cy="0"/>
        </a:xfrm>
      </p:grpSpPr>
      <p:sp>
        <p:nvSpPr>
          <p:cNvPr id="109" name="Google Shape;109;p24"/>
          <p:cNvSpPr txBox="1"/>
          <p:nvPr>
            <p:ph type="title"/>
          </p:nvPr>
        </p:nvSpPr>
        <p:spPr>
          <a:xfrm>
            <a:off x="311700" y="402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10" name="Google Shape;110;p2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11" name="Google Shape;111;p24"/>
          <p:cNvSpPr/>
          <p:nvPr/>
        </p:nvSpPr>
        <p:spPr>
          <a:xfrm>
            <a:off x="0" y="402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12" name="Google Shape;112;p24"/>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13" name="Shape 113"/>
        <p:cNvGrpSpPr/>
        <p:nvPr/>
      </p:nvGrpSpPr>
      <p:grpSpPr>
        <a:xfrm>
          <a:off x="0" y="0"/>
          <a:ext cx="0" cy="0"/>
          <a:chOff x="0" y="0"/>
          <a:chExt cx="0" cy="0"/>
        </a:xfrm>
      </p:grpSpPr>
      <p:sp>
        <p:nvSpPr>
          <p:cNvPr id="114" name="Google Shape;114;p25"/>
          <p:cNvSpPr txBox="1"/>
          <p:nvPr>
            <p:ph type="body" idx="1"/>
          </p:nvPr>
        </p:nvSpPr>
        <p:spPr>
          <a:xfrm>
            <a:off x="311700" y="1275238"/>
            <a:ext cx="3999900" cy="32937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15" name="Google Shape;115;p25"/>
          <p:cNvSpPr txBox="1"/>
          <p:nvPr>
            <p:ph type="body" idx="2"/>
          </p:nvPr>
        </p:nvSpPr>
        <p:spPr>
          <a:xfrm>
            <a:off x="4832400" y="1275238"/>
            <a:ext cx="3999900" cy="32937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16" name="Google Shape;116;p2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17" name="Google Shape;117;p25"/>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18" name="Google Shape;118;p25"/>
          <p:cNvSpPr txBox="1"/>
          <p:nvPr>
            <p:ph type="title"/>
          </p:nvPr>
        </p:nvSpPr>
        <p:spPr>
          <a:xfrm>
            <a:off x="311700" y="21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19" name="Google Shape;119;p25"/>
          <p:cNvSpPr/>
          <p:nvPr/>
        </p:nvSpPr>
        <p:spPr>
          <a:xfrm>
            <a:off x="0" y="21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20" name="Shape 120"/>
        <p:cNvGrpSpPr/>
        <p:nvPr/>
      </p:nvGrpSpPr>
      <p:grpSpPr>
        <a:xfrm>
          <a:off x="0" y="0"/>
          <a:ext cx="0" cy="0"/>
          <a:chOff x="0" y="0"/>
          <a:chExt cx="0" cy="0"/>
        </a:xfrm>
      </p:grpSpPr>
      <p:sp>
        <p:nvSpPr>
          <p:cNvPr id="121" name="Google Shape;121;p26"/>
          <p:cNvSpPr txBox="1"/>
          <p:nvPr>
            <p:ph type="body" idx="1"/>
          </p:nvPr>
        </p:nvSpPr>
        <p:spPr>
          <a:xfrm>
            <a:off x="311700" y="2142929"/>
            <a:ext cx="3999900" cy="2426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22" name="Google Shape;122;p26"/>
          <p:cNvSpPr txBox="1"/>
          <p:nvPr>
            <p:ph type="body" idx="2"/>
          </p:nvPr>
        </p:nvSpPr>
        <p:spPr>
          <a:xfrm>
            <a:off x="4832400" y="2142929"/>
            <a:ext cx="3999900" cy="2426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23" name="Google Shape;123;p2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24" name="Google Shape;124;p26"/>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25" name="Google Shape;125;p26"/>
          <p:cNvSpPr txBox="1"/>
          <p:nvPr>
            <p:ph type="title"/>
          </p:nvPr>
        </p:nvSpPr>
        <p:spPr>
          <a:xfrm>
            <a:off x="311700" y="286500"/>
            <a:ext cx="85206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26" name="Google Shape;126;p26"/>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27" name="Google Shape;127;p26"/>
          <p:cNvSpPr txBox="1"/>
          <p:nvPr>
            <p:ph type="body" idx="3"/>
          </p:nvPr>
        </p:nvSpPr>
        <p:spPr>
          <a:xfrm>
            <a:off x="344300" y="819000"/>
            <a:ext cx="3999900" cy="12039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b="1"/>
            </a:lvl1pPr>
            <a:lvl2pPr marL="914400" lvl="1" indent="-317500" algn="l">
              <a:lnSpc>
                <a:spcPct val="115000"/>
              </a:lnSpc>
              <a:spcBef>
                <a:spcPts val="1600"/>
              </a:spcBef>
              <a:spcAft>
                <a:spcPts val="0"/>
              </a:spcAft>
              <a:buSzPts val="1400"/>
              <a:buChar char="○"/>
              <a:defRPr sz="1400" b="1"/>
            </a:lvl2pPr>
            <a:lvl3pPr marL="1371600" lvl="2" indent="-317500" algn="l">
              <a:lnSpc>
                <a:spcPct val="115000"/>
              </a:lnSpc>
              <a:spcBef>
                <a:spcPts val="1600"/>
              </a:spcBef>
              <a:spcAft>
                <a:spcPts val="0"/>
              </a:spcAft>
              <a:buSzPts val="1400"/>
              <a:buChar char="■"/>
              <a:defRPr sz="1400" b="1"/>
            </a:lvl3pPr>
            <a:lvl4pPr marL="1828800" lvl="3" indent="-317500" algn="l">
              <a:lnSpc>
                <a:spcPct val="115000"/>
              </a:lnSpc>
              <a:spcBef>
                <a:spcPts val="1600"/>
              </a:spcBef>
              <a:spcAft>
                <a:spcPts val="0"/>
              </a:spcAft>
              <a:buSzPts val="1400"/>
              <a:buChar char="●"/>
              <a:defRPr sz="1400" b="1"/>
            </a:lvl4pPr>
            <a:lvl5pPr marL="2286000" lvl="4" indent="-317500" algn="l">
              <a:lnSpc>
                <a:spcPct val="115000"/>
              </a:lnSpc>
              <a:spcBef>
                <a:spcPts val="1600"/>
              </a:spcBef>
              <a:spcAft>
                <a:spcPts val="0"/>
              </a:spcAft>
              <a:buSzPts val="1400"/>
              <a:buChar char="○"/>
              <a:defRPr sz="1400" b="1"/>
            </a:lvl5pPr>
            <a:lvl6pPr marL="2743200" lvl="5" indent="-317500" algn="l">
              <a:lnSpc>
                <a:spcPct val="115000"/>
              </a:lnSpc>
              <a:spcBef>
                <a:spcPts val="1600"/>
              </a:spcBef>
              <a:spcAft>
                <a:spcPts val="0"/>
              </a:spcAft>
              <a:buSzPts val="1400"/>
              <a:buChar char="■"/>
              <a:defRPr sz="1400" b="1"/>
            </a:lvl6pPr>
            <a:lvl7pPr marL="3200400" lvl="6" indent="-317500" algn="l">
              <a:lnSpc>
                <a:spcPct val="115000"/>
              </a:lnSpc>
              <a:spcBef>
                <a:spcPts val="1600"/>
              </a:spcBef>
              <a:spcAft>
                <a:spcPts val="0"/>
              </a:spcAft>
              <a:buSzPts val="1400"/>
              <a:buChar char="●"/>
              <a:defRPr sz="1400" b="1"/>
            </a:lvl7pPr>
            <a:lvl8pPr marL="3657600" lvl="7" indent="-317500" algn="l">
              <a:lnSpc>
                <a:spcPct val="115000"/>
              </a:lnSpc>
              <a:spcBef>
                <a:spcPts val="1600"/>
              </a:spcBef>
              <a:spcAft>
                <a:spcPts val="0"/>
              </a:spcAft>
              <a:buSzPts val="1400"/>
              <a:buChar char="○"/>
              <a:defRPr sz="1400" b="1"/>
            </a:lvl8pPr>
            <a:lvl9pPr marL="4114800" lvl="8" indent="-317500" algn="l">
              <a:lnSpc>
                <a:spcPct val="115000"/>
              </a:lnSpc>
              <a:spcBef>
                <a:spcPts val="1600"/>
              </a:spcBef>
              <a:spcAft>
                <a:spcPts val="1600"/>
              </a:spcAft>
              <a:buSzPts val="1400"/>
              <a:buChar char="■"/>
              <a:defRPr sz="1400" b="1"/>
            </a:lvl9pPr>
          </a:lstStyle>
          <a:p/>
        </p:txBody>
      </p:sp>
      <p:sp>
        <p:nvSpPr>
          <p:cNvPr id="128" name="Google Shape;128;p26"/>
          <p:cNvSpPr txBox="1"/>
          <p:nvPr>
            <p:ph type="body" idx="4"/>
          </p:nvPr>
        </p:nvSpPr>
        <p:spPr>
          <a:xfrm>
            <a:off x="4865000" y="819000"/>
            <a:ext cx="3999900" cy="12039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SzPts val="1600"/>
              <a:buChar char="●"/>
              <a:defRPr b="1"/>
            </a:lvl1pPr>
            <a:lvl2pPr marL="914400" lvl="1" indent="-317500" algn="l">
              <a:lnSpc>
                <a:spcPct val="115000"/>
              </a:lnSpc>
              <a:spcBef>
                <a:spcPts val="1600"/>
              </a:spcBef>
              <a:spcAft>
                <a:spcPts val="0"/>
              </a:spcAft>
              <a:buSzPts val="1400"/>
              <a:buChar char="○"/>
              <a:defRPr sz="1400" b="1"/>
            </a:lvl2pPr>
            <a:lvl3pPr marL="1371600" lvl="2" indent="-317500" algn="l">
              <a:lnSpc>
                <a:spcPct val="115000"/>
              </a:lnSpc>
              <a:spcBef>
                <a:spcPts val="1600"/>
              </a:spcBef>
              <a:spcAft>
                <a:spcPts val="0"/>
              </a:spcAft>
              <a:buSzPts val="1400"/>
              <a:buChar char="■"/>
              <a:defRPr sz="1400" b="1"/>
            </a:lvl3pPr>
            <a:lvl4pPr marL="1828800" lvl="3" indent="-317500" algn="l">
              <a:lnSpc>
                <a:spcPct val="115000"/>
              </a:lnSpc>
              <a:spcBef>
                <a:spcPts val="1600"/>
              </a:spcBef>
              <a:spcAft>
                <a:spcPts val="0"/>
              </a:spcAft>
              <a:buSzPts val="1400"/>
              <a:buChar char="●"/>
              <a:defRPr sz="1400" b="1"/>
            </a:lvl4pPr>
            <a:lvl5pPr marL="2286000" lvl="4" indent="-317500" algn="l">
              <a:lnSpc>
                <a:spcPct val="115000"/>
              </a:lnSpc>
              <a:spcBef>
                <a:spcPts val="1600"/>
              </a:spcBef>
              <a:spcAft>
                <a:spcPts val="0"/>
              </a:spcAft>
              <a:buSzPts val="1400"/>
              <a:buChar char="○"/>
              <a:defRPr sz="1400" b="1"/>
            </a:lvl5pPr>
            <a:lvl6pPr marL="2743200" lvl="5" indent="-317500" algn="l">
              <a:lnSpc>
                <a:spcPct val="115000"/>
              </a:lnSpc>
              <a:spcBef>
                <a:spcPts val="1600"/>
              </a:spcBef>
              <a:spcAft>
                <a:spcPts val="0"/>
              </a:spcAft>
              <a:buSzPts val="1400"/>
              <a:buChar char="■"/>
              <a:defRPr sz="1400" b="1"/>
            </a:lvl6pPr>
            <a:lvl7pPr marL="3200400" lvl="6" indent="-317500" algn="l">
              <a:lnSpc>
                <a:spcPct val="115000"/>
              </a:lnSpc>
              <a:spcBef>
                <a:spcPts val="1600"/>
              </a:spcBef>
              <a:spcAft>
                <a:spcPts val="0"/>
              </a:spcAft>
              <a:buSzPts val="1400"/>
              <a:buChar char="●"/>
              <a:defRPr sz="1400" b="1"/>
            </a:lvl7pPr>
            <a:lvl8pPr marL="3657600" lvl="7" indent="-317500" algn="l">
              <a:lnSpc>
                <a:spcPct val="115000"/>
              </a:lnSpc>
              <a:spcBef>
                <a:spcPts val="1600"/>
              </a:spcBef>
              <a:spcAft>
                <a:spcPts val="0"/>
              </a:spcAft>
              <a:buSzPts val="1400"/>
              <a:buChar char="○"/>
              <a:defRPr sz="1400" b="1"/>
            </a:lvl8pPr>
            <a:lvl9pPr marL="4114800" lvl="8" indent="-317500" algn="l">
              <a:lnSpc>
                <a:spcPct val="115000"/>
              </a:lnSpc>
              <a:spcBef>
                <a:spcPts val="1600"/>
              </a:spcBef>
              <a:spcAft>
                <a:spcPts val="1600"/>
              </a:spcAft>
              <a:buSzPts val="1400"/>
              <a:buChar char="■"/>
              <a:defRPr sz="1400" b="1"/>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29" name="Shape 129"/>
        <p:cNvGrpSpPr/>
        <p:nvPr/>
      </p:nvGrpSpPr>
      <p:grpSpPr>
        <a:xfrm>
          <a:off x="0" y="0"/>
          <a:ext cx="0" cy="0"/>
          <a:chOff x="0" y="0"/>
          <a:chExt cx="0" cy="0"/>
        </a:xfrm>
      </p:grpSpPr>
      <p:sp>
        <p:nvSpPr>
          <p:cNvPr id="130" name="Google Shape;130;p27"/>
          <p:cNvSpPr txBox="1"/>
          <p:nvPr>
            <p:ph type="body" idx="1"/>
          </p:nvPr>
        </p:nvSpPr>
        <p:spPr>
          <a:xfrm>
            <a:off x="311700" y="1228775"/>
            <a:ext cx="2808000" cy="33402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131" name="Google Shape;131;p2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32" name="Google Shape;132;p27"/>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33" name="Google Shape;133;p27"/>
          <p:cNvSpPr txBox="1"/>
          <p:nvPr>
            <p:ph type="title"/>
          </p:nvPr>
        </p:nvSpPr>
        <p:spPr>
          <a:xfrm>
            <a:off x="311700" y="216425"/>
            <a:ext cx="8520600" cy="93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34" name="Google Shape;134;p27"/>
          <p:cNvSpPr/>
          <p:nvPr/>
        </p:nvSpPr>
        <p:spPr>
          <a:xfrm>
            <a:off x="0" y="216419"/>
            <a:ext cx="152400" cy="9348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35" name="Shape 135"/>
        <p:cNvGrpSpPr/>
        <p:nvPr/>
      </p:nvGrpSpPr>
      <p:grpSpPr>
        <a:xfrm>
          <a:off x="0" y="0"/>
          <a:ext cx="0" cy="0"/>
          <a:chOff x="0" y="0"/>
          <a:chExt cx="0" cy="0"/>
        </a:xfrm>
      </p:grpSpPr>
      <p:sp>
        <p:nvSpPr>
          <p:cNvPr id="136" name="Google Shape;136;p28"/>
          <p:cNvSpPr txBox="1"/>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7" name="Google Shape;137;p2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 name="Google Shape;140;p29"/>
          <p:cNvSpPr txBox="1"/>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41" name="Google Shape;141;p29"/>
          <p:cNvSpPr txBox="1"/>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42" name="Google Shape;142;p29"/>
          <p:cNvSpPr txBox="1"/>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30200" algn="l">
              <a:lnSpc>
                <a:spcPct val="115000"/>
              </a:lnSpc>
              <a:spcBef>
                <a:spcPts val="0"/>
              </a:spcBef>
              <a:spcAft>
                <a:spcPts val="0"/>
              </a:spcAft>
              <a:buSzPts val="1600"/>
              <a:buChar char="●"/>
              <a:defRPr/>
            </a:lvl1pPr>
            <a:lvl2pPr marL="914400" lvl="1" indent="-304800" algn="l">
              <a:lnSpc>
                <a:spcPct val="115000"/>
              </a:lnSpc>
              <a:spcBef>
                <a:spcPts val="1600"/>
              </a:spcBef>
              <a:spcAft>
                <a:spcPts val="0"/>
              </a:spcAft>
              <a:buSzPts val="1200"/>
              <a:buChar char="○"/>
              <a:defRPr/>
            </a:lvl2pPr>
            <a:lvl3pPr marL="1371600" lvl="2" indent="-304800" algn="l">
              <a:lnSpc>
                <a:spcPct val="115000"/>
              </a:lnSpc>
              <a:spcBef>
                <a:spcPts val="1600"/>
              </a:spcBef>
              <a:spcAft>
                <a:spcPts val="0"/>
              </a:spcAft>
              <a:buSzPts val="1200"/>
              <a:buChar char="■"/>
              <a:defRPr/>
            </a:lvl3pPr>
            <a:lvl4pPr marL="1828800" lvl="3" indent="-304800" algn="l">
              <a:lnSpc>
                <a:spcPct val="115000"/>
              </a:lnSpc>
              <a:spcBef>
                <a:spcPts val="1600"/>
              </a:spcBef>
              <a:spcAft>
                <a:spcPts val="0"/>
              </a:spcAft>
              <a:buSzPts val="1200"/>
              <a:buChar char="●"/>
              <a:defRPr/>
            </a:lvl4pPr>
            <a:lvl5pPr marL="2286000" lvl="4" indent="-304800" algn="l">
              <a:lnSpc>
                <a:spcPct val="115000"/>
              </a:lnSpc>
              <a:spcBef>
                <a:spcPts val="1600"/>
              </a:spcBef>
              <a:spcAft>
                <a:spcPts val="0"/>
              </a:spcAft>
              <a:buSzPts val="1200"/>
              <a:buChar char="○"/>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p:txBody>
      </p:sp>
      <p:sp>
        <p:nvSpPr>
          <p:cNvPr id="143" name="Google Shape;143;p2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44" name="Shape 144"/>
        <p:cNvGrpSpPr/>
        <p:nvPr/>
      </p:nvGrpSpPr>
      <p:grpSpPr>
        <a:xfrm>
          <a:off x="0" y="0"/>
          <a:ext cx="0" cy="0"/>
          <a:chOff x="0" y="0"/>
          <a:chExt cx="0" cy="0"/>
        </a:xfrm>
      </p:grpSpPr>
      <p:sp>
        <p:nvSpPr>
          <p:cNvPr id="145" name="Google Shape;145;p30"/>
          <p:cNvSpPr txBox="1"/>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6" name="Google Shape;146;p30"/>
          <p:cNvSpPr txBox="1"/>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30200" algn="ctr">
              <a:lnSpc>
                <a:spcPct val="115000"/>
              </a:lnSpc>
              <a:spcBef>
                <a:spcPts val="0"/>
              </a:spcBef>
              <a:spcAft>
                <a:spcPts val="0"/>
              </a:spcAft>
              <a:buSzPts val="1600"/>
              <a:buChar char="●"/>
              <a:defRPr/>
            </a:lvl1pPr>
            <a:lvl2pPr marL="914400" lvl="1" indent="-304800" algn="ctr">
              <a:lnSpc>
                <a:spcPct val="115000"/>
              </a:lnSpc>
              <a:spcBef>
                <a:spcPts val="1600"/>
              </a:spcBef>
              <a:spcAft>
                <a:spcPts val="0"/>
              </a:spcAft>
              <a:buSzPts val="1200"/>
              <a:buChar char="○"/>
              <a:defRPr/>
            </a:lvl2pPr>
            <a:lvl3pPr marL="1371600" lvl="2" indent="-304800" algn="ctr">
              <a:lnSpc>
                <a:spcPct val="115000"/>
              </a:lnSpc>
              <a:spcBef>
                <a:spcPts val="1600"/>
              </a:spcBef>
              <a:spcAft>
                <a:spcPts val="0"/>
              </a:spcAft>
              <a:buSzPts val="1200"/>
              <a:buChar char="■"/>
              <a:defRPr/>
            </a:lvl3pPr>
            <a:lvl4pPr marL="1828800" lvl="3" indent="-304800" algn="ctr">
              <a:lnSpc>
                <a:spcPct val="115000"/>
              </a:lnSpc>
              <a:spcBef>
                <a:spcPts val="1600"/>
              </a:spcBef>
              <a:spcAft>
                <a:spcPts val="0"/>
              </a:spcAft>
              <a:buSzPts val="1200"/>
              <a:buChar char="●"/>
              <a:defRPr/>
            </a:lvl4pPr>
            <a:lvl5pPr marL="2286000" lvl="4" indent="-304800" algn="ctr">
              <a:lnSpc>
                <a:spcPct val="115000"/>
              </a:lnSpc>
              <a:spcBef>
                <a:spcPts val="1600"/>
              </a:spcBef>
              <a:spcAft>
                <a:spcPts val="0"/>
              </a:spcAft>
              <a:buSzPts val="1200"/>
              <a:buChar char="○"/>
              <a:defRPr/>
            </a:lvl5pPr>
            <a:lvl6pPr marL="2743200" lvl="5" indent="-304800" algn="ctr">
              <a:lnSpc>
                <a:spcPct val="115000"/>
              </a:lnSpc>
              <a:spcBef>
                <a:spcPts val="1600"/>
              </a:spcBef>
              <a:spcAft>
                <a:spcPts val="0"/>
              </a:spcAft>
              <a:buSzPts val="1200"/>
              <a:buChar char="■"/>
              <a:defRPr/>
            </a:lvl6pPr>
            <a:lvl7pPr marL="3200400" lvl="6" indent="-304800" algn="ctr">
              <a:lnSpc>
                <a:spcPct val="115000"/>
              </a:lnSpc>
              <a:spcBef>
                <a:spcPts val="1600"/>
              </a:spcBef>
              <a:spcAft>
                <a:spcPts val="0"/>
              </a:spcAft>
              <a:buSzPts val="1200"/>
              <a:buChar char="●"/>
              <a:defRPr/>
            </a:lvl7pPr>
            <a:lvl8pPr marL="3657600" lvl="7" indent="-304800" algn="ctr">
              <a:lnSpc>
                <a:spcPct val="115000"/>
              </a:lnSpc>
              <a:spcBef>
                <a:spcPts val="1600"/>
              </a:spcBef>
              <a:spcAft>
                <a:spcPts val="0"/>
              </a:spcAft>
              <a:buSzPts val="1200"/>
              <a:buChar char="○"/>
              <a:defRPr/>
            </a:lvl8pPr>
            <a:lvl9pPr marL="4114800" lvl="8" indent="-304800" algn="ctr">
              <a:lnSpc>
                <a:spcPct val="115000"/>
              </a:lnSpc>
              <a:spcBef>
                <a:spcPts val="1600"/>
              </a:spcBef>
              <a:spcAft>
                <a:spcPts val="1600"/>
              </a:spcAft>
              <a:buSzPts val="1200"/>
              <a:buChar char="■"/>
              <a:defRPr/>
            </a:lvl9pPr>
          </a:lstStyle>
          <a:p/>
        </p:txBody>
      </p:sp>
      <p:sp>
        <p:nvSpPr>
          <p:cNvPr id="147" name="Google Shape;147;p3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48" name="Google Shape;148;p30"/>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Frame">
  <p:cSld name="BIG_NUMBER_1">
    <p:spTree>
      <p:nvGrpSpPr>
        <p:cNvPr id="149" name="Shape 149"/>
        <p:cNvGrpSpPr/>
        <p:nvPr/>
      </p:nvGrpSpPr>
      <p:grpSpPr>
        <a:xfrm>
          <a:off x="0" y="0"/>
          <a:ext cx="0" cy="0"/>
          <a:chOff x="0" y="0"/>
          <a:chExt cx="0" cy="0"/>
        </a:xfrm>
      </p:grpSpPr>
      <p:sp>
        <p:nvSpPr>
          <p:cNvPr id="150" name="Google Shape;150;p3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51" name="Google Shape;151;p31"/>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52" name="Shape 152"/>
        <p:cNvGrpSpPr/>
        <p:nvPr/>
      </p:nvGrpSpPr>
      <p:grpSpPr>
        <a:xfrm>
          <a:off x="0" y="0"/>
          <a:ext cx="0" cy="0"/>
          <a:chOff x="0" y="0"/>
          <a:chExt cx="0" cy="0"/>
        </a:xfrm>
      </p:grpSpPr>
      <p:sp>
        <p:nvSpPr>
          <p:cNvPr id="153" name="Google Shape;153;p3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3">
  <p:cSld name="BLANK_3">
    <p:spTree>
      <p:nvGrpSpPr>
        <p:cNvPr id="154" name="Shape 154"/>
        <p:cNvGrpSpPr/>
        <p:nvPr/>
      </p:nvGrpSpPr>
      <p:grpSpPr>
        <a:xfrm>
          <a:off x="0" y="0"/>
          <a:ext cx="0" cy="0"/>
          <a:chOff x="0" y="0"/>
          <a:chExt cx="0" cy="0"/>
        </a:xfrm>
      </p:grpSpPr>
      <p:sp>
        <p:nvSpPr>
          <p:cNvPr id="155" name="Google Shape;155;p3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56" name="Google Shape;156;p33"/>
          <p:cNvSpPr/>
          <p:nvPr/>
        </p:nvSpPr>
        <p:spPr>
          <a:xfrm>
            <a:off x="3408394"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rgbClr val="FFFFFF"/>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57" name="Google Shape;157;p33"/>
          <p:cNvSpPr txBox="1"/>
          <p:nvPr>
            <p:ph type="title"/>
          </p:nvPr>
        </p:nvSpPr>
        <p:spPr>
          <a:xfrm>
            <a:off x="3764000" y="328450"/>
            <a:ext cx="3439800" cy="57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600"/>
              <a:buNone/>
              <a:defRPr b="1"/>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1">
  <p:cSld name="BLANK_1">
    <p:bg>
      <p:bgPr>
        <a:solidFill>
          <a:srgbClr val="2074B9"/>
        </a:solidFill>
        <a:effectLst/>
      </p:bgPr>
    </p:bg>
    <p:spTree>
      <p:nvGrpSpPr>
        <p:cNvPr id="158" name="Shape 158"/>
        <p:cNvGrpSpPr/>
        <p:nvPr/>
      </p:nvGrpSpPr>
      <p:grpSpPr>
        <a:xfrm>
          <a:off x="0" y="0"/>
          <a:ext cx="0" cy="0"/>
          <a:chOff x="0" y="0"/>
          <a:chExt cx="0" cy="0"/>
        </a:xfrm>
      </p:grpSpPr>
      <p:sp>
        <p:nvSpPr>
          <p:cNvPr id="159" name="Google Shape;159;p3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2" Type="http://schemas.openxmlformats.org/officeDocument/2006/relationships/theme" Target="../theme/theme2.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216425"/>
            <a:ext cx="8520600" cy="5727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600"/>
              <a:buFont typeface="Montserrat"/>
              <a:buNone/>
              <a:defRPr sz="2600" b="0" i="0" u="none" strike="noStrike" cap="none">
                <a:solidFill>
                  <a:schemeClr val="dk1"/>
                </a:solidFill>
                <a:latin typeface="Montserrat"/>
                <a:ea typeface="Montserrat"/>
                <a:cs typeface="Montserrat"/>
                <a:sym typeface="Montserrat"/>
              </a:defRPr>
            </a:lvl9pPr>
          </a:lstStyle>
          <a:p/>
        </p:txBody>
      </p:sp>
      <p:sp>
        <p:nvSpPr>
          <p:cNvPr id="52" name="Google Shape;52;p13"/>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15000"/>
              </a:lnSpc>
              <a:spcBef>
                <a:spcPts val="0"/>
              </a:spcBef>
              <a:spcAft>
                <a:spcPts val="0"/>
              </a:spcAft>
              <a:buClr>
                <a:schemeClr val="dk2"/>
              </a:buClr>
              <a:buSzPts val="1600"/>
              <a:buFont typeface="Montserrat"/>
              <a:buChar char="●"/>
              <a:defRPr sz="1600" b="0" i="0" u="none" strike="noStrike" cap="none">
                <a:solidFill>
                  <a:schemeClr val="dk2"/>
                </a:solidFill>
                <a:latin typeface="Montserrat"/>
                <a:ea typeface="Montserrat"/>
                <a:cs typeface="Montserrat"/>
                <a:sym typeface="Montserrat"/>
              </a:defRPr>
            </a:lvl1pPr>
            <a:lvl2pPr marL="914400" marR="0" lvl="1"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2pPr>
            <a:lvl3pPr marL="1371600" marR="0" lvl="2"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3pPr>
            <a:lvl4pPr marL="1828800" marR="0" lvl="3"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4pPr>
            <a:lvl5pPr marL="2286000" marR="0" lvl="4"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5pPr>
            <a:lvl6pPr marL="2743200" marR="0" lvl="5"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6pPr>
            <a:lvl7pPr marL="3200400" marR="0" lvl="6"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7pPr>
            <a:lvl8pPr marL="3657600" marR="0" lvl="7" indent="-304800" algn="l" rtl="0">
              <a:lnSpc>
                <a:spcPct val="115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8pPr>
            <a:lvl9pPr marL="4114800" marR="0" lvl="8" indent="-304800" algn="l" rtl="0">
              <a:lnSpc>
                <a:spcPct val="115000"/>
              </a:lnSpc>
              <a:spcBef>
                <a:spcPts val="1600"/>
              </a:spcBef>
              <a:spcAft>
                <a:spcPts val="160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63" name="Shape 163"/>
        <p:cNvGrpSpPr/>
        <p:nvPr/>
      </p:nvGrpSpPr>
      <p:grpSpPr>
        <a:xfrm>
          <a:off x="0" y="0"/>
          <a:ext cx="0" cy="0"/>
          <a:chOff x="0" y="0"/>
          <a:chExt cx="0" cy="0"/>
        </a:xfrm>
      </p:grpSpPr>
      <p:sp>
        <p:nvSpPr>
          <p:cNvPr id="164" name="Google Shape;164;p35"/>
          <p:cNvSpPr txBox="1"/>
          <p:nvPr/>
        </p:nvSpPr>
        <p:spPr>
          <a:xfrm>
            <a:off x="679875" y="1134149"/>
            <a:ext cx="7630500" cy="2133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200"/>
              <a:buFont typeface="Arial" panose="020B0604020202020204"/>
              <a:buNone/>
            </a:pPr>
            <a:r>
              <a:rPr lang="en-GB" sz="4200" b="1">
                <a:solidFill>
                  <a:schemeClr val="lt1"/>
                </a:solidFill>
                <a:latin typeface="Montserrat"/>
                <a:ea typeface="Montserrat"/>
                <a:cs typeface="Montserrat"/>
                <a:sym typeface="Montserrat"/>
              </a:rPr>
              <a:t>KSS - Trustworthy AI</a:t>
            </a:r>
            <a:endParaRPr sz="4200" b="1">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pic>
        <p:nvPicPr>
          <p:cNvPr id="169" name="Google Shape;169;p36" descr="C:\Users\lt107\Desktop\3x\Asset 2@3x.png"/>
          <p:cNvPicPr preferRelativeResize="0"/>
          <p:nvPr/>
        </p:nvPicPr>
        <p:blipFill rotWithShape="1">
          <a:blip r:embed="rId1"/>
          <a:srcRect/>
          <a:stretch>
            <a:fillRect/>
          </a:stretch>
        </p:blipFill>
        <p:spPr>
          <a:xfrm>
            <a:off x="363818" y="4781550"/>
            <a:ext cx="588358" cy="230832"/>
          </a:xfrm>
          <a:prstGeom prst="rect">
            <a:avLst/>
          </a:prstGeom>
          <a:noFill/>
          <a:ln>
            <a:noFill/>
          </a:ln>
        </p:spPr>
      </p:pic>
      <p:sp>
        <p:nvSpPr>
          <p:cNvPr id="170" name="Google Shape;170;p36"/>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71" name="Google Shape;171;p36"/>
          <p:cNvSpPr txBox="1"/>
          <p:nvPr/>
        </p:nvSpPr>
        <p:spPr>
          <a:xfrm>
            <a:off x="342900" y="372875"/>
            <a:ext cx="4980900" cy="4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600"/>
              <a:buFont typeface="Arial" panose="020B0604020202020204"/>
              <a:buNone/>
            </a:pPr>
            <a:r>
              <a:rPr lang="en-GB" sz="2600" b="1" i="0" u="none" strike="noStrike" cap="none">
                <a:solidFill>
                  <a:srgbClr val="3A3A3A"/>
                </a:solidFill>
                <a:latin typeface="Montserrat"/>
                <a:ea typeface="Montserrat"/>
                <a:cs typeface="Montserrat"/>
                <a:sym typeface="Montserrat"/>
              </a:rPr>
              <a:t>Overview</a:t>
            </a:r>
            <a:endParaRPr sz="2600" b="1" i="0" u="none" strike="noStrike" cap="none">
              <a:solidFill>
                <a:srgbClr val="3A3A3A"/>
              </a:solidFill>
              <a:latin typeface="Montserrat"/>
              <a:ea typeface="Montserrat"/>
              <a:cs typeface="Montserrat"/>
              <a:sym typeface="Montserrat"/>
            </a:endParaRPr>
          </a:p>
        </p:txBody>
      </p:sp>
      <p:sp>
        <p:nvSpPr>
          <p:cNvPr id="172" name="Google Shape;172;p36"/>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73" name="Google Shape;173;p36"/>
          <p:cNvCxnSpPr/>
          <p:nvPr/>
        </p:nvCxnSpPr>
        <p:spPr>
          <a:xfrm>
            <a:off x="342899" y="4629150"/>
            <a:ext cx="8343000" cy="0"/>
          </a:xfrm>
          <a:prstGeom prst="straightConnector1">
            <a:avLst/>
          </a:prstGeom>
          <a:noFill/>
          <a:ln w="12700" cap="flat" cmpd="sng">
            <a:solidFill>
              <a:srgbClr val="F7F7F7"/>
            </a:solidFill>
            <a:prstDash val="solid"/>
            <a:round/>
            <a:headEnd type="none" w="sm" len="sm"/>
            <a:tailEnd type="none" w="sm" len="sm"/>
          </a:ln>
        </p:spPr>
      </p:cxnSp>
      <p:grpSp>
        <p:nvGrpSpPr>
          <p:cNvPr id="174" name="Google Shape;174;p36"/>
          <p:cNvGrpSpPr/>
          <p:nvPr/>
        </p:nvGrpSpPr>
        <p:grpSpPr>
          <a:xfrm>
            <a:off x="845337" y="1428750"/>
            <a:ext cx="6592014" cy="348600"/>
            <a:chOff x="712692" y="1608042"/>
            <a:chExt cx="6592014" cy="348600"/>
          </a:xfrm>
        </p:grpSpPr>
        <p:sp>
          <p:nvSpPr>
            <p:cNvPr id="175" name="Google Shape;175;p36"/>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a:solidFill>
                    <a:srgbClr val="3A3A3A"/>
                  </a:solidFill>
                  <a:latin typeface="Montserrat"/>
                  <a:ea typeface="Montserrat"/>
                  <a:cs typeface="Montserrat"/>
                  <a:sym typeface="Montserrat"/>
                </a:rPr>
                <a:t>Why Trustworthy AI Matters</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r>
                <a:t>The stakes have shifted — AI now makes consequential decisions</a:t>
              </a:r>
            </a:p>
          </p:txBody>
        </p:sp>
        <p:sp>
          <p:nvSpPr>
            <p:cNvPr id="176" name="Google Shape;176;p36"/>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77" name="Google Shape;177;p36"/>
            <p:cNvSpPr txBox="1"/>
            <p:nvPr/>
          </p:nvSpPr>
          <p:spPr>
            <a:xfrm>
              <a:off x="845337" y="1659255"/>
              <a:ext cx="834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i="0" u="none" strike="noStrike" cap="none">
                  <a:solidFill>
                    <a:schemeClr val="lt1"/>
                  </a:solidFill>
                  <a:latin typeface="Montserrat"/>
                  <a:ea typeface="Montserrat"/>
                  <a:cs typeface="Montserrat"/>
                  <a:sym typeface="Montserrat"/>
                </a:rPr>
                <a:t>1</a:t>
              </a:r>
              <a:endParaRPr sz="1600" b="1" i="0" u="none" strike="noStrike" cap="none">
                <a:solidFill>
                  <a:schemeClr val="lt1"/>
                </a:solidFill>
                <a:latin typeface="Montserrat"/>
                <a:ea typeface="Montserrat"/>
                <a:cs typeface="Montserrat"/>
                <a:sym typeface="Montserrat"/>
              </a:endParaRPr>
            </a:p>
          </p:txBody>
        </p:sp>
      </p:grpSp>
      <p:grpSp>
        <p:nvGrpSpPr>
          <p:cNvPr id="178" name="Google Shape;178;p36"/>
          <p:cNvGrpSpPr/>
          <p:nvPr/>
        </p:nvGrpSpPr>
        <p:grpSpPr>
          <a:xfrm>
            <a:off x="845337" y="1945226"/>
            <a:ext cx="6592014" cy="348600"/>
            <a:chOff x="712692" y="1608042"/>
            <a:chExt cx="6592014" cy="348600"/>
          </a:xfrm>
        </p:grpSpPr>
        <p:sp>
          <p:nvSpPr>
            <p:cNvPr id="179" name="Google Shape;179;p36"/>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a:solidFill>
                    <a:srgbClr val="3A3A3A"/>
                  </a:solidFill>
                  <a:latin typeface="Montserrat"/>
                  <a:ea typeface="Montserrat"/>
                  <a:cs typeface="Montserrat"/>
                  <a:sym typeface="Montserrat"/>
                </a:rPr>
                <a:t>The Explainability Trap</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r>
                <a:t>Why "we can explain it" does not mean "we can trust it"</a:t>
              </a:r>
            </a:p>
          </p:txBody>
        </p:sp>
        <p:sp>
          <p:nvSpPr>
            <p:cNvPr id="180" name="Google Shape;180;p36"/>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2</a:t>
              </a:r>
              <a:endParaRPr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1000"/>
                                        <p:tgtEl>
                                          <p:spTgt spid="1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8"/>
                                        </p:tgtEl>
                                        <p:attrNameLst>
                                          <p:attrName>style.visibility</p:attrName>
                                        </p:attrNameLst>
                                      </p:cBhvr>
                                      <p:to>
                                        <p:strVal val="visible"/>
                                      </p:to>
                                    </p:set>
                                    <p:animEffect transition="in" filter="fade">
                                      <p:cBhvr>
                                        <p:cTn id="12"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84" name="Shape 184"/>
        <p:cNvGrpSpPr/>
        <p:nvPr/>
      </p:nvGrpSpPr>
      <p:grpSpPr>
        <a:xfrm>
          <a:off x="0" y="0"/>
          <a:ext cx="0" cy="0"/>
          <a:chOff x="0" y="0"/>
          <a:chExt cx="0" cy="0"/>
        </a:xfrm>
      </p:grpSpPr>
      <p:pic>
        <p:nvPicPr>
          <p:cNvPr id="185" name="Google Shape;185;p37" descr="C:\Users\lt107\Desktop\3x\Asset 2@3x.png"/>
          <p:cNvPicPr preferRelativeResize="0"/>
          <p:nvPr/>
        </p:nvPicPr>
        <p:blipFill rotWithShape="1">
          <a:blip r:embed="rId1"/>
          <a:srcRect/>
          <a:stretch>
            <a:fillRect/>
          </a:stretch>
        </p:blipFill>
        <p:spPr>
          <a:xfrm>
            <a:off x="363818" y="4781550"/>
            <a:ext cx="588358" cy="230832"/>
          </a:xfrm>
          <a:prstGeom prst="rect">
            <a:avLst/>
          </a:prstGeom>
          <a:noFill/>
          <a:ln>
            <a:noFill/>
          </a:ln>
        </p:spPr>
      </p:pic>
      <p:sp>
        <p:nvSpPr>
          <p:cNvPr id="186" name="Google Shape;186;p37"/>
          <p:cNvSpPr/>
          <p:nvPr/>
        </p:nvSpPr>
        <p:spPr>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0"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7" name="Google Shape;187;p37"/>
          <p:cNvSpPr txBox="1"/>
          <p:nvPr/>
        </p:nvSpPr>
        <p:spPr>
          <a:xfrm>
            <a:off x="342900" y="372875"/>
            <a:ext cx="7706400" cy="4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600"/>
              <a:buFont typeface="Arial" panose="020B0604020202020204"/>
              <a:buNone/>
            </a:pPr>
            <a:r>
              <a:rPr lang="en-GB" sz="2600" b="1" i="0" u="none" strike="noStrike" cap="none">
                <a:solidFill>
                  <a:srgbClr val="3A3A3A"/>
                </a:solidFill>
                <a:latin typeface="Montserrat"/>
                <a:ea typeface="Montserrat"/>
                <a:cs typeface="Montserrat"/>
                <a:sym typeface="Montserrat"/>
              </a:rPr>
              <a:t>Overview : </a:t>
            </a:r>
            <a:r>
              <a:rPr lang="en-GB" sz="2600" b="1">
                <a:solidFill>
                  <a:srgbClr val="3A3A3A"/>
                </a:solidFill>
                <a:latin typeface="Montserrat"/>
                <a:ea typeface="Montserrat"/>
                <a:cs typeface="Montserrat"/>
                <a:sym typeface="Montserrat"/>
              </a:rPr>
              <a:t>(Continued)</a:t>
            </a:r>
            <a:endParaRPr sz="2600" b="1" i="0" u="none" strike="noStrike" cap="none">
              <a:solidFill>
                <a:srgbClr val="3A3A3A"/>
              </a:solidFill>
              <a:latin typeface="Montserrat"/>
              <a:ea typeface="Montserrat"/>
              <a:cs typeface="Montserrat"/>
              <a:sym typeface="Montserrat"/>
            </a:endParaRPr>
          </a:p>
        </p:txBody>
      </p:sp>
      <p:sp>
        <p:nvSpPr>
          <p:cNvPr id="188" name="Google Shape;188;p37"/>
          <p:cNvSpPr/>
          <p:nvPr/>
        </p:nvSpPr>
        <p:spPr>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89" name="Google Shape;189;p37"/>
          <p:cNvCxnSpPr/>
          <p:nvPr/>
        </p:nvCxnSpPr>
        <p:spPr>
          <a:xfrm>
            <a:off x="342899" y="4629150"/>
            <a:ext cx="8343000" cy="0"/>
          </a:xfrm>
          <a:prstGeom prst="straightConnector1">
            <a:avLst/>
          </a:prstGeom>
          <a:noFill/>
          <a:ln w="12700" cap="flat" cmpd="sng">
            <a:solidFill>
              <a:srgbClr val="F7F7F7"/>
            </a:solidFill>
            <a:prstDash val="solid"/>
            <a:round/>
            <a:headEnd type="none" w="sm" len="sm"/>
            <a:tailEnd type="none" w="sm" len="sm"/>
          </a:ln>
        </p:spPr>
      </p:cxnSp>
      <p:grpSp>
        <p:nvGrpSpPr>
          <p:cNvPr id="190" name="Google Shape;190;p37"/>
          <p:cNvGrpSpPr/>
          <p:nvPr/>
        </p:nvGrpSpPr>
        <p:grpSpPr>
          <a:xfrm>
            <a:off x="845337" y="2461702"/>
            <a:ext cx="5658414" cy="348600"/>
            <a:chOff x="712692" y="2825337"/>
            <a:chExt cx="5658414" cy="348600"/>
          </a:xfrm>
        </p:grpSpPr>
        <p:sp>
          <p:nvSpPr>
            <p:cNvPr id="191" name="Google Shape;191;p37"/>
            <p:cNvSpPr txBox="1"/>
            <p:nvPr/>
          </p:nvSpPr>
          <p:spPr>
            <a:xfrm>
              <a:off x="1219206" y="2876559"/>
              <a:ext cx="51519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a:solidFill>
                    <a:srgbClr val="3A3A3A"/>
                  </a:solidFill>
                  <a:latin typeface="Montserrat"/>
                  <a:ea typeface="Montserrat"/>
                  <a:cs typeface="Montserrat"/>
                  <a:sym typeface="Montserrat"/>
                </a:rPr>
                <a:t>Our Codebase, Mapped</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r>
                <a:t>What we've built against each principle — and what we haven't</a:t>
              </a:r>
            </a:p>
          </p:txBody>
        </p:sp>
        <p:sp>
          <p:nvSpPr>
            <p:cNvPr id="192" name="Google Shape;192;p37"/>
            <p:cNvSpPr/>
            <p:nvPr/>
          </p:nvSpPr>
          <p:spPr>
            <a:xfrm>
              <a:off x="712692" y="2825337"/>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5</a:t>
              </a:r>
              <a:endParaRPr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grpSp>
        <p:nvGrpSpPr>
          <p:cNvPr id="193" name="Google Shape;193;p37"/>
          <p:cNvGrpSpPr/>
          <p:nvPr/>
        </p:nvGrpSpPr>
        <p:grpSpPr>
          <a:xfrm>
            <a:off x="845337" y="1428750"/>
            <a:ext cx="6592014" cy="348600"/>
            <a:chOff x="712692" y="1608042"/>
            <a:chExt cx="6592014" cy="348600"/>
          </a:xfrm>
        </p:grpSpPr>
        <p:sp>
          <p:nvSpPr>
            <p:cNvPr id="194" name="Google Shape;194;p37"/>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t>Core Principles</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r>
                <a:t>Fairness, Transparency, Accountability, Robustness, Privacy, Reliability</a:t>
              </a:r>
            </a:p>
          </p:txBody>
        </p:sp>
        <p:sp>
          <p:nvSpPr>
            <p:cNvPr id="195" name="Google Shape;195;p37"/>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96" name="Google Shape;196;p37"/>
            <p:cNvSpPr txBox="1"/>
            <p:nvPr/>
          </p:nvSpPr>
          <p:spPr>
            <a:xfrm>
              <a:off x="845337" y="1659255"/>
              <a:ext cx="834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i="0" u="none" strike="noStrike" cap="none">
                  <a:solidFill>
                    <a:schemeClr val="lt1"/>
                  </a:solidFill>
                  <a:latin typeface="Montserrat"/>
                  <a:ea typeface="Montserrat"/>
                  <a:cs typeface="Montserrat"/>
                  <a:sym typeface="Montserrat"/>
                </a:rPr>
                <a:t>3</a:t>
              </a:r>
              <a:endParaRPr sz="1600" b="1" i="0" u="none" strike="noStrike" cap="none">
                <a:solidFill>
                  <a:schemeClr val="lt1"/>
                </a:solidFill>
                <a:latin typeface="Montserrat"/>
                <a:ea typeface="Montserrat"/>
                <a:cs typeface="Montserrat"/>
                <a:sym typeface="Montserrat"/>
              </a:endParaRPr>
            </a:p>
          </p:txBody>
        </p:sp>
      </p:grpSp>
      <p:grpSp>
        <p:nvGrpSpPr>
          <p:cNvPr id="197" name="Google Shape;197;p37"/>
          <p:cNvGrpSpPr/>
          <p:nvPr/>
        </p:nvGrpSpPr>
        <p:grpSpPr>
          <a:xfrm>
            <a:off x="845337" y="1945226"/>
            <a:ext cx="6592014" cy="348600"/>
            <a:chOff x="712692" y="1608042"/>
            <a:chExt cx="6592014" cy="348600"/>
          </a:xfrm>
        </p:grpSpPr>
        <p:sp>
          <p:nvSpPr>
            <p:cNvPr id="198" name="Google Shape;198;p37"/>
            <p:cNvSpPr txBox="1"/>
            <p:nvPr/>
          </p:nvSpPr>
          <p:spPr>
            <a:xfrm>
              <a:off x="1219206" y="1659267"/>
              <a:ext cx="6085500" cy="24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t>XAI × Causal AI</a:t>
              </a:r>
              <a:endParaRPr sz="1600" b="1" i="0" u="none" strike="noStrike" cap="none">
                <a:solidFill>
                  <a:srgbClr val="3A3A3A"/>
                </a:solidFill>
                <a:latin typeface="Montserrat"/>
                <a:ea typeface="Montserrat"/>
                <a:cs typeface="Montserrat"/>
                <a:sym typeface="Montserrat"/>
              </a:endParaRPr>
            </a:p>
            <a:p>
              <a:pPr>
                <a:defRPr sz="1100">
                  <a:solidFill>
                    <a:srgbClr val="4E4F50"/>
                  </a:solidFill>
                  <a:latin typeface="Montserrat"/>
                </a:defRPr>
              </a:pPr>
              <a:r>
                <a:t>Why correlational explanations aren't enough for trust</a:t>
              </a:r>
            </a:p>
          </p:txBody>
        </p:sp>
        <p:sp>
          <p:nvSpPr>
            <p:cNvPr id="199" name="Google Shape;199;p37"/>
            <p:cNvSpPr/>
            <p:nvPr/>
          </p:nvSpPr>
          <p:spPr>
            <a:xfrm>
              <a:off x="712692" y="1608042"/>
              <a:ext cx="348600" cy="3486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4</a:t>
              </a:r>
              <a:endParaRPr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3"/>
                                        </p:tgtEl>
                                        <p:attrNameLst>
                                          <p:attrName>style.visibility</p:attrName>
                                        </p:attrNameLst>
                                      </p:cBhvr>
                                      <p:to>
                                        <p:strVal val="visible"/>
                                      </p:to>
                                    </p:set>
                                    <p:animEffect transition="in" filter="fade">
                                      <p:cBhvr>
                                        <p:cTn id="7" dur="1000"/>
                                        <p:tgtEl>
                                          <p:spTgt spid="1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7"/>
                                        </p:tgtEl>
                                        <p:attrNameLst>
                                          <p:attrName>style.visibility</p:attrName>
                                        </p:attrNameLst>
                                      </p:cBhvr>
                                      <p:to>
                                        <p:strVal val="visible"/>
                                      </p:to>
                                    </p:set>
                                    <p:animEffect transition="in" filter="fade">
                                      <p:cBhvr>
                                        <p:cTn id="12" dur="1000"/>
                                        <p:tgtEl>
                                          <p:spTgt spid="19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0"/>
                                        </p:tgtEl>
                                        <p:attrNameLst>
                                          <p:attrName>style.visibility</p:attrName>
                                        </p:attrNameLst>
                                      </p:cBhvr>
                                      <p:to>
                                        <p:strVal val="visible"/>
                                      </p:to>
                                    </p:set>
                                    <p:animEffect transition="in" filter="fade">
                                      <p:cBhvr>
                                        <p:cTn id="17"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286500"/>
            <a:ext cx="8520600" cy="572700"/>
          </a:xfrm>
          <a:prstGeom prst="rect">
            <a:avLst/>
          </a:prstGeom>
          <a:noFill/>
          <a:ln>
            <a:noFill/>
          </a:ln>
        </p:spPr>
        <p:txBody>
          <a:bodyPr spcFirstLastPara="1" wrap="square" lIns="91425" tIns="91425" rIns="91425" bIns="91425" anchor="ctr" anchorCtr="0">
            <a:noAutofit/>
          </a:bodyPr>
          <a:lstStyle/>
          <a:p>
            <a:r>
              <a:t>What Is Trustworthy AI?</a:t>
            </a:r>
          </a:p>
        </p:txBody>
      </p:sp>
      <p:sp>
        <p:nvSpPr>
          <p:cNvPr id="205" name="Google Shape;205;p38"/>
          <p:cNvSpPr txBox="1"/>
          <p:nvPr/>
        </p:nvSpPr>
        <p:spPr>
          <a:xfrm>
            <a:off x="350263" y="3455617"/>
            <a:ext cx="7331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panose="020B0604020202020204"/>
              <a:buNone/>
            </a:pPr>
            <a:r>
              <a:rPr sz="1400">
                <a:solidFill>
                  <a:srgbClr val="3A3A3A"/>
                </a:solidFill>
                <a:latin typeface="Montserrat"/>
              </a:rPr>
              <a:t>Not "AI that feels okay" — AI with demonstrable, verifiable properties.</a:t>
            </a:r>
            <a:br>
              <a:rPr sz="1400">
                <a:solidFill>
                  <a:srgbClr val="3A3A3A"/>
                </a:solidFill>
                <a:latin typeface="Montserrat"/>
              </a:rPr>
            </a:br>
            <a:br>
              <a:rPr sz="1400">
                <a:solidFill>
                  <a:srgbClr val="3A3A3A"/>
                </a:solidFill>
                <a:latin typeface="Montserrat"/>
              </a:rPr>
            </a:br>
            <a:r>
              <a:t>NIST AI RMF defines trustworthy AI through seven characteristics.</a:t>
            </a:r>
            <a:br/>
            <a:r>
              <a:t>"Explainable" is one of seven — not the whole definition.</a:t>
            </a:r>
            <a:endParaRPr>
              <a:latin typeface="Montserrat"/>
              <a:ea typeface="Montserrat"/>
              <a:cs typeface="Montserrat"/>
              <a:sym typeface="Montserrat"/>
            </a:endParaRPr>
          </a:p>
        </p:txBody>
      </p:sp>
      <p:sp>
        <p:nvSpPr>
          <p:cNvPr id="206" name="Google Shape;206;p38"/>
          <p:cNvSpPr txBox="1"/>
          <p:nvPr/>
        </p:nvSpPr>
        <p:spPr>
          <a:xfrm>
            <a:off x="441503" y="744590"/>
            <a:ext cx="8085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latin typeface="Montserrat"/>
              <a:ea typeface="Montserrat"/>
              <a:cs typeface="Montserrat"/>
              <a:sym typeface="Montserrat"/>
            </a:endParaRPr>
          </a:p>
        </p:txBody>
      </p:sp>
      <p:sp>
        <p:nvSpPr>
          <p:cNvPr id="207" name="Google Shape;207;p38"/>
          <p:cNvSpPr txBox="1"/>
          <p:nvPr/>
        </p:nvSpPr>
        <p:spPr>
          <a:xfrm>
            <a:off x="344428" y="1583436"/>
            <a:ext cx="3136200" cy="431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2"/>
              </a:buClr>
              <a:buSzPts val="1600"/>
              <a:buFont typeface="Montserrat"/>
              <a:buChar char="●"/>
            </a:pPr>
            <a:endParaRPr sz="1600">
              <a:solidFill>
                <a:schemeClr val="dk2"/>
              </a:solidFill>
              <a:latin typeface="Montserrat"/>
              <a:ea typeface="Montserrat"/>
              <a:cs typeface="Montserrat"/>
              <a:sym typeface="Montserrat"/>
            </a:endParaRPr>
          </a:p>
        </p:txBody>
      </p:sp>
      <p:sp>
        <p:nvSpPr>
          <p:cNvPr id="209" name="Google Shape;209;p38"/>
          <p:cNvSpPr txBox="1"/>
          <p:nvPr/>
        </p:nvSpPr>
        <p:spPr>
          <a:xfrm>
            <a:off x="344425" y="859200"/>
            <a:ext cx="780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sz="1600" b="1">
                <a:solidFill>
                  <a:srgbClr val="3A3A3A"/>
                </a:solidFill>
                <a:latin typeface="Montserrat"/>
              </a:rPr>
              <a:t>Trustworthy AI = an AI system whose behavior can be justifiably</a:t>
            </a:r>
            <a:br>
              <a:rPr sz="1600" b="1">
                <a:solidFill>
                  <a:srgbClr val="3A3A3A"/>
                </a:solidFill>
                <a:latin typeface="Montserrat"/>
              </a:rPr>
            </a:br>
            <a:r>
              <a:t>relied upon by the people affected by it.</a:t>
            </a:r>
          </a:p>
        </p:txBody>
      </p:sp>
      <p:sp>
        <p:nvSpPr>
          <p:cNvPr id="210" name="Rounded Rectangle 209"/>
          <p:cNvSpPr/>
          <p:nvPr/>
        </p:nvSpPr>
        <p:spPr>
          <a:xfrm>
            <a:off x="234950" y="1943100"/>
            <a:ext cx="1812925" cy="361315"/>
          </a:xfrm>
          <a:prstGeom prst="roundRect">
            <a:avLst/>
          </a:prstGeom>
          <a:solidFill>
            <a:srgbClr val="FFFFFF"/>
          </a:solidFill>
          <a:ln w="25400">
            <a:solidFill>
              <a:srgbClr val="2EBFC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2EBFCA"/>
                </a:solidFill>
                <a:latin typeface="Montserrat"/>
              </a:defRPr>
            </a:pPr>
            <a:r>
              <a:t>Valid &amp;</a:t>
            </a:r>
            <a:br/>
            <a:r>
              <a:t>Reliable</a:t>
            </a:r>
          </a:p>
        </p:txBody>
      </p:sp>
      <p:sp>
        <p:nvSpPr>
          <p:cNvPr id="211" name="Rounded Rectangle 210"/>
          <p:cNvSpPr/>
          <p:nvPr/>
        </p:nvSpPr>
        <p:spPr>
          <a:xfrm>
            <a:off x="1581912" y="3749039"/>
            <a:ext cx="1" cy="1"/>
          </a:xfrm>
          <a:prstGeom prst="roundRect">
            <a:avLst/>
          </a:prstGeom>
          <a:solidFill>
            <a:srgbClr val="FFFFFF"/>
          </a:solidFill>
          <a:ln w="25400">
            <a:solidFill>
              <a:srgbClr val="E85B5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E85B5B"/>
                </a:solidFill>
                <a:latin typeface="Montserrat"/>
              </a:defRPr>
            </a:pPr>
            <a:r>
              <a:t>Safe</a:t>
            </a:r>
          </a:p>
        </p:txBody>
      </p:sp>
      <p:sp>
        <p:nvSpPr>
          <p:cNvPr id="212" name="Rounded Rectangle 211"/>
          <p:cNvSpPr/>
          <p:nvPr/>
        </p:nvSpPr>
        <p:spPr>
          <a:xfrm>
            <a:off x="2752344" y="3749039"/>
            <a:ext cx="1" cy="1"/>
          </a:xfrm>
          <a:prstGeom prst="roundRect">
            <a:avLst/>
          </a:prstGeom>
          <a:solidFill>
            <a:srgbClr val="FFFFFF"/>
          </a:solidFill>
          <a:ln w="25400">
            <a:solidFill>
              <a:srgbClr val="6B46C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6B46C1"/>
                </a:solidFill>
                <a:latin typeface="Montserrat"/>
              </a:defRPr>
            </a:pPr>
            <a:r>
              <a:t>Secure &amp;</a:t>
            </a:r>
            <a:br/>
            <a:r>
              <a:t>Resilient</a:t>
            </a:r>
          </a:p>
        </p:txBody>
      </p:sp>
      <p:sp>
        <p:nvSpPr>
          <p:cNvPr id="213" name="Rounded Rectangle 212"/>
          <p:cNvSpPr/>
          <p:nvPr/>
        </p:nvSpPr>
        <p:spPr>
          <a:xfrm>
            <a:off x="3922776" y="3749039"/>
            <a:ext cx="1" cy="1"/>
          </a:xfrm>
          <a:prstGeom prst="roundRect">
            <a:avLst/>
          </a:prstGeom>
          <a:solidFill>
            <a:srgbClr val="FFFFFF"/>
          </a:solidFill>
          <a:ln w="25400">
            <a:solidFill>
              <a:srgbClr val="8BB76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8BB762"/>
                </a:solidFill>
                <a:latin typeface="Montserrat"/>
              </a:defRPr>
            </a:pPr>
            <a:r>
              <a:t>Accountable &amp;</a:t>
            </a:r>
            <a:br/>
            <a:r>
              <a:t>Transparent</a:t>
            </a:r>
          </a:p>
        </p:txBody>
      </p:sp>
      <p:sp>
        <p:nvSpPr>
          <p:cNvPr id="214" name="Rounded Rectangle 213"/>
          <p:cNvSpPr/>
          <p:nvPr/>
        </p:nvSpPr>
        <p:spPr>
          <a:xfrm>
            <a:off x="5093208" y="3749039"/>
            <a:ext cx="1" cy="1"/>
          </a:xfrm>
          <a:prstGeom prst="roundRect">
            <a:avLst/>
          </a:prstGeom>
          <a:solidFill>
            <a:srgbClr val="FFFFFF"/>
          </a:solidFill>
          <a:ln w="25400">
            <a:solidFill>
              <a:srgbClr val="FDBA4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DBA4D"/>
                </a:solidFill>
                <a:latin typeface="Montserrat"/>
              </a:defRPr>
            </a:pPr>
            <a:r>
              <a:t>Explainable &amp;</a:t>
            </a:r>
            <a:br/>
            <a:r>
              <a:t>Interpretable</a:t>
            </a:r>
          </a:p>
        </p:txBody>
      </p:sp>
      <p:sp>
        <p:nvSpPr>
          <p:cNvPr id="215" name="Rounded Rectangle 214"/>
          <p:cNvSpPr/>
          <p:nvPr/>
        </p:nvSpPr>
        <p:spPr>
          <a:xfrm>
            <a:off x="6263640" y="3749039"/>
            <a:ext cx="1" cy="1"/>
          </a:xfrm>
          <a:prstGeom prst="roundRect">
            <a:avLst/>
          </a:prstGeom>
          <a:solidFill>
            <a:srgbClr val="FFFFFF"/>
          </a:solidFill>
          <a:ln w="25400">
            <a:solidFill>
              <a:srgbClr val="4E4F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4E4F50"/>
                </a:solidFill>
                <a:latin typeface="Montserrat"/>
              </a:defRPr>
            </a:pPr>
            <a:r>
              <a:t>Privacy-</a:t>
            </a:r>
            <a:br/>
            <a:r>
              <a:t>Enhanced</a:t>
            </a:r>
          </a:p>
        </p:txBody>
      </p:sp>
      <p:sp>
        <p:nvSpPr>
          <p:cNvPr id="216" name="Rounded Rectangle 215"/>
          <p:cNvSpPr/>
          <p:nvPr/>
        </p:nvSpPr>
        <p:spPr>
          <a:xfrm>
            <a:off x="7434072" y="3749039"/>
            <a:ext cx="1" cy="1"/>
          </a:xfrm>
          <a:prstGeom prst="roundRect">
            <a:avLst/>
          </a:prstGeom>
          <a:solidFill>
            <a:srgbClr val="FFFFFF"/>
          </a:solidFill>
          <a:ln w="25400">
            <a:solidFill>
              <a:srgbClr val="E85B5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E85B5B"/>
                </a:solidFill>
                <a:latin typeface="Montserrat"/>
              </a:defRPr>
            </a:pPr>
            <a:r>
              <a:t>Fair — Harmful</a:t>
            </a:r>
            <a:br/>
            <a:r>
              <a:t>Bias Managed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Three Ways AI Systems Fail</a:t>
            </a:r>
          </a:p>
        </p:txBody>
      </p:sp>
      <p:sp>
        <p:nvSpPr>
          <p:cNvPr id="3" name="TextBox 2"/>
          <p:cNvSpPr txBox="1"/>
          <p:nvPr/>
        </p:nvSpPr>
        <p:spPr>
          <a:xfrm>
            <a:off x="411480" y="1463040"/>
            <a:ext cx="8321040" cy="3200400"/>
          </a:xfrm>
          <a:prstGeom prst="rect">
            <a:avLst/>
          </a:prstGeom>
          <a:noFill/>
        </p:spPr>
        <p:txBody>
          <a:bodyPr wrap="square">
            <a:spAutoFit/>
          </a:bodyPr>
          <a:lstStyle/>
          <a:p>
            <a:pPr>
              <a:lnSpc>
                <a:spcPts val="2250"/>
              </a:lnSpc>
              <a:spcAft>
                <a:spcPts val="400"/>
              </a:spcAft>
              <a:defRPr sz="1500">
                <a:solidFill>
                  <a:srgbClr val="3A3A3A"/>
                </a:solidFill>
                <a:latin typeface="Montserrat"/>
              </a:defRPr>
            </a:pPr>
            <a:r>
              <a:t>●  Silent Failure — A model confidently wrong (hallucination, biased denial)</a:t>
            </a:r>
          </a:p>
          <a:p>
            <a:pPr>
              <a:lnSpc>
                <a:spcPts val="2250"/>
              </a:lnSpc>
              <a:spcAft>
                <a:spcPts val="400"/>
              </a:spcAft>
              <a:defRPr sz="1500">
                <a:solidFill>
                  <a:srgbClr val="3A3A3A"/>
                </a:solidFill>
                <a:latin typeface="Montserrat"/>
              </a:defRPr>
            </a:pPr>
            <a:r>
              <a:t>     with no signal that anything went wrong. The system doesn't know</a:t>
            </a:r>
          </a:p>
          <a:p>
            <a:pPr>
              <a:lnSpc>
                <a:spcPts val="2250"/>
              </a:lnSpc>
              <a:spcAft>
                <a:spcPts val="400"/>
              </a:spcAft>
              <a:defRPr sz="1500">
                <a:solidFill>
                  <a:srgbClr val="3A3A3A"/>
                </a:solidFill>
                <a:latin typeface="Montserrat"/>
              </a:defRPr>
            </a:pPr>
            <a:r>
              <a:t>     it doesn't know.</a:t>
            </a:r>
          </a:p>
          <a:p>
            <a:pPr>
              <a:lnSpc>
                <a:spcPts val="2250"/>
              </a:lnSpc>
              <a:spcAft>
                <a:spcPts val="400"/>
              </a:spcAft>
              <a:defRPr sz="1500">
                <a:solidFill>
                  <a:srgbClr val="3A3A3A"/>
                </a:solidFill>
                <a:latin typeface="Montserrat"/>
              </a:defRPr>
            </a:pPr>
          </a:p>
          <a:p>
            <a:pPr>
              <a:lnSpc>
                <a:spcPts val="2250"/>
              </a:lnSpc>
              <a:spcAft>
                <a:spcPts val="400"/>
              </a:spcAft>
              <a:defRPr sz="1500">
                <a:solidFill>
                  <a:srgbClr val="3A3A3A"/>
                </a:solidFill>
                <a:latin typeface="Montserrat"/>
              </a:defRPr>
            </a:pPr>
            <a:r>
              <a:t>●  Adversarial Failure — A system manipulated by a bad actor (prompt</a:t>
            </a:r>
          </a:p>
          <a:p>
            <a:pPr>
              <a:lnSpc>
                <a:spcPts val="2250"/>
              </a:lnSpc>
              <a:spcAft>
                <a:spcPts val="400"/>
              </a:spcAft>
              <a:defRPr sz="1500">
                <a:solidFill>
                  <a:srgbClr val="3A3A3A"/>
                </a:solidFill>
                <a:latin typeface="Montserrat"/>
              </a:defRPr>
            </a:pPr>
            <a:r>
              <a:t>     injection, data poisoning, jailbreak). The model is functioning</a:t>
            </a:r>
          </a:p>
          <a:p>
            <a:pPr>
              <a:lnSpc>
                <a:spcPts val="2250"/>
              </a:lnSpc>
              <a:spcAft>
                <a:spcPts val="400"/>
              </a:spcAft>
              <a:defRPr sz="1500">
                <a:solidFill>
                  <a:srgbClr val="3A3A3A"/>
                </a:solidFill>
                <a:latin typeface="Montserrat"/>
              </a:defRPr>
            </a:pPr>
            <a:r>
              <a:t>     exactly as designed; the input isn't.</a:t>
            </a:r>
          </a:p>
          <a:p>
            <a:pPr>
              <a:lnSpc>
                <a:spcPts val="2250"/>
              </a:lnSpc>
              <a:spcAft>
                <a:spcPts val="400"/>
              </a:spcAft>
              <a:defRPr sz="1500">
                <a:solidFill>
                  <a:srgbClr val="3A3A3A"/>
                </a:solidFill>
                <a:latin typeface="Montserrat"/>
              </a:defRPr>
            </a:pPr>
          </a:p>
          <a:p>
            <a:pPr>
              <a:lnSpc>
                <a:spcPts val="2250"/>
              </a:lnSpc>
              <a:spcAft>
                <a:spcPts val="400"/>
              </a:spcAft>
              <a:defRPr sz="1500">
                <a:solidFill>
                  <a:srgbClr val="3A3A3A"/>
                </a:solidFill>
                <a:latin typeface="Montserrat"/>
              </a:defRPr>
            </a:pPr>
            <a:r>
              <a:t>●  Systemic Failure — Individually "correct" predictions producing harmful</a:t>
            </a:r>
          </a:p>
          <a:p>
            <a:pPr>
              <a:lnSpc>
                <a:spcPts val="2250"/>
              </a:lnSpc>
              <a:spcAft>
                <a:spcPts val="400"/>
              </a:spcAft>
              <a:defRPr sz="1500">
                <a:solidFill>
                  <a:srgbClr val="3A3A3A"/>
                </a:solidFill>
                <a:latin typeface="Montserrat"/>
              </a:defRPr>
            </a:pPr>
            <a:r>
              <a:t>     aggregate outcomes. Disparate impact across a protected group with</a:t>
            </a:r>
          </a:p>
          <a:p>
            <a:pPr>
              <a:lnSpc>
                <a:spcPts val="2250"/>
              </a:lnSpc>
              <a:spcAft>
                <a:spcPts val="400"/>
              </a:spcAft>
              <a:defRPr sz="1500">
                <a:solidFill>
                  <a:srgbClr val="3A3A3A"/>
                </a:solidFill>
                <a:latin typeface="Montserrat"/>
              </a:defRPr>
            </a:pPr>
            <a:r>
              <a:t>     no single wrong prediction — this is why you can't evaluate</a:t>
            </a:r>
          </a:p>
          <a:p>
            <a:pPr>
              <a:lnSpc>
                <a:spcPts val="2250"/>
              </a:lnSpc>
              <a:spcAft>
                <a:spcPts val="400"/>
              </a:spcAft>
              <a:defRPr sz="1500">
                <a:solidFill>
                  <a:srgbClr val="3A3A3A"/>
                </a:solidFill>
                <a:latin typeface="Montserrat"/>
              </a:defRPr>
            </a:pPr>
            <a:r>
              <a:t>     trustworthiness one prediction at a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311700" y="286500"/>
            <a:ext cx="8520600" cy="572700"/>
          </a:xfrm>
          <a:prstGeom prst="rect">
            <a:avLst/>
          </a:prstGeom>
          <a:ln>
            <a:noFill/>
          </a:ln>
        </p:spPr>
        <p:txBody>
          <a:bodyPr spcFirstLastPara="1" wrap="square" lIns="91425" tIns="91425" rIns="91425" bIns="91425" anchor="ctr" anchorCtr="0">
            <a:noAutofit/>
          </a:bodyPr>
          <a:lstStyle/>
          <a:p>
            <a:r>
              <a:t>Why Do We Need Trustworthy AI?</a:t>
            </a:r>
          </a:p>
        </p:txBody>
      </p:sp>
      <p:sp>
        <p:nvSpPr>
          <p:cNvPr id="215" name="Google Shape;215;p39"/>
          <p:cNvSpPr txBox="1"/>
          <p:nvPr/>
        </p:nvSpPr>
        <p:spPr>
          <a:xfrm>
            <a:off x="2482650" y="1977000"/>
            <a:ext cx="4178700" cy="182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sz="1700">
                <a:solidFill>
                  <a:srgbClr val="3A3A3A"/>
                </a:solidFill>
                <a:latin typeface="Montserrat"/>
              </a:rPr>
              <a:t>AI moved from recommendation systems (wrong answer = mild annoyance)</a:t>
            </a:r>
            <a:br>
              <a:rPr sz="1700">
                <a:solidFill>
                  <a:srgbClr val="3A3A3A"/>
                </a:solidFill>
                <a:latin typeface="Montserrat"/>
              </a:rPr>
            </a:br>
            <a:r>
              <a:t>to decision-making and agentic systems (wrong answer = financial loss,</a:t>
            </a:r>
            <a:br/>
            <a:r>
              <a:t>legal exposure, physical harm, denied opportunity).</a:t>
            </a:r>
            <a:br/>
            <a:br/>
            <a:r>
              <a:t>Three concrete failure categories — not abstract assertions:</a:t>
            </a:r>
            <a:br/>
            <a:br/>
            <a:r>
              <a:t>  Silent Failure — confidently wrong with no error signal</a:t>
            </a:r>
            <a:br/>
            <a:r>
              <a:t>  Adversarial Failure — manipulated by prompt injection, jailbreak, poisoning</a:t>
            </a:r>
            <a:br/>
            <a:r>
              <a:t>  Systemic Failure — individually correct predictions, harmful aggregate outcomes</a:t>
            </a:r>
            <a:endParaRPr sz="1600">
              <a:solidFill>
                <a:srgbClr val="FF00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Regulatory Reality: Trustworthiness Is No Longer Optional</a:t>
            </a:r>
          </a:p>
        </p:txBody>
      </p:sp>
      <p:sp>
        <p:nvSpPr>
          <p:cNvPr id="3" name="Rounded Rectangle 2"/>
          <p:cNvSpPr/>
          <p:nvPr/>
        </p:nvSpPr>
        <p:spPr>
          <a:xfrm>
            <a:off x="320040" y="1463040"/>
            <a:ext cx="3977639" cy="310896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463040"/>
            <a:ext cx="3977639" cy="45720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08760"/>
            <a:ext cx="3657600" cy="365760"/>
          </a:xfrm>
          <a:prstGeom prst="rect">
            <a:avLst/>
          </a:prstGeom>
          <a:noFill/>
        </p:spPr>
        <p:txBody>
          <a:bodyPr wrap="square">
            <a:spAutoFit/>
          </a:bodyPr>
          <a:lstStyle/>
          <a:p>
            <a:pPr algn="l">
              <a:defRPr sz="1400" b="1">
                <a:solidFill>
                  <a:srgbClr val="FFFFFF"/>
                </a:solidFill>
                <a:latin typeface="Montserrat"/>
              </a:defRPr>
            </a:pPr>
            <a:r>
              <a:t>EU AI Act — Binding Law</a:t>
            </a:r>
          </a:p>
        </p:txBody>
      </p:sp>
      <p:sp>
        <p:nvSpPr>
          <p:cNvPr id="6" name="TextBox 5"/>
          <p:cNvSpPr txBox="1"/>
          <p:nvPr/>
        </p:nvSpPr>
        <p:spPr>
          <a:xfrm>
            <a:off x="457200" y="2057400"/>
            <a:ext cx="3657600" cy="2377440"/>
          </a:xfrm>
          <a:prstGeom prst="rect">
            <a:avLst/>
          </a:prstGeom>
          <a:noFill/>
        </p:spPr>
        <p:txBody>
          <a:bodyPr wrap="square">
            <a:spAutoFit/>
          </a:bodyPr>
          <a:lstStyle/>
          <a:p>
            <a:pPr>
              <a:lnSpc>
                <a:spcPts val="1485"/>
              </a:lnSpc>
              <a:spcAft>
                <a:spcPts val="400"/>
              </a:spcAft>
              <a:defRPr sz="1100">
                <a:solidFill>
                  <a:srgbClr val="3A3A3A"/>
                </a:solidFill>
                <a:latin typeface="Montserrat"/>
              </a:defRPr>
            </a:pPr>
            <a:r>
              <a:t>Unacceptable risk → Prohibited</a:t>
            </a:r>
          </a:p>
          <a:p>
            <a:pPr>
              <a:lnSpc>
                <a:spcPts val="1485"/>
              </a:lnSpc>
              <a:spcAft>
                <a:spcPts val="400"/>
              </a:spcAft>
              <a:defRPr sz="1100">
                <a:solidFill>
                  <a:srgbClr val="3A3A3A"/>
                </a:solidFill>
                <a:latin typeface="Montserrat"/>
              </a:defRPr>
            </a:pPr>
            <a:r>
              <a:t>High risk → Strict obligations (conformity</a:t>
            </a:r>
          </a:p>
          <a:p>
            <a:pPr>
              <a:lnSpc>
                <a:spcPts val="1485"/>
              </a:lnSpc>
              <a:spcAft>
                <a:spcPts val="400"/>
              </a:spcAft>
              <a:defRPr sz="1100">
                <a:solidFill>
                  <a:srgbClr val="3A3A3A"/>
                </a:solidFill>
                <a:latin typeface="Montserrat"/>
              </a:defRPr>
            </a:pPr>
            <a:r>
              <a:t>  assessment, human oversight, transparency)</a:t>
            </a:r>
          </a:p>
          <a:p>
            <a:pPr>
              <a:lnSpc>
                <a:spcPts val="1485"/>
              </a:lnSpc>
              <a:spcAft>
                <a:spcPts val="400"/>
              </a:spcAft>
              <a:defRPr sz="1100">
                <a:solidFill>
                  <a:srgbClr val="3A3A3A"/>
                </a:solidFill>
                <a:latin typeface="Montserrat"/>
              </a:defRPr>
            </a:pPr>
            <a:r>
              <a:t>Limited risk → Transparency obligations only</a:t>
            </a:r>
          </a:p>
          <a:p>
            <a:pPr>
              <a:lnSpc>
                <a:spcPts val="1485"/>
              </a:lnSpc>
              <a:spcAft>
                <a:spcPts val="400"/>
              </a:spcAft>
              <a:defRPr sz="1100">
                <a:solidFill>
                  <a:srgbClr val="3A3A3A"/>
                </a:solidFill>
                <a:latin typeface="Montserrat"/>
              </a:defRPr>
            </a:pPr>
            <a:r>
              <a:t>Minimal risk → No mandatory obligations</a:t>
            </a:r>
          </a:p>
          <a:p>
            <a:pPr>
              <a:lnSpc>
                <a:spcPts val="1485"/>
              </a:lnSpc>
              <a:spcAft>
                <a:spcPts val="400"/>
              </a:spcAft>
              <a:defRPr sz="1100">
                <a:solidFill>
                  <a:srgbClr val="3A3A3A"/>
                </a:solidFill>
                <a:latin typeface="Montserrat"/>
              </a:defRPr>
            </a:pPr>
          </a:p>
          <a:p>
            <a:pPr>
              <a:lnSpc>
                <a:spcPts val="1485"/>
              </a:lnSpc>
              <a:spcAft>
                <a:spcPts val="400"/>
              </a:spcAft>
              <a:defRPr sz="1100">
                <a:solidFill>
                  <a:srgbClr val="3A3A3A"/>
                </a:solidFill>
                <a:latin typeface="Montserrat"/>
              </a:defRPr>
            </a:pPr>
            <a:r>
              <a:t>▸ Most rules effective August 2026</a:t>
            </a:r>
          </a:p>
          <a:p>
            <a:pPr>
              <a:lnSpc>
                <a:spcPts val="1485"/>
              </a:lnSpc>
              <a:spcAft>
                <a:spcPts val="400"/>
              </a:spcAft>
              <a:defRPr sz="1100">
                <a:solidFill>
                  <a:srgbClr val="3A3A3A"/>
                </a:solidFill>
                <a:latin typeface="Montserrat"/>
              </a:defRPr>
            </a:pPr>
            <a:r>
              <a:t>▸ High-risk obligations phase in 2026-2027</a:t>
            </a:r>
          </a:p>
        </p:txBody>
      </p:sp>
      <p:sp>
        <p:nvSpPr>
          <p:cNvPr id="7" name="Rounded Rectangle 6"/>
          <p:cNvSpPr/>
          <p:nvPr/>
        </p:nvSpPr>
        <p:spPr>
          <a:xfrm>
            <a:off x="4617720" y="1463040"/>
            <a:ext cx="3977639" cy="310896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17720" y="1463040"/>
            <a:ext cx="3977639" cy="45720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508760"/>
            <a:ext cx="3657600" cy="365760"/>
          </a:xfrm>
          <a:prstGeom prst="rect">
            <a:avLst/>
          </a:prstGeom>
          <a:noFill/>
        </p:spPr>
        <p:txBody>
          <a:bodyPr wrap="square">
            <a:spAutoFit/>
          </a:bodyPr>
          <a:lstStyle/>
          <a:p>
            <a:pPr algn="l">
              <a:defRPr sz="1400" b="1">
                <a:solidFill>
                  <a:srgbClr val="FFFFFF"/>
                </a:solidFill>
                <a:latin typeface="Montserrat"/>
              </a:defRPr>
            </a:pPr>
            <a:r>
              <a:t>NIST AI RMF — Voluntary Framework</a:t>
            </a:r>
          </a:p>
        </p:txBody>
      </p:sp>
      <p:sp>
        <p:nvSpPr>
          <p:cNvPr id="10" name="TextBox 9"/>
          <p:cNvSpPr txBox="1"/>
          <p:nvPr/>
        </p:nvSpPr>
        <p:spPr>
          <a:xfrm>
            <a:off x="4754880" y="2057400"/>
            <a:ext cx="3657600" cy="2377440"/>
          </a:xfrm>
          <a:prstGeom prst="rect">
            <a:avLst/>
          </a:prstGeom>
          <a:noFill/>
        </p:spPr>
        <p:txBody>
          <a:bodyPr wrap="square">
            <a:spAutoFit/>
          </a:bodyPr>
          <a:lstStyle/>
          <a:p>
            <a:pPr>
              <a:lnSpc>
                <a:spcPts val="1485"/>
              </a:lnSpc>
              <a:spcAft>
                <a:spcPts val="400"/>
              </a:spcAft>
              <a:defRPr sz="1100">
                <a:solidFill>
                  <a:srgbClr val="3A3A3A"/>
                </a:solidFill>
                <a:latin typeface="Montserrat"/>
              </a:defRPr>
            </a:pPr>
            <a:r>
              <a:t>Four functions (continuous cycle):</a:t>
            </a:r>
          </a:p>
          <a:p>
            <a:pPr>
              <a:lnSpc>
                <a:spcPts val="1485"/>
              </a:lnSpc>
              <a:spcAft>
                <a:spcPts val="400"/>
              </a:spcAft>
              <a:defRPr sz="1100">
                <a:solidFill>
                  <a:srgbClr val="3A3A3A"/>
                </a:solidFill>
                <a:latin typeface="Montserrat"/>
              </a:defRPr>
            </a:pPr>
          </a:p>
          <a:p>
            <a:pPr>
              <a:lnSpc>
                <a:spcPts val="1485"/>
              </a:lnSpc>
              <a:spcAft>
                <a:spcPts val="400"/>
              </a:spcAft>
              <a:defRPr sz="1100">
                <a:solidFill>
                  <a:srgbClr val="3A3A3A"/>
                </a:solidFill>
                <a:latin typeface="Montserrat"/>
              </a:defRPr>
            </a:pPr>
            <a:r>
              <a:t>Govern → Policies, accountability, culture</a:t>
            </a:r>
          </a:p>
          <a:p>
            <a:pPr>
              <a:lnSpc>
                <a:spcPts val="1485"/>
              </a:lnSpc>
              <a:spcAft>
                <a:spcPts val="400"/>
              </a:spcAft>
              <a:defRPr sz="1100">
                <a:solidFill>
                  <a:srgbClr val="3A3A3A"/>
                </a:solidFill>
                <a:latin typeface="Montserrat"/>
              </a:defRPr>
            </a:pPr>
            <a:r>
              <a:t>Map → Context, classification, risk assessment</a:t>
            </a:r>
          </a:p>
          <a:p>
            <a:pPr>
              <a:lnSpc>
                <a:spcPts val="1485"/>
              </a:lnSpc>
              <a:spcAft>
                <a:spcPts val="400"/>
              </a:spcAft>
              <a:defRPr sz="1100">
                <a:solidFill>
                  <a:srgbClr val="3A3A3A"/>
                </a:solidFill>
                <a:latin typeface="Montserrat"/>
              </a:defRPr>
            </a:pPr>
            <a:r>
              <a:t>Measure → Quantitative/qualitative evaluation</a:t>
            </a:r>
          </a:p>
          <a:p>
            <a:pPr>
              <a:lnSpc>
                <a:spcPts val="1485"/>
              </a:lnSpc>
              <a:spcAft>
                <a:spcPts val="400"/>
              </a:spcAft>
              <a:defRPr sz="1100">
                <a:solidFill>
                  <a:srgbClr val="3A3A3A"/>
                </a:solidFill>
                <a:latin typeface="Montserrat"/>
              </a:defRPr>
            </a:pPr>
            <a:r>
              <a:t>Manage → Risk treatment, incident response</a:t>
            </a:r>
          </a:p>
          <a:p>
            <a:pPr>
              <a:lnSpc>
                <a:spcPts val="1485"/>
              </a:lnSpc>
              <a:spcAft>
                <a:spcPts val="400"/>
              </a:spcAft>
              <a:defRPr sz="1100">
                <a:solidFill>
                  <a:srgbClr val="3A3A3A"/>
                </a:solidFill>
                <a:latin typeface="Montserrat"/>
              </a:defRPr>
            </a:pPr>
          </a:p>
          <a:p>
            <a:pPr>
              <a:lnSpc>
                <a:spcPts val="1485"/>
              </a:lnSpc>
              <a:spcAft>
                <a:spcPts val="400"/>
              </a:spcAft>
              <a:defRPr sz="1100">
                <a:solidFill>
                  <a:srgbClr val="3A3A3A"/>
                </a:solidFill>
                <a:latin typeface="Montserrat"/>
              </a:defRPr>
            </a:pPr>
            <a:r>
              <a:t>▸ Generative AI Profile (NIST AI 600-1, 2024)</a:t>
            </a:r>
          </a:p>
          <a:p>
            <a:pPr>
              <a:lnSpc>
                <a:spcPts val="1485"/>
              </a:lnSpc>
              <a:spcAft>
                <a:spcPts val="400"/>
              </a:spcAft>
              <a:defRPr sz="1100">
                <a:solidFill>
                  <a:srgbClr val="3A3A3A"/>
                </a:solidFill>
                <a:latin typeface="Montserrat"/>
              </a:defRPr>
            </a:pPr>
            <a:r>
              <a:t>▸ Not certifiable (pair with ISO 42001)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19" name="Shape 219"/>
        <p:cNvGrpSpPr/>
        <p:nvPr/>
      </p:nvGrpSpPr>
      <p:grpSpPr>
        <a:xfrm>
          <a:off x="0" y="0"/>
          <a:ext cx="0" cy="0"/>
          <a:chOff x="0" y="0"/>
          <a:chExt cx="0" cy="0"/>
        </a:xfrm>
      </p:grpSpPr>
      <p:sp>
        <p:nvSpPr>
          <p:cNvPr id="220" name="Google Shape;220;p40"/>
          <p:cNvSpPr txBox="1"/>
          <p:nvPr>
            <p:ph type="title"/>
          </p:nvPr>
        </p:nvSpPr>
        <p:spPr>
          <a:xfrm>
            <a:off x="311700" y="286500"/>
            <a:ext cx="8520600" cy="572700"/>
          </a:xfrm>
          <a:prstGeom prst="rect">
            <a:avLst/>
          </a:prstGeom>
          <a:ln>
            <a:noFill/>
          </a:ln>
        </p:spPr>
        <p:txBody>
          <a:bodyPr spcFirstLastPara="1" wrap="square" lIns="91425" tIns="91425" rIns="91425" bIns="91425" anchor="ctr" anchorCtr="0">
            <a:noAutofit/>
          </a:bodyPr>
          <a:lstStyle/>
          <a:p>
            <a:r>
              <a:t>The Explainability Trap</a:t>
            </a:r>
          </a:p>
        </p:txBody>
      </p:sp>
      <p:sp>
        <p:nvSpPr>
          <p:cNvPr id="221" name="Google Shape;221;p40"/>
          <p:cNvSpPr txBox="1"/>
          <p:nvPr/>
        </p:nvSpPr>
        <p:spPr>
          <a:xfrm>
            <a:off x="2052955" y="909955"/>
            <a:ext cx="4178935" cy="414718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b="1">
                <a:solidFill>
                  <a:srgbClr val="E85B5B"/>
                </a:solidFill>
                <a:latin typeface="Montserrat"/>
                <a:ea typeface="Montserrat"/>
                <a:cs typeface="Montserrat"/>
                <a:sym typeface="Montserrat"/>
              </a:rPr>
              <a:t>Why does "we can explain it"</a:t>
            </a:r>
            <a:r>
              <a:rPr sz="2000" b="1">
                <a:solidFill>
                  <a:srgbClr val="E85B5B"/>
                </a:solidFill>
                <a:latin typeface="Montserrat"/>
              </a:rPr>
              <a:t>
no longer mean "we can trust it"?</a:t>
            </a:r>
            <a:endParaRPr sz="2400" b="1">
              <a:solidFill>
                <a:srgbClr val="FF0000"/>
              </a:solidFill>
              <a:latin typeface="Montserrat"/>
              <a:ea typeface="Montserrat"/>
              <a:cs typeface="Montserrat"/>
              <a:sym typeface="Montserrat"/>
            </a:endParaRPr>
          </a:p>
          <a:p>
            <a:pPr marL="0" lvl="0" indent="0" algn="l" rtl="0">
              <a:spcBef>
                <a:spcPts val="0"/>
              </a:spcBef>
              <a:spcAft>
                <a:spcPts val="0"/>
              </a:spcAft>
              <a:buNone/>
            </a:pPr>
            <a:r>
              <a:rPr lang="en-GB" b="0">
                <a:solidFill>
                  <a:srgbClr val="3A3A3A"/>
                </a:solidFill>
                <a:latin typeface="Montserrat"/>
                <a:ea typeface="Montserrat"/>
                <a:cs typeface="Montserrat"/>
                <a:sym typeface="Montserrat"/>
              </a:rPr>
              <a:t>Five reasons the old assumption breaks down:
1. SHAP values are locally faithful but globally silent
2. Post-hoc explanations explain correlation, not causation
3. Explainable ≠ Fair, Secure, Private, or Reliable
4. LLMs hallucinate their own explanations
5. Adversarial robustness is orthogonal to explainability</a:t>
            </a:r>
            <a:endParaRPr lang="en-GB" b="0">
              <a:solidFill>
                <a:srgbClr val="3A3A3A"/>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Five Reasons "Explainable" ≠ "Trustworthy"</a:t>
            </a:r>
          </a:p>
        </p:txBody>
      </p:sp>
      <p:sp>
        <p:nvSpPr>
          <p:cNvPr id="3" name="Rounded Rectangle 2"/>
          <p:cNvSpPr/>
          <p:nvPr/>
        </p:nvSpPr>
        <p:spPr>
          <a:xfrm>
            <a:off x="411480" y="1463040"/>
            <a:ext cx="320040" cy="32004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481328"/>
            <a:ext cx="320040" cy="274320"/>
          </a:xfrm>
          <a:prstGeom prst="rect">
            <a:avLst/>
          </a:prstGeom>
          <a:noFill/>
        </p:spPr>
        <p:txBody>
          <a:bodyPr wrap="square">
            <a:spAutoFit/>
          </a:bodyPr>
          <a:lstStyle/>
          <a:p>
            <a:pPr algn="ctr">
              <a:defRPr sz="1400" b="1">
                <a:solidFill>
                  <a:srgbClr val="FFFFFF"/>
                </a:solidFill>
                <a:latin typeface="Montserrat"/>
              </a:defRPr>
            </a:pPr>
            <a:r>
              <a:t>1</a:t>
            </a:r>
          </a:p>
        </p:txBody>
      </p:sp>
      <p:sp>
        <p:nvSpPr>
          <p:cNvPr id="5" name="TextBox 4"/>
          <p:cNvSpPr txBox="1"/>
          <p:nvPr/>
        </p:nvSpPr>
        <p:spPr>
          <a:xfrm>
            <a:off x="868680" y="1463040"/>
            <a:ext cx="3474720" cy="274320"/>
          </a:xfrm>
          <a:prstGeom prst="rect">
            <a:avLst/>
          </a:prstGeom>
          <a:noFill/>
        </p:spPr>
        <p:txBody>
          <a:bodyPr wrap="square">
            <a:spAutoFit/>
          </a:bodyPr>
          <a:lstStyle/>
          <a:p>
            <a:pPr algn="l">
              <a:defRPr sz="1400" b="1">
                <a:solidFill>
                  <a:srgbClr val="3A3A3A"/>
                </a:solidFill>
                <a:latin typeface="Montserrat"/>
              </a:defRPr>
            </a:pPr>
            <a:r>
              <a:t>Local fidelity ≠ global safety</a:t>
            </a:r>
          </a:p>
        </p:txBody>
      </p:sp>
      <p:sp>
        <p:nvSpPr>
          <p:cNvPr id="6" name="TextBox 5"/>
          <p:cNvSpPr txBox="1"/>
          <p:nvPr/>
        </p:nvSpPr>
        <p:spPr>
          <a:xfrm>
            <a:off x="4480560" y="1463040"/>
            <a:ext cx="4297680" cy="274320"/>
          </a:xfrm>
          <a:prstGeom prst="rect">
            <a:avLst/>
          </a:prstGeom>
          <a:noFill/>
        </p:spPr>
        <p:txBody>
          <a:bodyPr wrap="square">
            <a:spAutoFit/>
          </a:bodyPr>
          <a:lstStyle/>
          <a:p>
            <a:pPr algn="l">
              <a:defRPr sz="1200" b="0">
                <a:solidFill>
                  <a:srgbClr val="4E4F50"/>
                </a:solidFill>
                <a:latin typeface="Montserrat"/>
              </a:defRPr>
            </a:pPr>
            <a:r>
              <a:t>SHAP tells you feature contribution to this prediction — not whether overall behavior is safe, fair, or robust.</a:t>
            </a:r>
          </a:p>
        </p:txBody>
      </p:sp>
      <p:sp>
        <p:nvSpPr>
          <p:cNvPr id="7" name="Rounded Rectangle 6"/>
          <p:cNvSpPr/>
          <p:nvPr/>
        </p:nvSpPr>
        <p:spPr>
          <a:xfrm>
            <a:off x="411480" y="2121408"/>
            <a:ext cx="320040" cy="32004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2139696"/>
            <a:ext cx="320040" cy="274320"/>
          </a:xfrm>
          <a:prstGeom prst="rect">
            <a:avLst/>
          </a:prstGeom>
          <a:noFill/>
        </p:spPr>
        <p:txBody>
          <a:bodyPr wrap="square">
            <a:spAutoFit/>
          </a:bodyPr>
          <a:lstStyle/>
          <a:p>
            <a:pPr algn="ctr">
              <a:defRPr sz="1400" b="1">
                <a:solidFill>
                  <a:srgbClr val="FFFFFF"/>
                </a:solidFill>
                <a:latin typeface="Montserrat"/>
              </a:defRPr>
            </a:pPr>
            <a:r>
              <a:t>2</a:t>
            </a:r>
          </a:p>
        </p:txBody>
      </p:sp>
      <p:sp>
        <p:nvSpPr>
          <p:cNvPr id="9" name="TextBox 8"/>
          <p:cNvSpPr txBox="1"/>
          <p:nvPr/>
        </p:nvSpPr>
        <p:spPr>
          <a:xfrm>
            <a:off x="868680" y="2121408"/>
            <a:ext cx="3474720" cy="274320"/>
          </a:xfrm>
          <a:prstGeom prst="rect">
            <a:avLst/>
          </a:prstGeom>
          <a:noFill/>
        </p:spPr>
        <p:txBody>
          <a:bodyPr wrap="square">
            <a:spAutoFit/>
          </a:bodyPr>
          <a:lstStyle/>
          <a:p>
            <a:pPr algn="l">
              <a:defRPr sz="1400" b="1">
                <a:solidFill>
                  <a:srgbClr val="3A3A3A"/>
                </a:solidFill>
                <a:latin typeface="Montserrat"/>
              </a:defRPr>
            </a:pPr>
            <a:r>
              <a:t>Post-hoc ≠ causal</a:t>
            </a:r>
          </a:p>
        </p:txBody>
      </p:sp>
      <p:sp>
        <p:nvSpPr>
          <p:cNvPr id="10" name="TextBox 9"/>
          <p:cNvSpPr txBox="1"/>
          <p:nvPr/>
        </p:nvSpPr>
        <p:spPr>
          <a:xfrm>
            <a:off x="4480560" y="2121408"/>
            <a:ext cx="4297680" cy="274320"/>
          </a:xfrm>
          <a:prstGeom prst="rect">
            <a:avLst/>
          </a:prstGeom>
          <a:noFill/>
        </p:spPr>
        <p:txBody>
          <a:bodyPr wrap="square">
            <a:spAutoFit/>
          </a:bodyPr>
          <a:lstStyle/>
          <a:p>
            <a:pPr algn="l">
              <a:defRPr sz="1200" b="0">
                <a:solidFill>
                  <a:srgbClr val="4E4F50"/>
                </a:solidFill>
                <a:latin typeface="Montserrat"/>
              </a:defRPr>
            </a:pPr>
            <a:r>
              <a:t>Most XAI explains correlational attribution, not why the model decided. A plausible explanation can accompany a wrong decision.</a:t>
            </a:r>
          </a:p>
        </p:txBody>
      </p:sp>
      <p:sp>
        <p:nvSpPr>
          <p:cNvPr id="11" name="Rounded Rectangle 10"/>
          <p:cNvSpPr/>
          <p:nvPr/>
        </p:nvSpPr>
        <p:spPr>
          <a:xfrm>
            <a:off x="411480" y="2779776"/>
            <a:ext cx="320040" cy="32004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798064"/>
            <a:ext cx="320040" cy="274320"/>
          </a:xfrm>
          <a:prstGeom prst="rect">
            <a:avLst/>
          </a:prstGeom>
          <a:noFill/>
        </p:spPr>
        <p:txBody>
          <a:bodyPr wrap="square">
            <a:spAutoFit/>
          </a:bodyPr>
          <a:lstStyle/>
          <a:p>
            <a:pPr algn="ctr">
              <a:defRPr sz="1400" b="1">
                <a:solidFill>
                  <a:srgbClr val="FFFFFF"/>
                </a:solidFill>
                <a:latin typeface="Montserrat"/>
              </a:defRPr>
            </a:pPr>
            <a:r>
              <a:t>3</a:t>
            </a:r>
          </a:p>
        </p:txBody>
      </p:sp>
      <p:sp>
        <p:nvSpPr>
          <p:cNvPr id="13" name="TextBox 12"/>
          <p:cNvSpPr txBox="1"/>
          <p:nvPr/>
        </p:nvSpPr>
        <p:spPr>
          <a:xfrm>
            <a:off x="868680" y="2779776"/>
            <a:ext cx="3474720" cy="274320"/>
          </a:xfrm>
          <a:prstGeom prst="rect">
            <a:avLst/>
          </a:prstGeom>
          <a:noFill/>
        </p:spPr>
        <p:txBody>
          <a:bodyPr wrap="square">
            <a:spAutoFit/>
          </a:bodyPr>
          <a:lstStyle/>
          <a:p>
            <a:pPr algn="l">
              <a:defRPr sz="1400" b="1">
                <a:solidFill>
                  <a:srgbClr val="3A3A3A"/>
                </a:solidFill>
                <a:latin typeface="Montserrat"/>
              </a:defRPr>
            </a:pPr>
            <a:r>
              <a:t>One of seven, not all seven</a:t>
            </a:r>
          </a:p>
        </p:txBody>
      </p:sp>
      <p:sp>
        <p:nvSpPr>
          <p:cNvPr id="14" name="TextBox 13"/>
          <p:cNvSpPr txBox="1"/>
          <p:nvPr/>
        </p:nvSpPr>
        <p:spPr>
          <a:xfrm>
            <a:off x="4480560" y="2779776"/>
            <a:ext cx="4297680" cy="274320"/>
          </a:xfrm>
          <a:prstGeom prst="rect">
            <a:avLst/>
          </a:prstGeom>
          <a:noFill/>
        </p:spPr>
        <p:txBody>
          <a:bodyPr wrap="square">
            <a:spAutoFit/>
          </a:bodyPr>
          <a:lstStyle/>
          <a:p>
            <a:pPr algn="l">
              <a:defRPr sz="1200" b="0">
                <a:solidFill>
                  <a:srgbClr val="4E4F50"/>
                </a:solidFill>
                <a:latin typeface="Montserrat"/>
              </a:defRPr>
            </a:pPr>
            <a:r>
              <a:t>An explainable model can still be unfair, insecure, non-private, or unreliable. Explainability is necessary but not sufficient.</a:t>
            </a:r>
          </a:p>
        </p:txBody>
      </p:sp>
      <p:sp>
        <p:nvSpPr>
          <p:cNvPr id="15" name="Rounded Rectangle 14"/>
          <p:cNvSpPr/>
          <p:nvPr/>
        </p:nvSpPr>
        <p:spPr>
          <a:xfrm>
            <a:off x="411480" y="3438144"/>
            <a:ext cx="320040" cy="32004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3456432"/>
            <a:ext cx="320040" cy="274320"/>
          </a:xfrm>
          <a:prstGeom prst="rect">
            <a:avLst/>
          </a:prstGeom>
          <a:noFill/>
        </p:spPr>
        <p:txBody>
          <a:bodyPr wrap="square">
            <a:spAutoFit/>
          </a:bodyPr>
          <a:lstStyle/>
          <a:p>
            <a:pPr algn="ctr">
              <a:defRPr sz="1400" b="1">
                <a:solidFill>
                  <a:srgbClr val="FFFFFF"/>
                </a:solidFill>
                <a:latin typeface="Montserrat"/>
              </a:defRPr>
            </a:pPr>
            <a:r>
              <a:t>4</a:t>
            </a:r>
          </a:p>
        </p:txBody>
      </p:sp>
      <p:sp>
        <p:nvSpPr>
          <p:cNvPr id="17" name="TextBox 16"/>
          <p:cNvSpPr txBox="1"/>
          <p:nvPr/>
        </p:nvSpPr>
        <p:spPr>
          <a:xfrm>
            <a:off x="868680" y="3438144"/>
            <a:ext cx="3474720" cy="274320"/>
          </a:xfrm>
          <a:prstGeom prst="rect">
            <a:avLst/>
          </a:prstGeom>
          <a:noFill/>
        </p:spPr>
        <p:txBody>
          <a:bodyPr wrap="square">
            <a:spAutoFit/>
          </a:bodyPr>
          <a:lstStyle/>
          <a:p>
            <a:pPr algn="l">
              <a:defRPr sz="1400" b="1">
                <a:solidFill>
                  <a:srgbClr val="3A3A3A"/>
                </a:solidFill>
                <a:latin typeface="Montserrat"/>
              </a:defRPr>
            </a:pPr>
            <a:r>
              <a:t>LLMs hallucinate explanations too</a:t>
            </a:r>
          </a:p>
        </p:txBody>
      </p:sp>
      <p:sp>
        <p:nvSpPr>
          <p:cNvPr id="18" name="TextBox 17"/>
          <p:cNvSpPr txBox="1"/>
          <p:nvPr/>
        </p:nvSpPr>
        <p:spPr>
          <a:xfrm>
            <a:off x="4480560" y="3438144"/>
            <a:ext cx="4297680" cy="274320"/>
          </a:xfrm>
          <a:prstGeom prst="rect">
            <a:avLst/>
          </a:prstGeom>
          <a:noFill/>
        </p:spPr>
        <p:txBody>
          <a:bodyPr wrap="square">
            <a:spAutoFit/>
          </a:bodyPr>
          <a:lstStyle/>
          <a:p>
            <a:pPr algn="l">
              <a:defRPr sz="1200" b="0">
                <a:solidFill>
                  <a:srgbClr val="4E4F50"/>
                </a:solidFill>
                <a:latin typeface="Montserrat"/>
              </a:defRPr>
            </a:pPr>
            <a:r>
              <a:t>A model asked "why did you say that" generates plausible rationale — not necessarily its actual internal process.</a:t>
            </a:r>
          </a:p>
        </p:txBody>
      </p:sp>
      <p:sp>
        <p:nvSpPr>
          <p:cNvPr id="19" name="Rounded Rectangle 18"/>
          <p:cNvSpPr/>
          <p:nvPr/>
        </p:nvSpPr>
        <p:spPr>
          <a:xfrm>
            <a:off x="411480" y="4096512"/>
            <a:ext cx="320040" cy="32004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4114800"/>
            <a:ext cx="320040" cy="274320"/>
          </a:xfrm>
          <a:prstGeom prst="rect">
            <a:avLst/>
          </a:prstGeom>
          <a:noFill/>
        </p:spPr>
        <p:txBody>
          <a:bodyPr wrap="square">
            <a:spAutoFit/>
          </a:bodyPr>
          <a:lstStyle/>
          <a:p>
            <a:pPr algn="ctr">
              <a:defRPr sz="1400" b="1">
                <a:solidFill>
                  <a:srgbClr val="FFFFFF"/>
                </a:solidFill>
                <a:latin typeface="Montserrat"/>
              </a:defRPr>
            </a:pPr>
            <a:r>
              <a:t>5</a:t>
            </a:r>
          </a:p>
        </p:txBody>
      </p:sp>
      <p:sp>
        <p:nvSpPr>
          <p:cNvPr id="21" name="TextBox 20"/>
          <p:cNvSpPr txBox="1"/>
          <p:nvPr/>
        </p:nvSpPr>
        <p:spPr>
          <a:xfrm>
            <a:off x="868680" y="4096512"/>
            <a:ext cx="3474720" cy="274320"/>
          </a:xfrm>
          <a:prstGeom prst="rect">
            <a:avLst/>
          </a:prstGeom>
          <a:noFill/>
        </p:spPr>
        <p:txBody>
          <a:bodyPr wrap="square">
            <a:spAutoFit/>
          </a:bodyPr>
          <a:lstStyle/>
          <a:p>
            <a:pPr algn="l">
              <a:defRPr sz="1400" b="1">
                <a:solidFill>
                  <a:srgbClr val="3A3A3A"/>
                </a:solidFill>
                <a:latin typeface="Montserrat"/>
              </a:defRPr>
            </a:pPr>
            <a:r>
              <a:t>Adversarial robustness is orthogonal</a:t>
            </a:r>
          </a:p>
        </p:txBody>
      </p:sp>
      <p:sp>
        <p:nvSpPr>
          <p:cNvPr id="22" name="TextBox 21"/>
          <p:cNvSpPr txBox="1"/>
          <p:nvPr/>
        </p:nvSpPr>
        <p:spPr>
          <a:xfrm>
            <a:off x="4480560" y="4096512"/>
            <a:ext cx="4297680" cy="274320"/>
          </a:xfrm>
          <a:prstGeom prst="rect">
            <a:avLst/>
          </a:prstGeom>
          <a:noFill/>
        </p:spPr>
        <p:txBody>
          <a:bodyPr wrap="square">
            <a:spAutoFit/>
          </a:bodyPr>
          <a:lstStyle/>
          <a:p>
            <a:pPr algn="l">
              <a:defRPr sz="1200" b="0">
                <a:solidFill>
                  <a:srgbClr val="4E4F50"/>
                </a:solidFill>
                <a:latin typeface="Montserrat"/>
              </a:defRPr>
            </a:pPr>
            <a:r>
              <a:t>A perfectly interpretable decision boundary can still be trivially fooled by prompt injection or perturbation.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Two Harder Problems</a:t>
            </a:r>
          </a:p>
        </p:txBody>
      </p:sp>
      <p:sp>
        <p:nvSpPr>
          <p:cNvPr id="3" name="Rounded Rectangle 2"/>
          <p:cNvSpPr/>
          <p:nvPr/>
        </p:nvSpPr>
        <p:spPr>
          <a:xfrm>
            <a:off x="320040" y="1463040"/>
            <a:ext cx="3977639" cy="3017520"/>
          </a:xfrm>
          <a:prstGeom prst="roundRect">
            <a:avLst/>
          </a:prstGeom>
          <a:solidFill>
            <a:srgbClr val="FFFFFF"/>
          </a:solidFill>
          <a:ln w="12700">
            <a:solidFill>
              <a:srgbClr val="6B4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463040"/>
            <a:ext cx="3977639" cy="45720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08760"/>
            <a:ext cx="3657600" cy="365760"/>
          </a:xfrm>
          <a:prstGeom prst="rect">
            <a:avLst/>
          </a:prstGeom>
          <a:noFill/>
        </p:spPr>
        <p:txBody>
          <a:bodyPr wrap="square">
            <a:spAutoFit/>
          </a:bodyPr>
          <a:lstStyle/>
          <a:p>
            <a:pPr algn="l">
              <a:defRPr sz="1300" b="1">
                <a:solidFill>
                  <a:srgbClr val="FFFFFF"/>
                </a:solidFill>
                <a:latin typeface="Montserrat"/>
              </a:defRPr>
            </a:pPr>
            <a:r>
              <a:t>LLMs Hallucinate Their Own Explanations</a:t>
            </a:r>
          </a:p>
        </p:txBody>
      </p:sp>
      <p:sp>
        <p:nvSpPr>
          <p:cNvPr id="6" name="TextBox 5"/>
          <p:cNvSpPr txBox="1"/>
          <p:nvPr/>
        </p:nvSpPr>
        <p:spPr>
          <a:xfrm>
            <a:off x="457200" y="2057400"/>
            <a:ext cx="3657600" cy="2286000"/>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A model asked "why did you say that"</a:t>
            </a:r>
          </a:p>
          <a:p>
            <a:pPr>
              <a:lnSpc>
                <a:spcPts val="1560"/>
              </a:lnSpc>
              <a:spcAft>
                <a:spcPts val="400"/>
              </a:spcAft>
              <a:defRPr sz="1200">
                <a:solidFill>
                  <a:srgbClr val="3A3A3A"/>
                </a:solidFill>
                <a:latin typeface="Montserrat"/>
              </a:defRPr>
            </a:pPr>
            <a:r>
              <a:t>generates plausible-sounding rationale —</a:t>
            </a:r>
          </a:p>
          <a:p>
            <a:pPr>
              <a:lnSpc>
                <a:spcPts val="1560"/>
              </a:lnSpc>
              <a:spcAft>
                <a:spcPts val="400"/>
              </a:spcAft>
              <a:defRPr sz="1200">
                <a:solidFill>
                  <a:srgbClr val="3A3A3A"/>
                </a:solidFill>
                <a:latin typeface="Montserrat"/>
              </a:defRPr>
            </a:pPr>
            <a:r>
              <a:t>not necessarily its actual internal process.</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This is a known interpretability research</a:t>
            </a:r>
          </a:p>
          <a:p>
            <a:pPr>
              <a:lnSpc>
                <a:spcPts val="1560"/>
              </a:lnSpc>
              <a:spcAft>
                <a:spcPts val="400"/>
              </a:spcAft>
              <a:defRPr sz="1200">
                <a:solidFill>
                  <a:srgbClr val="3A3A3A"/>
                </a:solidFill>
                <a:latin typeface="Montserrat"/>
              </a:defRPr>
            </a:pPr>
            <a:r>
              <a:t>problem, not a hypothetical.</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Practical implication: treat model self-</a:t>
            </a:r>
          </a:p>
          <a:p>
            <a:pPr>
              <a:lnSpc>
                <a:spcPts val="1560"/>
              </a:lnSpc>
              <a:spcAft>
                <a:spcPts val="400"/>
              </a:spcAft>
              <a:defRPr sz="1200">
                <a:solidFill>
                  <a:srgbClr val="3A3A3A"/>
                </a:solidFill>
                <a:latin typeface="Montserrat"/>
              </a:defRPr>
            </a:pPr>
            <a:r>
              <a:t>reported reasoning as a useful signal,</a:t>
            </a:r>
          </a:p>
          <a:p>
            <a:pPr>
              <a:lnSpc>
                <a:spcPts val="1560"/>
              </a:lnSpc>
              <a:spcAft>
                <a:spcPts val="400"/>
              </a:spcAft>
              <a:defRPr sz="1200">
                <a:solidFill>
                  <a:srgbClr val="3A3A3A"/>
                </a:solidFill>
                <a:latin typeface="Montserrat"/>
              </a:defRPr>
            </a:pPr>
            <a:r>
              <a:t>not ground truth. Corroborate with</a:t>
            </a:r>
          </a:p>
          <a:p>
            <a:pPr>
              <a:lnSpc>
                <a:spcPts val="1560"/>
              </a:lnSpc>
              <a:spcAft>
                <a:spcPts val="400"/>
              </a:spcAft>
              <a:defRPr sz="1200">
                <a:solidFill>
                  <a:srgbClr val="3A3A3A"/>
                </a:solidFill>
                <a:latin typeface="Montserrat"/>
              </a:defRPr>
            </a:pPr>
            <a:r>
              <a:t>behavioral testing (counterfactuals,</a:t>
            </a:r>
          </a:p>
          <a:p>
            <a:pPr>
              <a:lnSpc>
                <a:spcPts val="1560"/>
              </a:lnSpc>
              <a:spcAft>
                <a:spcPts val="400"/>
              </a:spcAft>
              <a:defRPr sz="1200">
                <a:solidFill>
                  <a:srgbClr val="3A3A3A"/>
                </a:solidFill>
                <a:latin typeface="Montserrat"/>
              </a:defRPr>
            </a:pPr>
            <a:r>
              <a:t>adversarial probes).</a:t>
            </a:r>
          </a:p>
        </p:txBody>
      </p:sp>
      <p:sp>
        <p:nvSpPr>
          <p:cNvPr id="7" name="Rounded Rectangle 6"/>
          <p:cNvSpPr/>
          <p:nvPr/>
        </p:nvSpPr>
        <p:spPr>
          <a:xfrm>
            <a:off x="4617720" y="1463040"/>
            <a:ext cx="3977639" cy="3017520"/>
          </a:xfrm>
          <a:prstGeom prst="roundRect">
            <a:avLst/>
          </a:prstGeom>
          <a:solidFill>
            <a:srgbClr val="FFFFFF"/>
          </a:solidFill>
          <a:ln w="12700">
            <a:solidFill>
              <a:srgbClr val="FDB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17720" y="1463040"/>
            <a:ext cx="3977639" cy="45720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508760"/>
            <a:ext cx="3657600" cy="365760"/>
          </a:xfrm>
          <a:prstGeom prst="rect">
            <a:avLst/>
          </a:prstGeom>
          <a:noFill/>
        </p:spPr>
        <p:txBody>
          <a:bodyPr wrap="square">
            <a:spAutoFit/>
          </a:bodyPr>
          <a:lstStyle/>
          <a:p>
            <a:pPr algn="l">
              <a:defRPr sz="1300" b="1">
                <a:solidFill>
                  <a:srgbClr val="FFFFFF"/>
                </a:solidFill>
                <a:latin typeface="Montserrat"/>
              </a:defRPr>
            </a:pPr>
            <a:r>
              <a:t>Adversarial Robustness Is Orthogonal</a:t>
            </a:r>
          </a:p>
        </p:txBody>
      </p:sp>
      <p:sp>
        <p:nvSpPr>
          <p:cNvPr id="10" name="TextBox 9"/>
          <p:cNvSpPr txBox="1"/>
          <p:nvPr/>
        </p:nvSpPr>
        <p:spPr>
          <a:xfrm>
            <a:off x="4754880" y="2057400"/>
            <a:ext cx="3657600" cy="2286000"/>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A model with a perfectly clean,</a:t>
            </a:r>
          </a:p>
          <a:p>
            <a:pPr>
              <a:lnSpc>
                <a:spcPts val="1560"/>
              </a:lnSpc>
              <a:spcAft>
                <a:spcPts val="400"/>
              </a:spcAft>
              <a:defRPr sz="1200">
                <a:solidFill>
                  <a:srgbClr val="3A3A3A"/>
                </a:solidFill>
                <a:latin typeface="Montserrat"/>
              </a:defRPr>
            </a:pPr>
            <a:r>
              <a:t>interpretable decision boundary can</a:t>
            </a:r>
          </a:p>
          <a:p>
            <a:pPr>
              <a:lnSpc>
                <a:spcPts val="1560"/>
              </a:lnSpc>
              <a:spcAft>
                <a:spcPts val="400"/>
              </a:spcAft>
              <a:defRPr sz="1200">
                <a:solidFill>
                  <a:srgbClr val="3A3A3A"/>
                </a:solidFill>
                <a:latin typeface="Montserrat"/>
              </a:defRPr>
            </a:pPr>
            <a:r>
              <a:t>still be trivially fooled by:</a:t>
            </a:r>
          </a:p>
          <a:p>
            <a:pPr>
              <a:lnSpc>
                <a:spcPts val="1560"/>
              </a:lnSpc>
              <a:spcAft>
                <a:spcPts val="400"/>
              </a:spcAft>
              <a:defRPr sz="1200">
                <a:solidFill>
                  <a:srgbClr val="3A3A3A"/>
                </a:solidFill>
                <a:latin typeface="Montserrat"/>
              </a:defRPr>
            </a:pPr>
            <a:r>
              <a:t>• An adversarial perturbation</a:t>
            </a:r>
          </a:p>
          <a:p>
            <a:pPr>
              <a:lnSpc>
                <a:spcPts val="1560"/>
              </a:lnSpc>
              <a:spcAft>
                <a:spcPts val="400"/>
              </a:spcAft>
              <a:defRPr sz="1200">
                <a:solidFill>
                  <a:srgbClr val="3A3A3A"/>
                </a:solidFill>
                <a:latin typeface="Montserrat"/>
              </a:defRPr>
            </a:pPr>
            <a:r>
              <a:t>• A prompt injection attack</a:t>
            </a:r>
          </a:p>
          <a:p>
            <a:pPr>
              <a:lnSpc>
                <a:spcPts val="1560"/>
              </a:lnSpc>
              <a:spcAft>
                <a:spcPts val="400"/>
              </a:spcAft>
              <a:defRPr sz="1200">
                <a:solidFill>
                  <a:srgbClr val="3A3A3A"/>
                </a:solidFill>
                <a:latin typeface="Montserrat"/>
              </a:defRPr>
            </a:pPr>
            <a:r>
              <a:t>• A jailbreak attempt</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Explainability tells you nothing about</a:t>
            </a:r>
          </a:p>
          <a:p>
            <a:pPr>
              <a:lnSpc>
                <a:spcPts val="1560"/>
              </a:lnSpc>
              <a:spcAft>
                <a:spcPts val="400"/>
              </a:spcAft>
              <a:defRPr sz="1200">
                <a:solidFill>
                  <a:srgbClr val="3A3A3A"/>
                </a:solidFill>
                <a:latin typeface="Montserrat"/>
              </a:defRPr>
            </a:pPr>
            <a:r>
              <a:t>how the model behaves under attack.</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You need dedicated adversarial testing</a:t>
            </a:r>
          </a:p>
          <a:p>
            <a:pPr>
              <a:lnSpc>
                <a:spcPts val="1560"/>
              </a:lnSpc>
              <a:spcAft>
                <a:spcPts val="400"/>
              </a:spcAft>
              <a:defRPr sz="1200">
                <a:solidFill>
                  <a:srgbClr val="3A3A3A"/>
                </a:solidFill>
                <a:latin typeface="Montserrat"/>
              </a:defRPr>
            </a:pPr>
            <a:r>
              <a:t>(red-teaming, Garak/PyRIT) — not just</a:t>
            </a:r>
          </a:p>
          <a:p>
            <a:pPr>
              <a:lnSpc>
                <a:spcPts val="1560"/>
              </a:lnSpc>
              <a:spcAft>
                <a:spcPts val="400"/>
              </a:spcAft>
              <a:defRPr sz="1200">
                <a:solidFill>
                  <a:srgbClr val="3A3A3A"/>
                </a:solidFill>
                <a:latin typeface="Montserrat"/>
              </a:defRPr>
            </a:pPr>
            <a:r>
              <a:t>XAI tooling.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Explainability Is an Input to Trust,</a:t>
            </a:r>
            <a:br/>
            <a:r>
              <a:t>Not the Output</a:t>
            </a:r>
          </a:p>
        </p:txBody>
      </p:sp>
      <p:sp>
        <p:nvSpPr>
          <p:cNvPr id="3" name="TextBox 2"/>
          <p:cNvSpPr txBox="1"/>
          <p:nvPr/>
        </p:nvSpPr>
        <p:spPr>
          <a:xfrm>
            <a:off x="548640" y="2286000"/>
            <a:ext cx="3200400" cy="365760"/>
          </a:xfrm>
          <a:prstGeom prst="rect">
            <a:avLst/>
          </a:prstGeom>
          <a:noFill/>
        </p:spPr>
        <p:txBody>
          <a:bodyPr wrap="square">
            <a:spAutoFit/>
          </a:bodyPr>
          <a:lstStyle/>
          <a:p>
            <a:pPr algn="l">
              <a:defRPr sz="1100" b="1">
                <a:solidFill>
                  <a:srgbClr val="4E4F50"/>
                </a:solidFill>
                <a:latin typeface="Montserrat"/>
              </a:defRPr>
            </a:pPr>
            <a:r>
              <a:t>OLD MODEL</a:t>
            </a:r>
          </a:p>
        </p:txBody>
      </p:sp>
      <p:sp>
        <p:nvSpPr>
          <p:cNvPr id="4" name="TextBox 3"/>
          <p:cNvSpPr txBox="1"/>
          <p:nvPr/>
        </p:nvSpPr>
        <p:spPr>
          <a:xfrm>
            <a:off x="548640" y="2606040"/>
            <a:ext cx="3200400" cy="457200"/>
          </a:xfrm>
          <a:prstGeom prst="rect">
            <a:avLst/>
          </a:prstGeom>
          <a:noFill/>
        </p:spPr>
        <p:txBody>
          <a:bodyPr wrap="square">
            <a:spAutoFit/>
          </a:bodyPr>
          <a:lstStyle/>
          <a:p>
            <a:pPr algn="l">
              <a:defRPr sz="1800" b="0">
                <a:solidFill>
                  <a:srgbClr val="4E4F50"/>
                </a:solidFill>
                <a:latin typeface="Montserrat"/>
              </a:defRPr>
            </a:pPr>
            <a:r>
              <a:t>Explainability  →  Trust</a:t>
            </a:r>
          </a:p>
        </p:txBody>
      </p:sp>
      <p:sp>
        <p:nvSpPr>
          <p:cNvPr id="5" name="Rectangle 4"/>
          <p:cNvSpPr/>
          <p:nvPr/>
        </p:nvSpPr>
        <p:spPr>
          <a:xfrm>
            <a:off x="548640" y="2788920"/>
            <a:ext cx="3200400" cy="18288"/>
          </a:xfrm>
          <a:prstGeom prst="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931920" y="2606040"/>
            <a:ext cx="914400" cy="457200"/>
          </a:xfrm>
          <a:prstGeom prst="rect">
            <a:avLst/>
          </a:prstGeom>
          <a:noFill/>
        </p:spPr>
        <p:txBody>
          <a:bodyPr wrap="square">
            <a:spAutoFit/>
          </a:bodyPr>
          <a:lstStyle/>
          <a:p>
            <a:pPr algn="ctr">
              <a:defRPr sz="2800" b="1">
                <a:solidFill>
                  <a:srgbClr val="2EBFCA"/>
                </a:solidFill>
                <a:latin typeface="Montserrat"/>
              </a:defRPr>
            </a:pPr>
            <a:r>
              <a:t>➡</a:t>
            </a:r>
          </a:p>
        </p:txBody>
      </p:sp>
      <p:sp>
        <p:nvSpPr>
          <p:cNvPr id="7" name="TextBox 6"/>
          <p:cNvSpPr txBox="1"/>
          <p:nvPr/>
        </p:nvSpPr>
        <p:spPr>
          <a:xfrm>
            <a:off x="5029200" y="2286000"/>
            <a:ext cx="3657600" cy="365760"/>
          </a:xfrm>
          <a:prstGeom prst="rect">
            <a:avLst/>
          </a:prstGeom>
          <a:noFill/>
        </p:spPr>
        <p:txBody>
          <a:bodyPr wrap="square">
            <a:spAutoFit/>
          </a:bodyPr>
          <a:lstStyle/>
          <a:p>
            <a:pPr algn="l">
              <a:defRPr sz="1100" b="1">
                <a:solidFill>
                  <a:srgbClr val="2EBFCA"/>
                </a:solidFill>
                <a:latin typeface="Montserrat"/>
              </a:defRPr>
            </a:pPr>
            <a:r>
              <a:t>NEW MODEL</a:t>
            </a:r>
          </a:p>
        </p:txBody>
      </p:sp>
      <p:sp>
        <p:nvSpPr>
          <p:cNvPr id="8" name="TextBox 7"/>
          <p:cNvSpPr txBox="1"/>
          <p:nvPr/>
        </p:nvSpPr>
        <p:spPr>
          <a:xfrm>
            <a:off x="5029200" y="2606040"/>
            <a:ext cx="4114800" cy="457200"/>
          </a:xfrm>
          <a:prstGeom prst="rect">
            <a:avLst/>
          </a:prstGeom>
          <a:noFill/>
        </p:spPr>
        <p:txBody>
          <a:bodyPr wrap="square">
            <a:spAutoFit/>
          </a:bodyPr>
          <a:lstStyle/>
          <a:p>
            <a:pPr algn="l">
              <a:defRPr sz="1600" b="1">
                <a:solidFill>
                  <a:srgbClr val="3A3A3A"/>
                </a:solidFill>
                <a:latin typeface="Montserrat"/>
              </a:defRPr>
            </a:pPr>
            <a:r>
              <a:t>Explainability → Trust Judgment ← Everything Else</a:t>
            </a:r>
          </a:p>
        </p:txBody>
      </p:sp>
      <p:sp>
        <p:nvSpPr>
          <p:cNvPr id="9" name="Rounded Rectangle 8"/>
          <p:cNvSpPr/>
          <p:nvPr/>
        </p:nvSpPr>
        <p:spPr>
          <a:xfrm>
            <a:off x="411480" y="3474720"/>
            <a:ext cx="1965960" cy="347472"/>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502152"/>
            <a:ext cx="1783080" cy="274320"/>
          </a:xfrm>
          <a:prstGeom prst="rect">
            <a:avLst/>
          </a:prstGeom>
          <a:noFill/>
        </p:spPr>
        <p:txBody>
          <a:bodyPr wrap="square">
            <a:spAutoFit/>
          </a:bodyPr>
          <a:lstStyle/>
          <a:p>
            <a:pPr algn="l">
              <a:defRPr sz="1100" b="0">
                <a:solidFill>
                  <a:srgbClr val="3A3A3A"/>
                </a:solidFill>
                <a:latin typeface="Montserrat"/>
              </a:defRPr>
            </a:pPr>
            <a:r>
              <a:t>Data provenance</a:t>
            </a:r>
          </a:p>
        </p:txBody>
      </p:sp>
      <p:sp>
        <p:nvSpPr>
          <p:cNvPr id="11" name="Rounded Rectangle 10"/>
          <p:cNvSpPr/>
          <p:nvPr/>
        </p:nvSpPr>
        <p:spPr>
          <a:xfrm>
            <a:off x="2560320" y="3474720"/>
            <a:ext cx="1965960" cy="347472"/>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51760" y="3502152"/>
            <a:ext cx="1783080" cy="274320"/>
          </a:xfrm>
          <a:prstGeom prst="rect">
            <a:avLst/>
          </a:prstGeom>
          <a:noFill/>
        </p:spPr>
        <p:txBody>
          <a:bodyPr wrap="square">
            <a:spAutoFit/>
          </a:bodyPr>
          <a:lstStyle/>
          <a:p>
            <a:pPr algn="l">
              <a:defRPr sz="1100" b="0">
                <a:solidFill>
                  <a:srgbClr val="3A3A3A"/>
                </a:solidFill>
                <a:latin typeface="Montserrat"/>
              </a:defRPr>
            </a:pPr>
            <a:r>
              <a:t>Model behavior under shift</a:t>
            </a:r>
          </a:p>
        </p:txBody>
      </p:sp>
      <p:sp>
        <p:nvSpPr>
          <p:cNvPr id="13" name="Rounded Rectangle 12"/>
          <p:cNvSpPr/>
          <p:nvPr/>
        </p:nvSpPr>
        <p:spPr>
          <a:xfrm>
            <a:off x="4709160" y="3474720"/>
            <a:ext cx="1965960" cy="347472"/>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3502152"/>
            <a:ext cx="1783080" cy="274320"/>
          </a:xfrm>
          <a:prstGeom prst="rect">
            <a:avLst/>
          </a:prstGeom>
          <a:noFill/>
        </p:spPr>
        <p:txBody>
          <a:bodyPr wrap="square">
            <a:spAutoFit/>
          </a:bodyPr>
          <a:lstStyle/>
          <a:p>
            <a:pPr algn="l">
              <a:defRPr sz="1100" b="0">
                <a:solidFill>
                  <a:srgbClr val="3A3A3A"/>
                </a:solidFill>
                <a:latin typeface="Montserrat"/>
              </a:defRPr>
            </a:pPr>
            <a:r>
              <a:t>Adversarial robustness</a:t>
            </a:r>
          </a:p>
        </p:txBody>
      </p:sp>
      <p:sp>
        <p:nvSpPr>
          <p:cNvPr id="15" name="Rounded Rectangle 14"/>
          <p:cNvSpPr/>
          <p:nvPr/>
        </p:nvSpPr>
        <p:spPr>
          <a:xfrm>
            <a:off x="6858000" y="3474720"/>
            <a:ext cx="1965960" cy="347472"/>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3502152"/>
            <a:ext cx="1783080" cy="274320"/>
          </a:xfrm>
          <a:prstGeom prst="rect">
            <a:avLst/>
          </a:prstGeom>
          <a:noFill/>
        </p:spPr>
        <p:txBody>
          <a:bodyPr wrap="square">
            <a:spAutoFit/>
          </a:bodyPr>
          <a:lstStyle/>
          <a:p>
            <a:pPr algn="l">
              <a:defRPr sz="1100" b="0">
                <a:solidFill>
                  <a:srgbClr val="3A3A3A"/>
                </a:solidFill>
                <a:latin typeface="Montserrat"/>
              </a:defRPr>
            </a:pPr>
            <a:r>
              <a:t>Privacy guarantees</a:t>
            </a:r>
          </a:p>
        </p:txBody>
      </p:sp>
      <p:sp>
        <p:nvSpPr>
          <p:cNvPr id="17" name="Rounded Rectangle 16"/>
          <p:cNvSpPr/>
          <p:nvPr/>
        </p:nvSpPr>
        <p:spPr>
          <a:xfrm>
            <a:off x="411480" y="3977639"/>
            <a:ext cx="1965960" cy="347472"/>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005072"/>
            <a:ext cx="1783080" cy="274320"/>
          </a:xfrm>
          <a:prstGeom prst="rect">
            <a:avLst/>
          </a:prstGeom>
          <a:noFill/>
        </p:spPr>
        <p:txBody>
          <a:bodyPr wrap="square">
            <a:spAutoFit/>
          </a:bodyPr>
          <a:lstStyle/>
          <a:p>
            <a:pPr algn="l">
              <a:defRPr sz="1100" b="0">
                <a:solidFill>
                  <a:srgbClr val="3A3A3A"/>
                </a:solidFill>
                <a:latin typeface="Montserrat"/>
              </a:defRPr>
            </a:pPr>
            <a:r>
              <a:t>Fairness across groups</a:t>
            </a:r>
          </a:p>
        </p:txBody>
      </p:sp>
      <p:sp>
        <p:nvSpPr>
          <p:cNvPr id="19" name="Rounded Rectangle 18"/>
          <p:cNvSpPr/>
          <p:nvPr/>
        </p:nvSpPr>
        <p:spPr>
          <a:xfrm>
            <a:off x="2560320" y="3977639"/>
            <a:ext cx="1965960" cy="347472"/>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0" y="4005072"/>
            <a:ext cx="1783080" cy="274320"/>
          </a:xfrm>
          <a:prstGeom prst="rect">
            <a:avLst/>
          </a:prstGeom>
          <a:noFill/>
        </p:spPr>
        <p:txBody>
          <a:bodyPr wrap="square">
            <a:spAutoFit/>
          </a:bodyPr>
          <a:lstStyle/>
          <a:p>
            <a:pPr algn="l">
              <a:defRPr sz="1100" b="0">
                <a:solidFill>
                  <a:srgbClr val="3A3A3A"/>
                </a:solidFill>
                <a:latin typeface="Montserrat"/>
              </a:defRPr>
            </a:pPr>
            <a:r>
              <a:t>Human oversight</a:t>
            </a:r>
          </a:p>
        </p:txBody>
      </p:sp>
      <p:sp>
        <p:nvSpPr>
          <p:cNvPr id="21" name="Rounded Rectangle 20"/>
          <p:cNvSpPr/>
          <p:nvPr/>
        </p:nvSpPr>
        <p:spPr>
          <a:xfrm>
            <a:off x="4709160" y="3977639"/>
            <a:ext cx="1965960" cy="347472"/>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4005072"/>
            <a:ext cx="1783080" cy="274320"/>
          </a:xfrm>
          <a:prstGeom prst="rect">
            <a:avLst/>
          </a:prstGeom>
          <a:noFill/>
        </p:spPr>
        <p:txBody>
          <a:bodyPr wrap="square">
            <a:spAutoFit/>
          </a:bodyPr>
          <a:lstStyle/>
          <a:p>
            <a:pPr algn="l">
              <a:defRPr sz="1100" b="0">
                <a:solidFill>
                  <a:srgbClr val="3A3A3A"/>
                </a:solidFill>
                <a:latin typeface="Montserrat"/>
              </a:defRPr>
            </a:pPr>
            <a:r>
              <a:t>Deployment monitoring</a:t>
            </a:r>
          </a:p>
        </p:txBody>
      </p:sp>
      <p:sp>
        <p:nvSpPr>
          <p:cNvPr id="23" name="Rounded Rectangle 22"/>
          <p:cNvSpPr/>
          <p:nvPr/>
        </p:nvSpPr>
        <p:spPr>
          <a:xfrm>
            <a:off x="6858000" y="3977639"/>
            <a:ext cx="1965960" cy="347472"/>
          </a:xfrm>
          <a:prstGeom prst="roundRect">
            <a:avLst/>
          </a:prstGeom>
          <a:solidFill>
            <a:srgbClr val="E3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0" y="4005072"/>
            <a:ext cx="1783080" cy="274320"/>
          </a:xfrm>
          <a:prstGeom prst="rect">
            <a:avLst/>
          </a:prstGeom>
          <a:noFill/>
        </p:spPr>
        <p:txBody>
          <a:bodyPr wrap="square">
            <a:spAutoFit/>
          </a:bodyPr>
          <a:lstStyle/>
          <a:p>
            <a:pPr algn="l">
              <a:defRPr sz="1100" b="0">
                <a:solidFill>
                  <a:srgbClr val="3A3A3A"/>
                </a:solidFill>
                <a:latin typeface="Montserrat"/>
              </a:defRPr>
            </a:pPr>
            <a:r>
              <a:t>Incident response</a:t>
            </a:r>
          </a:p>
        </p:txBody>
      </p:sp>
      <p:sp>
        <p:nvSpPr>
          <p:cNvPr id="25" name="TextBox 24"/>
          <p:cNvSpPr txBox="1"/>
          <p:nvPr/>
        </p:nvSpPr>
        <p:spPr>
          <a:xfrm>
            <a:off x="548640" y="4480560"/>
            <a:ext cx="8229600" cy="365760"/>
          </a:xfrm>
          <a:prstGeom prst="rect">
            <a:avLst/>
          </a:prstGeom>
          <a:noFill/>
        </p:spPr>
        <p:txBody>
          <a:bodyPr wrap="square">
            <a:spAutoFit/>
          </a:bodyPr>
          <a:lstStyle/>
          <a:p>
            <a:pPr algn="l">
              <a:defRPr sz="1300" b="1">
                <a:solidFill>
                  <a:srgbClr val="3A3A3A"/>
                </a:solidFill>
                <a:latin typeface="Montserrat"/>
              </a:defRPr>
            </a:pPr>
            <a:r>
              <a:t>Trust is a property of the whole system (data, model, deployment, monitoring, human oversight) — not something you get for free by visualizing attention weights.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Core Principle: Fairness</a:t>
            </a:r>
          </a:p>
        </p:txBody>
      </p:sp>
      <p:sp>
        <p:nvSpPr>
          <p:cNvPr id="3" name="Rounded Rectangle 2"/>
          <p:cNvSpPr/>
          <p:nvPr/>
        </p:nvSpPr>
        <p:spPr>
          <a:xfrm>
            <a:off x="411480" y="1554480"/>
            <a:ext cx="2651760" cy="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0"/>
            <a:ext cx="2651759" cy="0"/>
          </a:xfrm>
          <a:prstGeom prst="rect">
            <a:avLst/>
          </a:prstGeom>
          <a:noFill/>
        </p:spPr>
        <p:txBody>
          <a:bodyPr wrap="square">
            <a:spAutoFit/>
          </a:bodyPr>
          <a:lstStyle/>
          <a:p>
            <a:pPr algn="l">
              <a:defRPr sz="1100" b="1">
                <a:solidFill>
                  <a:srgbClr val="FFFFFF"/>
                </a:solidFill>
                <a:latin typeface="Montserrat"/>
              </a:defRPr>
            </a:pPr>
            <a:r>
              <a:t>DEFINITION</a:t>
            </a:r>
          </a:p>
        </p:txBody>
      </p:sp>
      <p:sp>
        <p:nvSpPr>
          <p:cNvPr id="5" name="Rounded Rectangle 4"/>
          <p:cNvSpPr/>
          <p:nvPr/>
        </p:nvSpPr>
        <p:spPr>
          <a:xfrm>
            <a:off x="41148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Disparate treatment: intentionally different</a:t>
            </a:r>
          </a:p>
          <a:p>
            <a:pPr>
              <a:lnSpc>
                <a:spcPts val="1560"/>
              </a:lnSpc>
              <a:spcAft>
                <a:spcPts val="400"/>
              </a:spcAft>
              <a:defRPr sz="1200">
                <a:solidFill>
                  <a:srgbClr val="3A3A3A"/>
                </a:solidFill>
                <a:latin typeface="Montserrat"/>
              </a:defRPr>
            </a:pPr>
            <a:r>
              <a:t>treatment based on a protected attribute.</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Disparate impact: a facially neutral policy</a:t>
            </a:r>
          </a:p>
          <a:p>
            <a:pPr>
              <a:lnSpc>
                <a:spcPts val="1560"/>
              </a:lnSpc>
              <a:spcAft>
                <a:spcPts val="400"/>
              </a:spcAft>
              <a:defRPr sz="1200">
                <a:solidFill>
                  <a:srgbClr val="3A3A3A"/>
                </a:solidFill>
                <a:latin typeface="Montserrat"/>
              </a:defRPr>
            </a:pPr>
            <a:r>
              <a:t>that disproportionately harms a protected</a:t>
            </a:r>
          </a:p>
          <a:p>
            <a:pPr>
              <a:lnSpc>
                <a:spcPts val="1560"/>
              </a:lnSpc>
              <a:spcAft>
                <a:spcPts val="400"/>
              </a:spcAft>
              <a:defRPr sz="1200">
                <a:solidFill>
                  <a:srgbClr val="3A3A3A"/>
                </a:solidFill>
                <a:latin typeface="Montserrat"/>
              </a:defRPr>
            </a:pPr>
            <a:r>
              <a:t>group — even with no discriminatory intent.</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Key tension: you generally cannot satisfy</a:t>
            </a:r>
          </a:p>
          <a:p>
            <a:pPr>
              <a:lnSpc>
                <a:spcPts val="1560"/>
              </a:lnSpc>
              <a:spcAft>
                <a:spcPts val="400"/>
              </a:spcAft>
              <a:defRPr sz="1200">
                <a:solidFill>
                  <a:srgbClr val="3A3A3A"/>
                </a:solidFill>
                <a:latin typeface="Montserrat"/>
              </a:defRPr>
            </a:pPr>
            <a:r>
              <a:t>all fairness metrics simultaneously (the</a:t>
            </a:r>
          </a:p>
          <a:p>
            <a:pPr>
              <a:lnSpc>
                <a:spcPts val="1560"/>
              </a:lnSpc>
              <a:spcAft>
                <a:spcPts val="400"/>
              </a:spcAft>
              <a:defRPr sz="1200">
                <a:solidFill>
                  <a:srgbClr val="3A3A3A"/>
                </a:solidFill>
                <a:latin typeface="Montserrat"/>
              </a:defRPr>
            </a:pPr>
            <a:r>
              <a:t>impossibility result — Kleinberg et al., 2016).</a:t>
            </a:r>
          </a:p>
        </p:txBody>
      </p:sp>
      <p:sp>
        <p:nvSpPr>
          <p:cNvPr id="7" name="Rounded Rectangle 6"/>
          <p:cNvSpPr/>
          <p:nvPr/>
        </p:nvSpPr>
        <p:spPr>
          <a:xfrm>
            <a:off x="3291840" y="1554480"/>
            <a:ext cx="2651760" cy="0"/>
          </a:xfrm>
          <a:prstGeom prst="round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554480"/>
            <a:ext cx="2651759" cy="0"/>
          </a:xfrm>
          <a:prstGeom prst="rect">
            <a:avLst/>
          </a:prstGeom>
          <a:noFill/>
        </p:spPr>
        <p:txBody>
          <a:bodyPr wrap="square">
            <a:spAutoFit/>
          </a:bodyPr>
          <a:lstStyle/>
          <a:p>
            <a:pPr algn="l">
              <a:defRPr sz="1100" b="1">
                <a:solidFill>
                  <a:srgbClr val="FFFFFF"/>
                </a:solidFill>
                <a:latin typeface="Montserrat"/>
              </a:defRPr>
            </a:pPr>
            <a:r>
              <a:t>WHY IT FAILS IN PRACTICE</a:t>
            </a:r>
          </a:p>
        </p:txBody>
      </p:sp>
      <p:sp>
        <p:nvSpPr>
          <p:cNvPr id="9" name="Rounded Rectangle 8"/>
          <p:cNvSpPr/>
          <p:nvPr/>
        </p:nvSpPr>
        <p:spPr>
          <a:xfrm>
            <a:off x="329184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Training data encodes historical bias —</a:t>
            </a:r>
          </a:p>
          <a:p>
            <a:pPr>
              <a:lnSpc>
                <a:spcPts val="1560"/>
              </a:lnSpc>
              <a:spcAft>
                <a:spcPts val="400"/>
              </a:spcAft>
              <a:defRPr sz="1200">
                <a:solidFill>
                  <a:srgbClr val="3A3A3A"/>
                </a:solidFill>
                <a:latin typeface="Montserrat"/>
              </a:defRPr>
            </a:pPr>
            <a:r>
              <a:t>the model learns and amplifies it.</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Fairness is not one metric — demographic</a:t>
            </a:r>
          </a:p>
          <a:p>
            <a:pPr>
              <a:lnSpc>
                <a:spcPts val="1560"/>
              </a:lnSpc>
              <a:spcAft>
                <a:spcPts val="400"/>
              </a:spcAft>
              <a:defRPr sz="1200">
                <a:solidFill>
                  <a:srgbClr val="3A3A3A"/>
                </a:solidFill>
                <a:latin typeface="Montserrat"/>
              </a:defRPr>
            </a:pPr>
            <a:r>
              <a:t>parity, equalized odds, and calibration</a:t>
            </a:r>
          </a:p>
          <a:p>
            <a:pPr>
              <a:lnSpc>
                <a:spcPts val="1560"/>
              </a:lnSpc>
              <a:spcAft>
                <a:spcPts val="400"/>
              </a:spcAft>
              <a:defRPr sz="1200">
                <a:solidFill>
                  <a:srgbClr val="3A3A3A"/>
                </a:solidFill>
                <a:latin typeface="Montserrat"/>
              </a:defRPr>
            </a:pPr>
            <a:r>
              <a:t>are mathematically incompatible outside</a:t>
            </a:r>
          </a:p>
          <a:p>
            <a:pPr>
              <a:lnSpc>
                <a:spcPts val="1560"/>
              </a:lnSpc>
              <a:spcAft>
                <a:spcPts val="400"/>
              </a:spcAft>
              <a:defRPr sz="1200">
                <a:solidFill>
                  <a:srgbClr val="3A3A3A"/>
                </a:solidFill>
                <a:latin typeface="Montserrat"/>
              </a:defRPr>
            </a:pPr>
            <a:r>
              <a:t>of degenerate cases.</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Choosing a metric is a normative decision,</a:t>
            </a:r>
          </a:p>
          <a:p>
            <a:pPr>
              <a:lnSpc>
                <a:spcPts val="1560"/>
              </a:lnSpc>
              <a:spcAft>
                <a:spcPts val="400"/>
              </a:spcAft>
              <a:defRPr sz="1200">
                <a:solidFill>
                  <a:srgbClr val="3A3A3A"/>
                </a:solidFill>
                <a:latin typeface="Montserrat"/>
              </a:defRPr>
            </a:pPr>
            <a:r>
              <a:t>not a purely technical one.</a:t>
            </a:r>
          </a:p>
        </p:txBody>
      </p:sp>
      <p:sp>
        <p:nvSpPr>
          <p:cNvPr id="11" name="Rounded Rectangle 10"/>
          <p:cNvSpPr/>
          <p:nvPr/>
        </p:nvSpPr>
        <p:spPr>
          <a:xfrm>
            <a:off x="6172200" y="1554480"/>
            <a:ext cx="26517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554480"/>
            <a:ext cx="2651759" cy="0"/>
          </a:xfrm>
          <a:prstGeom prst="rect">
            <a:avLst/>
          </a:prstGeom>
          <a:noFill/>
        </p:spPr>
        <p:txBody>
          <a:bodyPr wrap="square">
            <a:spAutoFit/>
          </a:bodyPr>
          <a:lstStyle/>
          <a:p>
            <a:pPr algn="l">
              <a:defRPr sz="1100" b="1">
                <a:solidFill>
                  <a:srgbClr val="FFFFFF"/>
                </a:solidFill>
                <a:latin typeface="Montserrat"/>
              </a:defRPr>
            </a:pPr>
            <a:r>
              <a:t>ONE CONCRETE TECHNIQUE</a:t>
            </a:r>
          </a:p>
        </p:txBody>
      </p:sp>
      <p:sp>
        <p:nvSpPr>
          <p:cNvPr id="13" name="Rounded Rectangle 12"/>
          <p:cNvSpPr/>
          <p:nvPr/>
        </p:nvSpPr>
        <p:spPr>
          <a:xfrm>
            <a:off x="6172200" y="1554480"/>
            <a:ext cx="2651760" cy="2926080"/>
          </a:xfrm>
          <a:prstGeom prst="roundRect">
            <a:avLst/>
          </a:prstGeom>
          <a:solidFill>
            <a:srgbClr val="E0F7F9"/>
          </a:solidFill>
          <a:ln w="12700">
            <a:solidFill>
              <a:srgbClr val="2EBF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Counterfactual testing: take a test input,</a:t>
            </a:r>
          </a:p>
          <a:p>
            <a:pPr>
              <a:lnSpc>
                <a:spcPts val="1560"/>
              </a:lnSpc>
              <a:spcAft>
                <a:spcPts val="400"/>
              </a:spcAft>
              <a:defRPr sz="1200">
                <a:solidFill>
                  <a:srgbClr val="3A3A3A"/>
                </a:solidFill>
                <a:latin typeface="Montserrat"/>
              </a:defRPr>
            </a:pPr>
            <a:r>
              <a:t>swap only the protected attribute, measure</a:t>
            </a:r>
          </a:p>
          <a:p>
            <a:pPr>
              <a:lnSpc>
                <a:spcPts val="1560"/>
              </a:lnSpc>
              <a:spcAft>
                <a:spcPts val="400"/>
              </a:spcAft>
              <a:defRPr sz="1200">
                <a:solidFill>
                  <a:srgbClr val="3A3A3A"/>
                </a:solidFill>
                <a:latin typeface="Montserrat"/>
              </a:defRPr>
            </a:pPr>
            <a:r>
              <a:t>the output delta, flag if exceeds threshold.</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Mitigation at three stages:</a:t>
            </a:r>
          </a:p>
          <a:p>
            <a:pPr>
              <a:lnSpc>
                <a:spcPts val="1560"/>
              </a:lnSpc>
              <a:spcAft>
                <a:spcPts val="400"/>
              </a:spcAft>
              <a:defRPr sz="1200">
                <a:solidFill>
                  <a:srgbClr val="3A3A3A"/>
                </a:solidFill>
                <a:latin typeface="Montserrat"/>
              </a:defRPr>
            </a:pPr>
            <a:r>
              <a:t>• Pre-processing: reweight/re-label data</a:t>
            </a:r>
          </a:p>
          <a:p>
            <a:pPr>
              <a:lnSpc>
                <a:spcPts val="1560"/>
              </a:lnSpc>
              <a:spcAft>
                <a:spcPts val="400"/>
              </a:spcAft>
              <a:defRPr sz="1200">
                <a:solidFill>
                  <a:srgbClr val="3A3A3A"/>
                </a:solidFill>
                <a:latin typeface="Montserrat"/>
              </a:defRPr>
            </a:pPr>
            <a:r>
              <a:t>• In-processing: constrained training</a:t>
            </a:r>
          </a:p>
          <a:p>
            <a:pPr>
              <a:lnSpc>
                <a:spcPts val="1560"/>
              </a:lnSpc>
              <a:spcAft>
                <a:spcPts val="400"/>
              </a:spcAft>
              <a:defRPr sz="1200">
                <a:solidFill>
                  <a:srgbClr val="3A3A3A"/>
                </a:solidFill>
                <a:latin typeface="Montserrat"/>
              </a:defRPr>
            </a:pPr>
            <a:r>
              <a:t>• Post-processing: calibrate outputs</a:t>
            </a:r>
          </a:p>
        </p:txBody>
      </p:sp>
      <p:sp>
        <p:nvSpPr>
          <p:cNvPr id="15" name="Rounded Rectangle 14"/>
          <p:cNvSpPr/>
          <p:nvPr/>
        </p:nvSpPr>
        <p:spPr>
          <a:xfrm>
            <a:off x="411480" y="4709160"/>
            <a:ext cx="8321040" cy="36576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36592"/>
            <a:ext cx="8046720" cy="320040"/>
          </a:xfrm>
          <a:prstGeom prst="rect">
            <a:avLst/>
          </a:prstGeom>
          <a:noFill/>
        </p:spPr>
        <p:txBody>
          <a:bodyPr wrap="square">
            <a:spAutoFit/>
          </a:bodyPr>
          <a:lstStyle/>
          <a:p>
            <a:pPr algn="l">
              <a:defRPr sz="1000" b="0">
                <a:solidFill>
                  <a:srgbClr val="3A3A3A"/>
                </a:solidFill>
                <a:latin typeface="Montserrat"/>
              </a:defRPr>
            </a:pPr>
            <a:r>
              <a:t>Key: Fairness is one dimension of trust — it interacts with the other five. Evaluating any single principle in isolation is a partial assessment.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Core Principle: Transparency</a:t>
            </a:r>
          </a:p>
        </p:txBody>
      </p:sp>
      <p:sp>
        <p:nvSpPr>
          <p:cNvPr id="3" name="Rounded Rectangle 2"/>
          <p:cNvSpPr/>
          <p:nvPr/>
        </p:nvSpPr>
        <p:spPr>
          <a:xfrm>
            <a:off x="411480" y="1554480"/>
            <a:ext cx="2651760" cy="0"/>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0"/>
            <a:ext cx="2651759" cy="0"/>
          </a:xfrm>
          <a:prstGeom prst="rect">
            <a:avLst/>
          </a:prstGeom>
          <a:noFill/>
        </p:spPr>
        <p:txBody>
          <a:bodyPr wrap="square">
            <a:spAutoFit/>
          </a:bodyPr>
          <a:lstStyle/>
          <a:p>
            <a:pPr algn="l">
              <a:defRPr sz="1100" b="1">
                <a:solidFill>
                  <a:srgbClr val="FFFFFF"/>
                </a:solidFill>
                <a:latin typeface="Montserrat"/>
              </a:defRPr>
            </a:pPr>
            <a:r>
              <a:t>DEFINITION</a:t>
            </a:r>
          </a:p>
        </p:txBody>
      </p:sp>
      <p:sp>
        <p:nvSpPr>
          <p:cNvPr id="5" name="Rounded Rectangle 4"/>
          <p:cNvSpPr/>
          <p:nvPr/>
        </p:nvSpPr>
        <p:spPr>
          <a:xfrm>
            <a:off x="41148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Transparency ≠ Explainability (these get</a:t>
            </a:r>
          </a:p>
          <a:p>
            <a:pPr>
              <a:lnSpc>
                <a:spcPts val="1560"/>
              </a:lnSpc>
              <a:spcAft>
                <a:spcPts val="400"/>
              </a:spcAft>
              <a:defRPr sz="1200">
                <a:solidFill>
                  <a:srgbClr val="3A3A3A"/>
                </a:solidFill>
                <a:latin typeface="Montserrat"/>
              </a:defRPr>
            </a:pPr>
            <a:r>
              <a:t>conflated constantly):</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Transparency: can you see and audit HOW</a:t>
            </a:r>
          </a:p>
          <a:p>
            <a:pPr>
              <a:lnSpc>
                <a:spcPts val="1560"/>
              </a:lnSpc>
              <a:spcAft>
                <a:spcPts val="400"/>
              </a:spcAft>
              <a:defRPr sz="1200">
                <a:solidFill>
                  <a:srgbClr val="3A3A3A"/>
                </a:solidFill>
                <a:latin typeface="Montserrat"/>
              </a:defRPr>
            </a:pPr>
            <a:r>
              <a:t>the system works — what data, training</a:t>
            </a:r>
          </a:p>
          <a:p>
            <a:pPr>
              <a:lnSpc>
                <a:spcPts val="1560"/>
              </a:lnSpc>
              <a:spcAft>
                <a:spcPts val="400"/>
              </a:spcAft>
              <a:defRPr sz="1200">
                <a:solidFill>
                  <a:srgbClr val="3A3A3A"/>
                </a:solidFill>
                <a:latin typeface="Montserrat"/>
              </a:defRPr>
            </a:pPr>
            <a:r>
              <a:t>process, evaluation, governance.</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Explainability: can you interpret a</a:t>
            </a:r>
          </a:p>
          <a:p>
            <a:pPr>
              <a:lnSpc>
                <a:spcPts val="1560"/>
              </a:lnSpc>
              <a:spcAft>
                <a:spcPts val="400"/>
              </a:spcAft>
              <a:defRPr sz="1200">
                <a:solidFill>
                  <a:srgbClr val="3A3A3A"/>
                </a:solidFill>
                <a:latin typeface="Montserrat"/>
              </a:defRPr>
            </a:pPr>
            <a:r>
              <a:t>SPECIFIC decision the model made.</a:t>
            </a:r>
          </a:p>
        </p:txBody>
      </p:sp>
      <p:sp>
        <p:nvSpPr>
          <p:cNvPr id="7" name="Rounded Rectangle 6"/>
          <p:cNvSpPr/>
          <p:nvPr/>
        </p:nvSpPr>
        <p:spPr>
          <a:xfrm>
            <a:off x="3291840" y="1554480"/>
            <a:ext cx="2651760" cy="0"/>
          </a:xfrm>
          <a:prstGeom prst="round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554480"/>
            <a:ext cx="2651759" cy="0"/>
          </a:xfrm>
          <a:prstGeom prst="rect">
            <a:avLst/>
          </a:prstGeom>
          <a:noFill/>
        </p:spPr>
        <p:txBody>
          <a:bodyPr wrap="square">
            <a:spAutoFit/>
          </a:bodyPr>
          <a:lstStyle/>
          <a:p>
            <a:pPr algn="l">
              <a:defRPr sz="1100" b="1">
                <a:solidFill>
                  <a:srgbClr val="FFFFFF"/>
                </a:solidFill>
                <a:latin typeface="Montserrat"/>
              </a:defRPr>
            </a:pPr>
            <a:r>
              <a:t>WHY IT FAILS IN PRACTICE</a:t>
            </a:r>
          </a:p>
        </p:txBody>
      </p:sp>
      <p:sp>
        <p:nvSpPr>
          <p:cNvPr id="9" name="Rounded Rectangle 8"/>
          <p:cNvSpPr/>
          <p:nvPr/>
        </p:nvSpPr>
        <p:spPr>
          <a:xfrm>
            <a:off x="329184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Organizations deploy models without</a:t>
            </a:r>
          </a:p>
          <a:p>
            <a:pPr>
              <a:lnSpc>
                <a:spcPts val="1560"/>
              </a:lnSpc>
              <a:spcAft>
                <a:spcPts val="400"/>
              </a:spcAft>
              <a:defRPr sz="1200">
                <a:solidFill>
                  <a:srgbClr val="3A3A3A"/>
                </a:solidFill>
                <a:latin typeface="Montserrat"/>
              </a:defRPr>
            </a:pPr>
            <a:r>
              <a:t>documenting training data provenance,</a:t>
            </a:r>
          </a:p>
          <a:p>
            <a:pPr>
              <a:lnSpc>
                <a:spcPts val="1560"/>
              </a:lnSpc>
              <a:spcAft>
                <a:spcPts val="400"/>
              </a:spcAft>
              <a:defRPr sz="1200">
                <a:solidFill>
                  <a:srgbClr val="3A3A3A"/>
                </a:solidFill>
                <a:latin typeface="Montserrat"/>
              </a:defRPr>
            </a:pPr>
            <a:r>
              <a:t>evaluation scope, or known limitations.</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Without an audit trail, you cannot</a:t>
            </a:r>
          </a:p>
          <a:p>
            <a:pPr>
              <a:lnSpc>
                <a:spcPts val="1560"/>
              </a:lnSpc>
              <a:spcAft>
                <a:spcPts val="400"/>
              </a:spcAft>
              <a:defRPr sz="1200">
                <a:solidFill>
                  <a:srgbClr val="3A3A3A"/>
                </a:solidFill>
                <a:latin typeface="Montserrat"/>
              </a:defRPr>
            </a:pPr>
            <a:r>
              <a:t>retrospectively determine whether a</a:t>
            </a:r>
          </a:p>
          <a:p>
            <a:pPr>
              <a:lnSpc>
                <a:spcPts val="1560"/>
              </a:lnSpc>
              <a:spcAft>
                <a:spcPts val="400"/>
              </a:spcAft>
              <a:defRPr sz="1200">
                <a:solidFill>
                  <a:srgbClr val="3A3A3A"/>
                </a:solidFill>
                <a:latin typeface="Montserrat"/>
              </a:defRPr>
            </a:pPr>
            <a:r>
              <a:t>harmful output was a one-off or a</a:t>
            </a:r>
          </a:p>
          <a:p>
            <a:pPr>
              <a:lnSpc>
                <a:spcPts val="1560"/>
              </a:lnSpc>
              <a:spcAft>
                <a:spcPts val="400"/>
              </a:spcAft>
              <a:defRPr sz="1200">
                <a:solidFill>
                  <a:srgbClr val="3A3A3A"/>
                </a:solidFill>
                <a:latin typeface="Montserrat"/>
              </a:defRPr>
            </a:pPr>
            <a:r>
              <a:t>systematic failure.</a:t>
            </a:r>
          </a:p>
        </p:txBody>
      </p:sp>
      <p:sp>
        <p:nvSpPr>
          <p:cNvPr id="11" name="Rounded Rectangle 10"/>
          <p:cNvSpPr/>
          <p:nvPr/>
        </p:nvSpPr>
        <p:spPr>
          <a:xfrm>
            <a:off x="6172200" y="1554480"/>
            <a:ext cx="26517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554480"/>
            <a:ext cx="2651759" cy="0"/>
          </a:xfrm>
          <a:prstGeom prst="rect">
            <a:avLst/>
          </a:prstGeom>
          <a:noFill/>
        </p:spPr>
        <p:txBody>
          <a:bodyPr wrap="square">
            <a:spAutoFit/>
          </a:bodyPr>
          <a:lstStyle/>
          <a:p>
            <a:pPr algn="l">
              <a:defRPr sz="1100" b="1">
                <a:solidFill>
                  <a:srgbClr val="FFFFFF"/>
                </a:solidFill>
                <a:latin typeface="Montserrat"/>
              </a:defRPr>
            </a:pPr>
            <a:r>
              <a:t>ONE CONCRETE TECHNIQUE</a:t>
            </a:r>
          </a:p>
        </p:txBody>
      </p:sp>
      <p:sp>
        <p:nvSpPr>
          <p:cNvPr id="13" name="Rounded Rectangle 12"/>
          <p:cNvSpPr/>
          <p:nvPr/>
        </p:nvSpPr>
        <p:spPr>
          <a:xfrm>
            <a:off x="6172200" y="1554480"/>
            <a:ext cx="2651760" cy="2926080"/>
          </a:xfrm>
          <a:prstGeom prst="roundRect">
            <a:avLst/>
          </a:prstGeom>
          <a:solidFill>
            <a:srgbClr val="E0F7F9"/>
          </a:solidFill>
          <a:ln w="12700">
            <a:solidFill>
              <a:srgbClr val="2EBF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Structured transparency artifacts:</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 Model Cards (Mitchell et al., 2019):</a:t>
            </a:r>
          </a:p>
          <a:p>
            <a:pPr>
              <a:lnSpc>
                <a:spcPts val="1560"/>
              </a:lnSpc>
              <a:spcAft>
                <a:spcPts val="400"/>
              </a:spcAft>
              <a:defRPr sz="1200">
                <a:solidFill>
                  <a:srgbClr val="3A3A3A"/>
                </a:solidFill>
                <a:latin typeface="Montserrat"/>
              </a:defRPr>
            </a:pPr>
            <a:r>
              <a:t>  standardized disclosure of intended use,</a:t>
            </a:r>
          </a:p>
          <a:p>
            <a:pPr>
              <a:lnSpc>
                <a:spcPts val="1560"/>
              </a:lnSpc>
              <a:spcAft>
                <a:spcPts val="400"/>
              </a:spcAft>
              <a:defRPr sz="1200">
                <a:solidFill>
                  <a:srgbClr val="3A3A3A"/>
                </a:solidFill>
                <a:latin typeface="Montserrat"/>
              </a:defRPr>
            </a:pPr>
            <a:r>
              <a:t>  evaluation results, limitations, ethics.</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 Datasheets for Datasets (Gebru et al., 2018):</a:t>
            </a:r>
          </a:p>
          <a:p>
            <a:pPr>
              <a:lnSpc>
                <a:spcPts val="1560"/>
              </a:lnSpc>
              <a:spcAft>
                <a:spcPts val="400"/>
              </a:spcAft>
              <a:defRPr sz="1200">
                <a:solidFill>
                  <a:srgbClr val="3A3A3A"/>
                </a:solidFill>
                <a:latin typeface="Montserrat"/>
              </a:defRPr>
            </a:pPr>
            <a:r>
              <a:t>  motivation, composition, collection,</a:t>
            </a:r>
          </a:p>
          <a:p>
            <a:pPr>
              <a:lnSpc>
                <a:spcPts val="1560"/>
              </a:lnSpc>
              <a:spcAft>
                <a:spcPts val="400"/>
              </a:spcAft>
              <a:defRPr sz="1200">
                <a:solidFill>
                  <a:srgbClr val="3A3A3A"/>
                </a:solidFill>
                <a:latin typeface="Montserrat"/>
              </a:defRPr>
            </a:pPr>
            <a:r>
              <a:t>  preprocessing, recommended uses.</a:t>
            </a:r>
          </a:p>
        </p:txBody>
      </p:sp>
      <p:sp>
        <p:nvSpPr>
          <p:cNvPr id="15" name="Rounded Rectangle 14"/>
          <p:cNvSpPr/>
          <p:nvPr/>
        </p:nvSpPr>
        <p:spPr>
          <a:xfrm>
            <a:off x="411480" y="4709160"/>
            <a:ext cx="8321040" cy="36576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36592"/>
            <a:ext cx="8046720" cy="320040"/>
          </a:xfrm>
          <a:prstGeom prst="rect">
            <a:avLst/>
          </a:prstGeom>
          <a:noFill/>
        </p:spPr>
        <p:txBody>
          <a:bodyPr wrap="square">
            <a:spAutoFit/>
          </a:bodyPr>
          <a:lstStyle/>
          <a:p>
            <a:pPr algn="l">
              <a:defRPr sz="1000" b="0">
                <a:solidFill>
                  <a:srgbClr val="3A3A3A"/>
                </a:solidFill>
                <a:latin typeface="Montserrat"/>
              </a:defRPr>
            </a:pPr>
            <a:r>
              <a:t>Key: Transparency is one dimension of trust — it interacts with the other five. Evaluating any single principle in isolation is a partial assessment.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Core Principle: Accountability</a:t>
            </a:r>
          </a:p>
        </p:txBody>
      </p:sp>
      <p:sp>
        <p:nvSpPr>
          <p:cNvPr id="3" name="Rounded Rectangle 2"/>
          <p:cNvSpPr/>
          <p:nvPr/>
        </p:nvSpPr>
        <p:spPr>
          <a:xfrm>
            <a:off x="411480" y="1554480"/>
            <a:ext cx="2651760" cy="0"/>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0"/>
            <a:ext cx="2651759" cy="0"/>
          </a:xfrm>
          <a:prstGeom prst="rect">
            <a:avLst/>
          </a:prstGeom>
          <a:noFill/>
        </p:spPr>
        <p:txBody>
          <a:bodyPr wrap="square">
            <a:spAutoFit/>
          </a:bodyPr>
          <a:lstStyle/>
          <a:p>
            <a:pPr algn="l">
              <a:defRPr sz="1100" b="1">
                <a:solidFill>
                  <a:srgbClr val="FFFFFF"/>
                </a:solidFill>
                <a:latin typeface="Montserrat"/>
              </a:defRPr>
            </a:pPr>
            <a:r>
              <a:t>DEFINITION</a:t>
            </a:r>
          </a:p>
        </p:txBody>
      </p:sp>
      <p:sp>
        <p:nvSpPr>
          <p:cNvPr id="5" name="Rounded Rectangle 4"/>
          <p:cNvSpPr/>
          <p:nvPr/>
        </p:nvSpPr>
        <p:spPr>
          <a:xfrm>
            <a:off x="41148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Who is answerable when the system</a:t>
            </a:r>
          </a:p>
          <a:p>
            <a:pPr>
              <a:lnSpc>
                <a:spcPts val="1560"/>
              </a:lnSpc>
              <a:spcAft>
                <a:spcPts val="400"/>
              </a:spcAft>
              <a:defRPr sz="1200">
                <a:solidFill>
                  <a:srgbClr val="3A3A3A"/>
                </a:solidFill>
                <a:latin typeface="Montserrat"/>
              </a:defRPr>
            </a:pPr>
            <a:r>
              <a:t>causes harm?</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This is an organizational/governance</a:t>
            </a:r>
          </a:p>
          <a:p>
            <a:pPr>
              <a:lnSpc>
                <a:spcPts val="1560"/>
              </a:lnSpc>
              <a:spcAft>
                <a:spcPts val="400"/>
              </a:spcAft>
              <a:defRPr sz="1200">
                <a:solidFill>
                  <a:srgbClr val="3A3A3A"/>
                </a:solidFill>
                <a:latin typeface="Montserrat"/>
              </a:defRPr>
            </a:pPr>
            <a:r>
              <a:t>property — not a technical one.</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A system with no human accountable for</a:t>
            </a:r>
          </a:p>
          <a:p>
            <a:pPr>
              <a:lnSpc>
                <a:spcPts val="1560"/>
              </a:lnSpc>
              <a:spcAft>
                <a:spcPts val="400"/>
              </a:spcAft>
              <a:defRPr sz="1200">
                <a:solidFill>
                  <a:srgbClr val="3A3A3A"/>
                </a:solidFill>
                <a:latin typeface="Montserrat"/>
              </a:defRPr>
            </a:pPr>
            <a:r>
              <a:t>high-risk decisions cannot be accountable,</a:t>
            </a:r>
          </a:p>
          <a:p>
            <a:pPr>
              <a:lnSpc>
                <a:spcPts val="1560"/>
              </a:lnSpc>
              <a:spcAft>
                <a:spcPts val="400"/>
              </a:spcAft>
              <a:defRPr sz="1200">
                <a:solidFill>
                  <a:srgbClr val="3A3A3A"/>
                </a:solidFill>
                <a:latin typeface="Montserrat"/>
              </a:defRPr>
            </a:pPr>
            <a:r>
              <a:t>no matter how good its metrics are.</a:t>
            </a:r>
          </a:p>
        </p:txBody>
      </p:sp>
      <p:sp>
        <p:nvSpPr>
          <p:cNvPr id="7" name="Rounded Rectangle 6"/>
          <p:cNvSpPr/>
          <p:nvPr/>
        </p:nvSpPr>
        <p:spPr>
          <a:xfrm>
            <a:off x="3291840" y="1554480"/>
            <a:ext cx="2651760" cy="0"/>
          </a:xfrm>
          <a:prstGeom prst="round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554480"/>
            <a:ext cx="2651759" cy="0"/>
          </a:xfrm>
          <a:prstGeom prst="rect">
            <a:avLst/>
          </a:prstGeom>
          <a:noFill/>
        </p:spPr>
        <p:txBody>
          <a:bodyPr wrap="square">
            <a:spAutoFit/>
          </a:bodyPr>
          <a:lstStyle/>
          <a:p>
            <a:pPr algn="l">
              <a:defRPr sz="1100" b="1">
                <a:solidFill>
                  <a:srgbClr val="FFFFFF"/>
                </a:solidFill>
                <a:latin typeface="Montserrat"/>
              </a:defRPr>
            </a:pPr>
            <a:r>
              <a:t>WHY IT FAILS IN PRACTICE</a:t>
            </a:r>
          </a:p>
        </p:txBody>
      </p:sp>
      <p:sp>
        <p:nvSpPr>
          <p:cNvPr id="9" name="Rounded Rectangle 8"/>
          <p:cNvSpPr/>
          <p:nvPr/>
        </p:nvSpPr>
        <p:spPr>
          <a:xfrm>
            <a:off x="329184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Diffusion of responsibility: "the data</a:t>
            </a:r>
          </a:p>
          <a:p>
            <a:pPr>
              <a:lnSpc>
                <a:spcPts val="1560"/>
              </a:lnSpc>
              <a:spcAft>
                <a:spcPts val="400"/>
              </a:spcAft>
              <a:defRPr sz="1200">
                <a:solidFill>
                  <a:srgbClr val="3A3A3A"/>
                </a:solidFill>
                <a:latin typeface="Montserrat"/>
              </a:defRPr>
            </a:pPr>
            <a:r>
              <a:t>science team built it, ML ops deployed it,</a:t>
            </a:r>
          </a:p>
          <a:p>
            <a:pPr>
              <a:lnSpc>
                <a:spcPts val="1560"/>
              </a:lnSpc>
              <a:spcAft>
                <a:spcPts val="400"/>
              </a:spcAft>
              <a:defRPr sz="1200">
                <a:solidFill>
                  <a:srgbClr val="3A3A3A"/>
                </a:solidFill>
                <a:latin typeface="Montserrat"/>
              </a:defRPr>
            </a:pPr>
            <a:r>
              <a:t>product chose the threshold" — no single</a:t>
            </a:r>
          </a:p>
          <a:p>
            <a:pPr>
              <a:lnSpc>
                <a:spcPts val="1560"/>
              </a:lnSpc>
              <a:spcAft>
                <a:spcPts val="400"/>
              </a:spcAft>
              <a:defRPr sz="1200">
                <a:solidFill>
                  <a:srgbClr val="3A3A3A"/>
                </a:solidFill>
                <a:latin typeface="Montserrat"/>
              </a:defRPr>
            </a:pPr>
            <a:r>
              <a:t>owner.</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Automation bias: human reviewers rubber-</a:t>
            </a:r>
          </a:p>
          <a:p>
            <a:pPr>
              <a:lnSpc>
                <a:spcPts val="1560"/>
              </a:lnSpc>
              <a:spcAft>
                <a:spcPts val="400"/>
              </a:spcAft>
              <a:defRPr sz="1200">
                <a:solidFill>
                  <a:srgbClr val="3A3A3A"/>
                </a:solidFill>
                <a:latin typeface="Montserrat"/>
              </a:defRPr>
            </a:pPr>
            <a:r>
              <a:t>stamp model outputs because "the AI</a:t>
            </a:r>
          </a:p>
          <a:p>
            <a:pPr>
              <a:lnSpc>
                <a:spcPts val="1560"/>
              </a:lnSpc>
              <a:spcAft>
                <a:spcPts val="400"/>
              </a:spcAft>
              <a:defRPr sz="1200">
                <a:solidFill>
                  <a:srgbClr val="3A3A3A"/>
                </a:solidFill>
                <a:latin typeface="Montserrat"/>
              </a:defRPr>
            </a:pPr>
            <a:r>
              <a:t>usually gets it right."</a:t>
            </a:r>
          </a:p>
        </p:txBody>
      </p:sp>
      <p:sp>
        <p:nvSpPr>
          <p:cNvPr id="11" name="Rounded Rectangle 10"/>
          <p:cNvSpPr/>
          <p:nvPr/>
        </p:nvSpPr>
        <p:spPr>
          <a:xfrm>
            <a:off x="6172200" y="1554480"/>
            <a:ext cx="26517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554480"/>
            <a:ext cx="2651759" cy="0"/>
          </a:xfrm>
          <a:prstGeom prst="rect">
            <a:avLst/>
          </a:prstGeom>
          <a:noFill/>
        </p:spPr>
        <p:txBody>
          <a:bodyPr wrap="square">
            <a:spAutoFit/>
          </a:bodyPr>
          <a:lstStyle/>
          <a:p>
            <a:pPr algn="l">
              <a:defRPr sz="1100" b="1">
                <a:solidFill>
                  <a:srgbClr val="FFFFFF"/>
                </a:solidFill>
                <a:latin typeface="Montserrat"/>
              </a:defRPr>
            </a:pPr>
            <a:r>
              <a:t>ONE CONCRETE TECHNIQUE</a:t>
            </a:r>
          </a:p>
        </p:txBody>
      </p:sp>
      <p:sp>
        <p:nvSpPr>
          <p:cNvPr id="13" name="Rounded Rectangle 12"/>
          <p:cNvSpPr/>
          <p:nvPr/>
        </p:nvSpPr>
        <p:spPr>
          <a:xfrm>
            <a:off x="6172200" y="1554480"/>
            <a:ext cx="2651760" cy="2926080"/>
          </a:xfrm>
          <a:prstGeom prst="roundRect">
            <a:avLst/>
          </a:prstGeom>
          <a:solidFill>
            <a:srgbClr val="E0F7F9"/>
          </a:solidFill>
          <a:ln w="12700">
            <a:solidFill>
              <a:srgbClr val="2EBF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Human-in-the-loop (HITL) design:</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 Designate accountable roles per decision</a:t>
            </a:r>
          </a:p>
          <a:p>
            <a:pPr>
              <a:lnSpc>
                <a:spcPts val="1560"/>
              </a:lnSpc>
              <a:spcAft>
                <a:spcPts val="400"/>
              </a:spcAft>
              <a:defRPr sz="1200">
                <a:solidFill>
                  <a:srgbClr val="3A3A3A"/>
                </a:solidFill>
                <a:latin typeface="Montserrat"/>
              </a:defRPr>
            </a:pPr>
            <a:r>
              <a:t>  class BEFORE deployment.</a:t>
            </a:r>
          </a:p>
          <a:p>
            <a:pPr>
              <a:lnSpc>
                <a:spcPts val="1560"/>
              </a:lnSpc>
              <a:spcAft>
                <a:spcPts val="400"/>
              </a:spcAft>
              <a:defRPr sz="1200">
                <a:solidFill>
                  <a:srgbClr val="3A3A3A"/>
                </a:solidFill>
                <a:latin typeface="Montserrat"/>
              </a:defRPr>
            </a:pPr>
            <a:r>
              <a:t>• Surface model reasoning alongside the</a:t>
            </a:r>
          </a:p>
          <a:p>
            <a:pPr>
              <a:lnSpc>
                <a:spcPts val="1560"/>
              </a:lnSpc>
              <a:spcAft>
                <a:spcPts val="400"/>
              </a:spcAft>
              <a:defRPr sz="1200">
                <a:solidFill>
                  <a:srgbClr val="3A3A3A"/>
                </a:solidFill>
                <a:latin typeface="Montserrat"/>
              </a:defRPr>
            </a:pPr>
            <a:r>
              <a:t>  proposed action — not just the action.</a:t>
            </a:r>
          </a:p>
          <a:p>
            <a:pPr>
              <a:lnSpc>
                <a:spcPts val="1560"/>
              </a:lnSpc>
              <a:spcAft>
                <a:spcPts val="400"/>
              </a:spcAft>
              <a:defRPr sz="1200">
                <a:solidFill>
                  <a:srgbClr val="3A3A3A"/>
                </a:solidFill>
                <a:latin typeface="Montserrat"/>
              </a:defRPr>
            </a:pPr>
            <a:r>
              <a:t>• Log every override with accountable</a:t>
            </a:r>
          </a:p>
          <a:p>
            <a:pPr>
              <a:lnSpc>
                <a:spcPts val="1560"/>
              </a:lnSpc>
              <a:spcAft>
                <a:spcPts val="400"/>
              </a:spcAft>
              <a:defRPr sz="1200">
                <a:solidFill>
                  <a:srgbClr val="3A3A3A"/>
                </a:solidFill>
                <a:latin typeface="Montserrat"/>
              </a:defRPr>
            </a:pPr>
            <a:r>
              <a:t>  human's identity and stated rationale.</a:t>
            </a:r>
          </a:p>
        </p:txBody>
      </p:sp>
      <p:sp>
        <p:nvSpPr>
          <p:cNvPr id="15" name="Rounded Rectangle 14"/>
          <p:cNvSpPr/>
          <p:nvPr/>
        </p:nvSpPr>
        <p:spPr>
          <a:xfrm>
            <a:off x="411480" y="4709160"/>
            <a:ext cx="8321040" cy="36576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36592"/>
            <a:ext cx="8046720" cy="320040"/>
          </a:xfrm>
          <a:prstGeom prst="rect">
            <a:avLst/>
          </a:prstGeom>
          <a:noFill/>
        </p:spPr>
        <p:txBody>
          <a:bodyPr wrap="square">
            <a:spAutoFit/>
          </a:bodyPr>
          <a:lstStyle/>
          <a:p>
            <a:pPr algn="l">
              <a:defRPr sz="1000" b="0">
                <a:solidFill>
                  <a:srgbClr val="3A3A3A"/>
                </a:solidFill>
                <a:latin typeface="Montserrat"/>
              </a:defRPr>
            </a:pPr>
            <a:r>
              <a:t>Key: Accountability is one dimension of trust — it interacts with the other five. Evaluating any single principle in isolation is a partial assessment.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Core Principle: Robustness / Safety</a:t>
            </a:r>
          </a:p>
        </p:txBody>
      </p:sp>
      <p:sp>
        <p:nvSpPr>
          <p:cNvPr id="3" name="Rounded Rectangle 2"/>
          <p:cNvSpPr/>
          <p:nvPr/>
        </p:nvSpPr>
        <p:spPr>
          <a:xfrm>
            <a:off x="411480" y="1554480"/>
            <a:ext cx="2651760" cy="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0"/>
            <a:ext cx="2651759" cy="0"/>
          </a:xfrm>
          <a:prstGeom prst="rect">
            <a:avLst/>
          </a:prstGeom>
          <a:noFill/>
        </p:spPr>
        <p:txBody>
          <a:bodyPr wrap="square">
            <a:spAutoFit/>
          </a:bodyPr>
          <a:lstStyle/>
          <a:p>
            <a:pPr algn="l">
              <a:defRPr sz="1100" b="1">
                <a:solidFill>
                  <a:srgbClr val="FFFFFF"/>
                </a:solidFill>
                <a:latin typeface="Montserrat"/>
              </a:defRPr>
            </a:pPr>
            <a:r>
              <a:t>DEFINITION</a:t>
            </a:r>
          </a:p>
        </p:txBody>
      </p:sp>
      <p:sp>
        <p:nvSpPr>
          <p:cNvPr id="5" name="Rounded Rectangle 4"/>
          <p:cNvSpPr/>
          <p:nvPr/>
        </p:nvSpPr>
        <p:spPr>
          <a:xfrm>
            <a:off x="41148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Performance under distribution shift,</a:t>
            </a:r>
          </a:p>
          <a:p>
            <a:pPr>
              <a:lnSpc>
                <a:spcPts val="1560"/>
              </a:lnSpc>
              <a:spcAft>
                <a:spcPts val="400"/>
              </a:spcAft>
              <a:defRPr sz="1200">
                <a:solidFill>
                  <a:srgbClr val="3A3A3A"/>
                </a:solidFill>
                <a:latin typeface="Montserrat"/>
              </a:defRPr>
            </a:pPr>
            <a:r>
              <a:t>adversarial inputs, and edge cases —</a:t>
            </a:r>
          </a:p>
          <a:p>
            <a:pPr>
              <a:lnSpc>
                <a:spcPts val="1560"/>
              </a:lnSpc>
              <a:spcAft>
                <a:spcPts val="400"/>
              </a:spcAft>
              <a:defRPr sz="1200">
                <a:solidFill>
                  <a:srgbClr val="3A3A3A"/>
                </a:solidFill>
                <a:latin typeface="Montserrat"/>
              </a:defRPr>
            </a:pPr>
            <a:r>
              <a:t>not just average-case accuracy.</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General robustness: resilience to natural</a:t>
            </a:r>
          </a:p>
          <a:p>
            <a:pPr>
              <a:lnSpc>
                <a:spcPts val="1560"/>
              </a:lnSpc>
              <a:spcAft>
                <a:spcPts val="400"/>
              </a:spcAft>
              <a:defRPr sz="1200">
                <a:solidFill>
                  <a:srgbClr val="3A3A3A"/>
                </a:solidFill>
                <a:latin typeface="Montserrat"/>
              </a:defRPr>
            </a:pPr>
            <a:r>
              <a:t>noise, edge cases, distribution drift.</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Adversarial robustness: resilience to</a:t>
            </a:r>
          </a:p>
          <a:p>
            <a:pPr>
              <a:lnSpc>
                <a:spcPts val="1560"/>
              </a:lnSpc>
              <a:spcAft>
                <a:spcPts val="400"/>
              </a:spcAft>
              <a:defRPr sz="1200">
                <a:solidFill>
                  <a:srgbClr val="3A3A3A"/>
                </a:solidFill>
                <a:latin typeface="Montserrat"/>
              </a:defRPr>
            </a:pPr>
            <a:r>
              <a:t>inputs deliberately crafted to cause</a:t>
            </a:r>
          </a:p>
          <a:p>
            <a:pPr>
              <a:lnSpc>
                <a:spcPts val="1560"/>
              </a:lnSpc>
              <a:spcAft>
                <a:spcPts val="400"/>
              </a:spcAft>
              <a:defRPr sz="1200">
                <a:solidFill>
                  <a:srgbClr val="3A3A3A"/>
                </a:solidFill>
                <a:latin typeface="Montserrat"/>
              </a:defRPr>
            </a:pPr>
            <a:r>
              <a:t>failure (prompt injection, jailbreaks).</a:t>
            </a:r>
          </a:p>
        </p:txBody>
      </p:sp>
      <p:sp>
        <p:nvSpPr>
          <p:cNvPr id="7" name="Rounded Rectangle 6"/>
          <p:cNvSpPr/>
          <p:nvPr/>
        </p:nvSpPr>
        <p:spPr>
          <a:xfrm>
            <a:off x="3291840" y="1554480"/>
            <a:ext cx="2651760" cy="0"/>
          </a:xfrm>
          <a:prstGeom prst="round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554480"/>
            <a:ext cx="2651759" cy="0"/>
          </a:xfrm>
          <a:prstGeom prst="rect">
            <a:avLst/>
          </a:prstGeom>
          <a:noFill/>
        </p:spPr>
        <p:txBody>
          <a:bodyPr wrap="square">
            <a:spAutoFit/>
          </a:bodyPr>
          <a:lstStyle/>
          <a:p>
            <a:pPr algn="l">
              <a:defRPr sz="1100" b="1">
                <a:solidFill>
                  <a:srgbClr val="FFFFFF"/>
                </a:solidFill>
                <a:latin typeface="Montserrat"/>
              </a:defRPr>
            </a:pPr>
            <a:r>
              <a:t>WHY IT FAILS IN PRACTICE</a:t>
            </a:r>
          </a:p>
        </p:txBody>
      </p:sp>
      <p:sp>
        <p:nvSpPr>
          <p:cNvPr id="9" name="Rounded Rectangle 8"/>
          <p:cNvSpPr/>
          <p:nvPr/>
        </p:nvSpPr>
        <p:spPr>
          <a:xfrm>
            <a:off x="329184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Models are typically evaluated on IID</a:t>
            </a:r>
          </a:p>
          <a:p>
            <a:pPr>
              <a:lnSpc>
                <a:spcPts val="1560"/>
              </a:lnSpc>
              <a:spcAft>
                <a:spcPts val="400"/>
              </a:spcAft>
              <a:defRPr sz="1200">
                <a:solidFill>
                  <a:srgbClr val="3A3A3A"/>
                </a:solidFill>
                <a:latin typeface="Montserrat"/>
              </a:defRPr>
            </a:pPr>
            <a:r>
              <a:t>held-out test sets — which tells you</a:t>
            </a:r>
          </a:p>
          <a:p>
            <a:pPr>
              <a:lnSpc>
                <a:spcPts val="1560"/>
              </a:lnSpc>
              <a:spcAft>
                <a:spcPts val="400"/>
              </a:spcAft>
              <a:defRPr sz="1200">
                <a:solidFill>
                  <a:srgbClr val="3A3A3A"/>
                </a:solidFill>
                <a:latin typeface="Montserrat"/>
              </a:defRPr>
            </a:pPr>
            <a:r>
              <a:t>nothing about behavior under shift or</a:t>
            </a:r>
          </a:p>
          <a:p>
            <a:pPr>
              <a:lnSpc>
                <a:spcPts val="1560"/>
              </a:lnSpc>
              <a:spcAft>
                <a:spcPts val="400"/>
              </a:spcAft>
              <a:defRPr sz="1200">
                <a:solidFill>
                  <a:srgbClr val="3A3A3A"/>
                </a:solidFill>
                <a:latin typeface="Montserrat"/>
              </a:defRPr>
            </a:pPr>
            <a:r>
              <a:t>attack.</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LLMs introduce novel attack surfaces:</a:t>
            </a:r>
          </a:p>
          <a:p>
            <a:pPr>
              <a:lnSpc>
                <a:spcPts val="1560"/>
              </a:lnSpc>
              <a:spcAft>
                <a:spcPts val="400"/>
              </a:spcAft>
              <a:defRPr sz="1200">
                <a:solidFill>
                  <a:srgbClr val="3A3A3A"/>
                </a:solidFill>
                <a:latin typeface="Montserrat"/>
              </a:defRPr>
            </a:pPr>
            <a:r>
              <a:t>prompt injection, indirect injection via</a:t>
            </a:r>
          </a:p>
          <a:p>
            <a:pPr>
              <a:lnSpc>
                <a:spcPts val="1560"/>
              </a:lnSpc>
              <a:spcAft>
                <a:spcPts val="400"/>
              </a:spcAft>
              <a:defRPr sz="1200">
                <a:solidFill>
                  <a:srgbClr val="3A3A3A"/>
                </a:solidFill>
                <a:latin typeface="Montserrat"/>
              </a:defRPr>
            </a:pPr>
            <a:r>
              <a:t>retrieved documents — these didn't exist</a:t>
            </a:r>
          </a:p>
          <a:p>
            <a:pPr>
              <a:lnSpc>
                <a:spcPts val="1560"/>
              </a:lnSpc>
              <a:spcAft>
                <a:spcPts val="400"/>
              </a:spcAft>
              <a:defRPr sz="1200">
                <a:solidFill>
                  <a:srgbClr val="3A3A3A"/>
                </a:solidFill>
                <a:latin typeface="Montserrat"/>
              </a:defRPr>
            </a:pPr>
            <a:r>
              <a:t>for traditional ML.</a:t>
            </a:r>
          </a:p>
        </p:txBody>
      </p:sp>
      <p:sp>
        <p:nvSpPr>
          <p:cNvPr id="11" name="Rounded Rectangle 10"/>
          <p:cNvSpPr/>
          <p:nvPr/>
        </p:nvSpPr>
        <p:spPr>
          <a:xfrm>
            <a:off x="6172200" y="1554480"/>
            <a:ext cx="26517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554480"/>
            <a:ext cx="2651759" cy="0"/>
          </a:xfrm>
          <a:prstGeom prst="rect">
            <a:avLst/>
          </a:prstGeom>
          <a:noFill/>
        </p:spPr>
        <p:txBody>
          <a:bodyPr wrap="square">
            <a:spAutoFit/>
          </a:bodyPr>
          <a:lstStyle/>
          <a:p>
            <a:pPr algn="l">
              <a:defRPr sz="1100" b="1">
                <a:solidFill>
                  <a:srgbClr val="FFFFFF"/>
                </a:solidFill>
                <a:latin typeface="Montserrat"/>
              </a:defRPr>
            </a:pPr>
            <a:r>
              <a:t>ONE CONCRETE TECHNIQUE</a:t>
            </a:r>
          </a:p>
        </p:txBody>
      </p:sp>
      <p:sp>
        <p:nvSpPr>
          <p:cNvPr id="13" name="Rounded Rectangle 12"/>
          <p:cNvSpPr/>
          <p:nvPr/>
        </p:nvSpPr>
        <p:spPr>
          <a:xfrm>
            <a:off x="6172200" y="1554480"/>
            <a:ext cx="2651760" cy="2926080"/>
          </a:xfrm>
          <a:prstGeom prst="roundRect">
            <a:avLst/>
          </a:prstGeom>
          <a:solidFill>
            <a:srgbClr val="E0F7F9"/>
          </a:solidFill>
          <a:ln w="12700">
            <a:solidFill>
              <a:srgbClr val="2EBF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Red-teaming and adversarial testing:</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 Structured red-teaming harness (Garak,</a:t>
            </a:r>
          </a:p>
          <a:p>
            <a:pPr>
              <a:lnSpc>
                <a:spcPts val="1560"/>
              </a:lnSpc>
              <a:spcAft>
                <a:spcPts val="400"/>
              </a:spcAft>
              <a:defRPr sz="1200">
                <a:solidFill>
                  <a:srgbClr val="3A3A3A"/>
                </a:solidFill>
                <a:latin typeface="Montserrat"/>
              </a:defRPr>
            </a:pPr>
            <a:r>
              <a:t>  PyRIT) — systematically probe for</a:t>
            </a:r>
          </a:p>
          <a:p>
            <a:pPr>
              <a:lnSpc>
                <a:spcPts val="1560"/>
              </a:lnSpc>
              <a:spcAft>
                <a:spcPts val="400"/>
              </a:spcAft>
              <a:defRPr sz="1200">
                <a:solidFill>
                  <a:srgbClr val="3A3A3A"/>
                </a:solidFill>
                <a:latin typeface="Montserrat"/>
              </a:defRPr>
            </a:pPr>
            <a:r>
              <a:t>  vulnerabilities across attack categories.</a:t>
            </a:r>
          </a:p>
          <a:p>
            <a:pPr>
              <a:lnSpc>
                <a:spcPts val="1560"/>
              </a:lnSpc>
              <a:spcAft>
                <a:spcPts val="400"/>
              </a:spcAft>
              <a:defRPr sz="1200">
                <a:solidFill>
                  <a:srgbClr val="3A3A3A"/>
                </a:solidFill>
                <a:latin typeface="Montserrat"/>
              </a:defRPr>
            </a:pPr>
            <a:r>
              <a:t>• Prompt injection defenses: input</a:t>
            </a:r>
          </a:p>
          <a:p>
            <a:pPr>
              <a:lnSpc>
                <a:spcPts val="1560"/>
              </a:lnSpc>
              <a:spcAft>
                <a:spcPts val="400"/>
              </a:spcAft>
              <a:defRPr sz="1200">
                <a:solidFill>
                  <a:srgbClr val="3A3A3A"/>
                </a:solidFill>
                <a:latin typeface="Montserrat"/>
              </a:defRPr>
            </a:pPr>
            <a:r>
              <a:t>  sanitization, instruction hierarchy.</a:t>
            </a:r>
          </a:p>
          <a:p>
            <a:pPr>
              <a:lnSpc>
                <a:spcPts val="1560"/>
              </a:lnSpc>
              <a:spcAft>
                <a:spcPts val="400"/>
              </a:spcAft>
              <a:defRPr sz="1200">
                <a:solidFill>
                  <a:srgbClr val="3A3A3A"/>
                </a:solidFill>
                <a:latin typeface="Montserrat"/>
              </a:defRPr>
            </a:pPr>
            <a:r>
              <a:t>• Continuous monitoring, not one-time</a:t>
            </a:r>
          </a:p>
          <a:p>
            <a:pPr>
              <a:lnSpc>
                <a:spcPts val="1560"/>
              </a:lnSpc>
              <a:spcAft>
                <a:spcPts val="400"/>
              </a:spcAft>
              <a:defRPr sz="1200">
                <a:solidFill>
                  <a:srgbClr val="3A3A3A"/>
                </a:solidFill>
                <a:latin typeface="Montserrat"/>
              </a:defRPr>
            </a:pPr>
            <a:r>
              <a:t>  pre-deployment eval.</a:t>
            </a:r>
          </a:p>
        </p:txBody>
      </p:sp>
      <p:sp>
        <p:nvSpPr>
          <p:cNvPr id="15" name="Rounded Rectangle 14"/>
          <p:cNvSpPr/>
          <p:nvPr/>
        </p:nvSpPr>
        <p:spPr>
          <a:xfrm>
            <a:off x="411480" y="4709160"/>
            <a:ext cx="8321040" cy="36576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36592"/>
            <a:ext cx="8046720" cy="320040"/>
          </a:xfrm>
          <a:prstGeom prst="rect">
            <a:avLst/>
          </a:prstGeom>
          <a:noFill/>
        </p:spPr>
        <p:txBody>
          <a:bodyPr wrap="square">
            <a:spAutoFit/>
          </a:bodyPr>
          <a:lstStyle/>
          <a:p>
            <a:pPr algn="l">
              <a:defRPr sz="1000" b="0">
                <a:solidFill>
                  <a:srgbClr val="3A3A3A"/>
                </a:solidFill>
                <a:latin typeface="Montserrat"/>
              </a:defRPr>
            </a:pPr>
            <a:r>
              <a:t>Key: Robustness / Safety is one dimension of trust — it interacts with the other five. Evaluating any single principle in isolation is a partial assessment.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Core Principle: Privacy</a:t>
            </a:r>
          </a:p>
        </p:txBody>
      </p:sp>
      <p:sp>
        <p:nvSpPr>
          <p:cNvPr id="3" name="Rounded Rectangle 2"/>
          <p:cNvSpPr/>
          <p:nvPr/>
        </p:nvSpPr>
        <p:spPr>
          <a:xfrm>
            <a:off x="411480" y="1554480"/>
            <a:ext cx="2651760" cy="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0"/>
            <a:ext cx="2651759" cy="0"/>
          </a:xfrm>
          <a:prstGeom prst="rect">
            <a:avLst/>
          </a:prstGeom>
          <a:noFill/>
        </p:spPr>
        <p:txBody>
          <a:bodyPr wrap="square">
            <a:spAutoFit/>
          </a:bodyPr>
          <a:lstStyle/>
          <a:p>
            <a:pPr algn="l">
              <a:defRPr sz="1100" b="1">
                <a:solidFill>
                  <a:srgbClr val="FFFFFF"/>
                </a:solidFill>
                <a:latin typeface="Montserrat"/>
              </a:defRPr>
            </a:pPr>
            <a:r>
              <a:t>DEFINITION</a:t>
            </a:r>
          </a:p>
        </p:txBody>
      </p:sp>
      <p:sp>
        <p:nvSpPr>
          <p:cNvPr id="5" name="Rounded Rectangle 4"/>
          <p:cNvSpPr/>
          <p:nvPr/>
        </p:nvSpPr>
        <p:spPr>
          <a:xfrm>
            <a:off x="41148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Differential privacy (formal): add</a:t>
            </a:r>
          </a:p>
          <a:p>
            <a:pPr>
              <a:lnSpc>
                <a:spcPts val="1560"/>
              </a:lnSpc>
              <a:spcAft>
                <a:spcPts val="400"/>
              </a:spcAft>
              <a:defRPr sz="1200">
                <a:solidFill>
                  <a:srgbClr val="3A3A3A"/>
                </a:solidFill>
                <a:latin typeface="Montserrat"/>
              </a:defRPr>
            </a:pPr>
            <a:r>
              <a:t>calibrated noise so no single individual's</a:t>
            </a:r>
          </a:p>
          <a:p>
            <a:pPr>
              <a:lnSpc>
                <a:spcPts val="1560"/>
              </a:lnSpc>
              <a:spcAft>
                <a:spcPts val="400"/>
              </a:spcAft>
              <a:defRPr sz="1200">
                <a:solidFill>
                  <a:srgbClr val="3A3A3A"/>
                </a:solidFill>
                <a:latin typeface="Montserrat"/>
              </a:defRPr>
            </a:pPr>
            <a:r>
              <a:t>data materially changes the output —</a:t>
            </a:r>
          </a:p>
          <a:p>
            <a:pPr>
              <a:lnSpc>
                <a:spcPts val="1560"/>
              </a:lnSpc>
              <a:spcAft>
                <a:spcPts val="400"/>
              </a:spcAft>
              <a:defRPr sz="1200">
                <a:solidFill>
                  <a:srgbClr val="3A3A3A"/>
                </a:solidFill>
                <a:latin typeface="Montserrat"/>
              </a:defRPr>
            </a:pPr>
            <a:r>
              <a:t>a mathematical (not just policy) guarantee.</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Contrast with simple anonymization or</a:t>
            </a:r>
          </a:p>
          <a:p>
            <a:pPr>
              <a:lnSpc>
                <a:spcPts val="1560"/>
              </a:lnSpc>
              <a:spcAft>
                <a:spcPts val="400"/>
              </a:spcAft>
              <a:defRPr sz="1200">
                <a:solidFill>
                  <a:srgbClr val="3A3A3A"/>
                </a:solidFill>
                <a:latin typeface="Montserrat"/>
              </a:defRPr>
            </a:pPr>
            <a:r>
              <a:t>redaction: removing PII fields is data</a:t>
            </a:r>
          </a:p>
          <a:p>
            <a:pPr>
              <a:lnSpc>
                <a:spcPts val="1560"/>
              </a:lnSpc>
              <a:spcAft>
                <a:spcPts val="400"/>
              </a:spcAft>
              <a:defRPr sz="1200">
                <a:solidFill>
                  <a:srgbClr val="3A3A3A"/>
                </a:solidFill>
                <a:latin typeface="Montserrat"/>
              </a:defRPr>
            </a:pPr>
            <a:r>
              <a:t>hygiene, not a formal privacy guarantee.</a:t>
            </a:r>
          </a:p>
        </p:txBody>
      </p:sp>
      <p:sp>
        <p:nvSpPr>
          <p:cNvPr id="7" name="Rounded Rectangle 6"/>
          <p:cNvSpPr/>
          <p:nvPr/>
        </p:nvSpPr>
        <p:spPr>
          <a:xfrm>
            <a:off x="3291840" y="1554480"/>
            <a:ext cx="2651760" cy="0"/>
          </a:xfrm>
          <a:prstGeom prst="round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554480"/>
            <a:ext cx="2651759" cy="0"/>
          </a:xfrm>
          <a:prstGeom prst="rect">
            <a:avLst/>
          </a:prstGeom>
          <a:noFill/>
        </p:spPr>
        <p:txBody>
          <a:bodyPr wrap="square">
            <a:spAutoFit/>
          </a:bodyPr>
          <a:lstStyle/>
          <a:p>
            <a:pPr algn="l">
              <a:defRPr sz="1100" b="1">
                <a:solidFill>
                  <a:srgbClr val="FFFFFF"/>
                </a:solidFill>
                <a:latin typeface="Montserrat"/>
              </a:defRPr>
            </a:pPr>
            <a:r>
              <a:t>WHY IT FAILS IN PRACTICE</a:t>
            </a:r>
          </a:p>
        </p:txBody>
      </p:sp>
      <p:sp>
        <p:nvSpPr>
          <p:cNvPr id="9" name="Rounded Rectangle 8"/>
          <p:cNvSpPr/>
          <p:nvPr/>
        </p:nvSpPr>
        <p:spPr>
          <a:xfrm>
            <a:off x="329184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Simple anonymization can be defeated by</a:t>
            </a:r>
          </a:p>
          <a:p>
            <a:pPr>
              <a:lnSpc>
                <a:spcPts val="1560"/>
              </a:lnSpc>
              <a:spcAft>
                <a:spcPts val="400"/>
              </a:spcAft>
              <a:defRPr sz="1200">
                <a:solidFill>
                  <a:srgbClr val="3A3A3A"/>
                </a:solidFill>
                <a:latin typeface="Montserrat"/>
              </a:defRPr>
            </a:pPr>
            <a:r>
              <a:t>linkage attacks — combining "anonymized"</a:t>
            </a:r>
          </a:p>
          <a:p>
            <a:pPr>
              <a:lnSpc>
                <a:spcPts val="1560"/>
              </a:lnSpc>
              <a:spcAft>
                <a:spcPts val="400"/>
              </a:spcAft>
              <a:defRPr sz="1200">
                <a:solidFill>
                  <a:srgbClr val="3A3A3A"/>
                </a:solidFill>
                <a:latin typeface="Montserrat"/>
              </a:defRPr>
            </a:pPr>
            <a:r>
              <a:t>datasets with public data to re-identify</a:t>
            </a:r>
          </a:p>
          <a:p>
            <a:pPr>
              <a:lnSpc>
                <a:spcPts val="1560"/>
              </a:lnSpc>
              <a:spcAft>
                <a:spcPts val="400"/>
              </a:spcAft>
              <a:defRPr sz="1200">
                <a:solidFill>
                  <a:srgbClr val="3A3A3A"/>
                </a:solidFill>
                <a:latin typeface="Montserrat"/>
              </a:defRPr>
            </a:pPr>
            <a:r>
              <a:t>individuals.</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Models themselves can memorize and</a:t>
            </a:r>
          </a:p>
          <a:p>
            <a:pPr>
              <a:lnSpc>
                <a:spcPts val="1560"/>
              </a:lnSpc>
              <a:spcAft>
                <a:spcPts val="400"/>
              </a:spcAft>
              <a:defRPr sz="1200">
                <a:solidFill>
                  <a:srgbClr val="3A3A3A"/>
                </a:solidFill>
                <a:latin typeface="Montserrat"/>
              </a:defRPr>
            </a:pPr>
            <a:r>
              <a:t>regurgitate training data — a privacy</a:t>
            </a:r>
          </a:p>
          <a:p>
            <a:pPr>
              <a:lnSpc>
                <a:spcPts val="1560"/>
              </a:lnSpc>
              <a:spcAft>
                <a:spcPts val="400"/>
              </a:spcAft>
              <a:defRPr sz="1200">
                <a:solidFill>
                  <a:srgbClr val="3A3A3A"/>
                </a:solidFill>
                <a:latin typeface="Montserrat"/>
              </a:defRPr>
            </a:pPr>
            <a:r>
              <a:t>failure redaction at inference time</a:t>
            </a:r>
          </a:p>
          <a:p>
            <a:pPr>
              <a:lnSpc>
                <a:spcPts val="1560"/>
              </a:lnSpc>
              <a:spcAft>
                <a:spcPts val="400"/>
              </a:spcAft>
              <a:defRPr sz="1200">
                <a:solidFill>
                  <a:srgbClr val="3A3A3A"/>
                </a:solidFill>
                <a:latin typeface="Montserrat"/>
              </a:defRPr>
            </a:pPr>
            <a:r>
              <a:t>cannot prevent.</a:t>
            </a:r>
          </a:p>
        </p:txBody>
      </p:sp>
      <p:sp>
        <p:nvSpPr>
          <p:cNvPr id="11" name="Rounded Rectangle 10"/>
          <p:cNvSpPr/>
          <p:nvPr/>
        </p:nvSpPr>
        <p:spPr>
          <a:xfrm>
            <a:off x="6172200" y="1554480"/>
            <a:ext cx="26517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554480"/>
            <a:ext cx="2651759" cy="0"/>
          </a:xfrm>
          <a:prstGeom prst="rect">
            <a:avLst/>
          </a:prstGeom>
          <a:noFill/>
        </p:spPr>
        <p:txBody>
          <a:bodyPr wrap="square">
            <a:spAutoFit/>
          </a:bodyPr>
          <a:lstStyle/>
          <a:p>
            <a:pPr algn="l">
              <a:defRPr sz="1100" b="1">
                <a:solidFill>
                  <a:srgbClr val="FFFFFF"/>
                </a:solidFill>
                <a:latin typeface="Montserrat"/>
              </a:defRPr>
            </a:pPr>
            <a:r>
              <a:t>ONE CONCRETE TECHNIQUE</a:t>
            </a:r>
          </a:p>
        </p:txBody>
      </p:sp>
      <p:sp>
        <p:nvSpPr>
          <p:cNvPr id="13" name="Rounded Rectangle 12"/>
          <p:cNvSpPr/>
          <p:nvPr/>
        </p:nvSpPr>
        <p:spPr>
          <a:xfrm>
            <a:off x="6172200" y="1554480"/>
            <a:ext cx="2651760" cy="2926080"/>
          </a:xfrm>
          <a:prstGeom prst="roundRect">
            <a:avLst/>
          </a:prstGeom>
          <a:solidFill>
            <a:srgbClr val="E0F7F9"/>
          </a:solidFill>
          <a:ln w="12700">
            <a:solidFill>
              <a:srgbClr val="2EBF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Layered approach — match technique to</a:t>
            </a:r>
          </a:p>
          <a:p>
            <a:pPr>
              <a:lnSpc>
                <a:spcPts val="1560"/>
              </a:lnSpc>
              <a:spcAft>
                <a:spcPts val="400"/>
              </a:spcAft>
              <a:defRPr sz="1200">
                <a:solidFill>
                  <a:srgbClr val="3A3A3A"/>
                </a:solidFill>
                <a:latin typeface="Montserrat"/>
              </a:defRPr>
            </a:pPr>
            <a:r>
              <a:t>threat model:</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 PII detection/redaction (Presidio):</a:t>
            </a:r>
          </a:p>
          <a:p>
            <a:pPr>
              <a:lnSpc>
                <a:spcPts val="1560"/>
              </a:lnSpc>
              <a:spcAft>
                <a:spcPts val="400"/>
              </a:spcAft>
              <a:defRPr sz="1200">
                <a:solidFill>
                  <a:srgbClr val="3A3A3A"/>
                </a:solidFill>
                <a:latin typeface="Montserrat"/>
              </a:defRPr>
            </a:pPr>
            <a:r>
              <a:t>  prevents PII in inputs and outputs.</a:t>
            </a:r>
          </a:p>
          <a:p>
            <a:pPr>
              <a:lnSpc>
                <a:spcPts val="1560"/>
              </a:lnSpc>
              <a:spcAft>
                <a:spcPts val="400"/>
              </a:spcAft>
              <a:defRPr sz="1200">
                <a:solidFill>
                  <a:srgbClr val="3A3A3A"/>
                </a:solidFill>
                <a:latin typeface="Montserrat"/>
              </a:defRPr>
            </a:pPr>
            <a:r>
              <a:t>• Differential privacy (DP-SGD): formal</a:t>
            </a:r>
          </a:p>
          <a:p>
            <a:pPr>
              <a:lnSpc>
                <a:spcPts val="1560"/>
              </a:lnSpc>
              <a:spcAft>
                <a:spcPts val="400"/>
              </a:spcAft>
              <a:defRPr sz="1200">
                <a:solidFill>
                  <a:srgbClr val="3A3A3A"/>
                </a:solidFill>
                <a:latin typeface="Montserrat"/>
              </a:defRPr>
            </a:pPr>
            <a:r>
              <a:t>  guarantee at training time.</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Be precise: these solve different</a:t>
            </a:r>
          </a:p>
          <a:p>
            <a:pPr>
              <a:lnSpc>
                <a:spcPts val="1560"/>
              </a:lnSpc>
              <a:spcAft>
                <a:spcPts val="400"/>
              </a:spcAft>
              <a:defRPr sz="1200">
                <a:solidFill>
                  <a:srgbClr val="3A3A3A"/>
                </a:solidFill>
                <a:latin typeface="Montserrat"/>
              </a:defRPr>
            </a:pPr>
            <a:r>
              <a:t>problems. Redaction ≠ DP.</a:t>
            </a:r>
          </a:p>
        </p:txBody>
      </p:sp>
      <p:sp>
        <p:nvSpPr>
          <p:cNvPr id="15" name="Rounded Rectangle 14"/>
          <p:cNvSpPr/>
          <p:nvPr/>
        </p:nvSpPr>
        <p:spPr>
          <a:xfrm>
            <a:off x="411480" y="4709160"/>
            <a:ext cx="8321040" cy="36576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36592"/>
            <a:ext cx="8046720" cy="320040"/>
          </a:xfrm>
          <a:prstGeom prst="rect">
            <a:avLst/>
          </a:prstGeom>
          <a:noFill/>
        </p:spPr>
        <p:txBody>
          <a:bodyPr wrap="square">
            <a:spAutoFit/>
          </a:bodyPr>
          <a:lstStyle/>
          <a:p>
            <a:pPr algn="l">
              <a:defRPr sz="1000" b="0">
                <a:solidFill>
                  <a:srgbClr val="3A3A3A"/>
                </a:solidFill>
                <a:latin typeface="Montserrat"/>
              </a:defRPr>
            </a:pPr>
            <a:r>
              <a:t>Key: Privacy is one dimension of trust — it interacts with the other five. Evaluating any single principle in isolation is a partial assessment.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Core Principle: Reliability</a:t>
            </a:r>
          </a:p>
        </p:txBody>
      </p:sp>
      <p:sp>
        <p:nvSpPr>
          <p:cNvPr id="3" name="Rounded Rectangle 2"/>
          <p:cNvSpPr/>
          <p:nvPr/>
        </p:nvSpPr>
        <p:spPr>
          <a:xfrm>
            <a:off x="411480" y="1554480"/>
            <a:ext cx="26517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0"/>
            <a:ext cx="2651759" cy="0"/>
          </a:xfrm>
          <a:prstGeom prst="rect">
            <a:avLst/>
          </a:prstGeom>
          <a:noFill/>
        </p:spPr>
        <p:txBody>
          <a:bodyPr wrap="square">
            <a:spAutoFit/>
          </a:bodyPr>
          <a:lstStyle/>
          <a:p>
            <a:pPr algn="l">
              <a:defRPr sz="1100" b="1">
                <a:solidFill>
                  <a:srgbClr val="FFFFFF"/>
                </a:solidFill>
                <a:latin typeface="Montserrat"/>
              </a:defRPr>
            </a:pPr>
            <a:r>
              <a:t>DEFINITION</a:t>
            </a:r>
          </a:p>
        </p:txBody>
      </p:sp>
      <p:sp>
        <p:nvSpPr>
          <p:cNvPr id="5" name="Rounded Rectangle 4"/>
          <p:cNvSpPr/>
          <p:nvPr/>
        </p:nvSpPr>
        <p:spPr>
          <a:xfrm>
            <a:off x="41148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Consistent performance across time,</a:t>
            </a:r>
          </a:p>
          <a:p>
            <a:pPr>
              <a:lnSpc>
                <a:spcPts val="1560"/>
              </a:lnSpc>
              <a:spcAft>
                <a:spcPts val="400"/>
              </a:spcAft>
              <a:defRPr sz="1200">
                <a:solidFill>
                  <a:srgbClr val="3A3A3A"/>
                </a:solidFill>
                <a:latin typeface="Montserrat"/>
              </a:defRPr>
            </a:pPr>
            <a:r>
              <a:t>environments, and inputs.</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Not just "did it pass eval once" — does it</a:t>
            </a:r>
          </a:p>
          <a:p>
            <a:pPr>
              <a:lnSpc>
                <a:spcPts val="1560"/>
              </a:lnSpc>
              <a:spcAft>
                <a:spcPts val="400"/>
              </a:spcAft>
              <a:defRPr sz="1200">
                <a:solidFill>
                  <a:srgbClr val="3A3A3A"/>
                </a:solidFill>
                <a:latin typeface="Montserrat"/>
              </a:defRPr>
            </a:pPr>
            <a:r>
              <a:t>keep performing at the same level as</a:t>
            </a:r>
          </a:p>
          <a:p>
            <a:pPr>
              <a:lnSpc>
                <a:spcPts val="1560"/>
              </a:lnSpc>
              <a:spcAft>
                <a:spcPts val="400"/>
              </a:spcAft>
              <a:defRPr sz="1200">
                <a:solidFill>
                  <a:srgbClr val="3A3A3A"/>
                </a:solidFill>
                <a:latin typeface="Montserrat"/>
              </a:defRPr>
            </a:pPr>
            <a:r>
              <a:t>data, users, and context change.</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Ties to NIST's Measure function being</a:t>
            </a:r>
          </a:p>
          <a:p>
            <a:pPr>
              <a:lnSpc>
                <a:spcPts val="1560"/>
              </a:lnSpc>
              <a:spcAft>
                <a:spcPts val="400"/>
              </a:spcAft>
              <a:defRPr sz="1200">
                <a:solidFill>
                  <a:srgbClr val="3A3A3A"/>
                </a:solidFill>
                <a:latin typeface="Montserrat"/>
              </a:defRPr>
            </a:pPr>
            <a:r>
              <a:t>continuous, not a pre-deployment gate.</a:t>
            </a:r>
          </a:p>
        </p:txBody>
      </p:sp>
      <p:sp>
        <p:nvSpPr>
          <p:cNvPr id="7" name="Rounded Rectangle 6"/>
          <p:cNvSpPr/>
          <p:nvPr/>
        </p:nvSpPr>
        <p:spPr>
          <a:xfrm>
            <a:off x="3291840" y="1554480"/>
            <a:ext cx="2651760" cy="0"/>
          </a:xfrm>
          <a:prstGeom prst="round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554480"/>
            <a:ext cx="2651759" cy="0"/>
          </a:xfrm>
          <a:prstGeom prst="rect">
            <a:avLst/>
          </a:prstGeom>
          <a:noFill/>
        </p:spPr>
        <p:txBody>
          <a:bodyPr wrap="square">
            <a:spAutoFit/>
          </a:bodyPr>
          <a:lstStyle/>
          <a:p>
            <a:pPr algn="l">
              <a:defRPr sz="1100" b="1">
                <a:solidFill>
                  <a:srgbClr val="FFFFFF"/>
                </a:solidFill>
                <a:latin typeface="Montserrat"/>
              </a:defRPr>
            </a:pPr>
            <a:r>
              <a:t>WHY IT FAILS IN PRACTICE</a:t>
            </a:r>
          </a:p>
        </p:txBody>
      </p:sp>
      <p:sp>
        <p:nvSpPr>
          <p:cNvPr id="9" name="Rounded Rectangle 8"/>
          <p:cNvSpPr/>
          <p:nvPr/>
        </p:nvSpPr>
        <p:spPr>
          <a:xfrm>
            <a:off x="3291840" y="1554480"/>
            <a:ext cx="2651760" cy="292608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Data drift: the input distribution in</a:t>
            </a:r>
          </a:p>
          <a:p>
            <a:pPr>
              <a:lnSpc>
                <a:spcPts val="1560"/>
              </a:lnSpc>
              <a:spcAft>
                <a:spcPts val="400"/>
              </a:spcAft>
              <a:defRPr sz="1200">
                <a:solidFill>
                  <a:srgbClr val="3A3A3A"/>
                </a:solidFill>
                <a:latin typeface="Montserrat"/>
              </a:defRPr>
            </a:pPr>
            <a:r>
              <a:t>production diverges from training data —</a:t>
            </a:r>
          </a:p>
          <a:p>
            <a:pPr>
              <a:lnSpc>
                <a:spcPts val="1560"/>
              </a:lnSpc>
              <a:spcAft>
                <a:spcPts val="400"/>
              </a:spcAft>
              <a:defRPr sz="1200">
                <a:solidFill>
                  <a:srgbClr val="3A3A3A"/>
                </a:solidFill>
                <a:latin typeface="Montserrat"/>
              </a:defRPr>
            </a:pPr>
            <a:r>
              <a:t>accuracy silently degrades.</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Concept drift: what was "correct" last</a:t>
            </a:r>
          </a:p>
          <a:p>
            <a:pPr>
              <a:lnSpc>
                <a:spcPts val="1560"/>
              </a:lnSpc>
              <a:spcAft>
                <a:spcPts val="400"/>
              </a:spcAft>
              <a:defRPr sz="1200">
                <a:solidFill>
                  <a:srgbClr val="3A3A3A"/>
                </a:solidFill>
                <a:latin typeface="Montserrat"/>
              </a:defRPr>
            </a:pPr>
            <a:r>
              <a:t>quarter may not be correct now.</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One-time evaluation gives a snapshot —</a:t>
            </a:r>
          </a:p>
          <a:p>
            <a:pPr>
              <a:lnSpc>
                <a:spcPts val="1560"/>
              </a:lnSpc>
              <a:spcAft>
                <a:spcPts val="400"/>
              </a:spcAft>
              <a:defRPr sz="1200">
                <a:solidFill>
                  <a:srgbClr val="3A3A3A"/>
                </a:solidFill>
                <a:latin typeface="Montserrat"/>
              </a:defRPr>
            </a:pPr>
            <a:r>
              <a:t>it tells you nothing about the trend.</a:t>
            </a:r>
          </a:p>
        </p:txBody>
      </p:sp>
      <p:sp>
        <p:nvSpPr>
          <p:cNvPr id="11" name="Rounded Rectangle 10"/>
          <p:cNvSpPr/>
          <p:nvPr/>
        </p:nvSpPr>
        <p:spPr>
          <a:xfrm>
            <a:off x="6172200" y="1554480"/>
            <a:ext cx="2651760" cy="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554480"/>
            <a:ext cx="2651759" cy="0"/>
          </a:xfrm>
          <a:prstGeom prst="rect">
            <a:avLst/>
          </a:prstGeom>
          <a:noFill/>
        </p:spPr>
        <p:txBody>
          <a:bodyPr wrap="square">
            <a:spAutoFit/>
          </a:bodyPr>
          <a:lstStyle/>
          <a:p>
            <a:pPr algn="l">
              <a:defRPr sz="1100" b="1">
                <a:solidFill>
                  <a:srgbClr val="FFFFFF"/>
                </a:solidFill>
                <a:latin typeface="Montserrat"/>
              </a:defRPr>
            </a:pPr>
            <a:r>
              <a:t>ONE CONCRETE TECHNIQUE</a:t>
            </a:r>
          </a:p>
        </p:txBody>
      </p:sp>
      <p:sp>
        <p:nvSpPr>
          <p:cNvPr id="13" name="Rounded Rectangle 12"/>
          <p:cNvSpPr/>
          <p:nvPr/>
        </p:nvSpPr>
        <p:spPr>
          <a:xfrm>
            <a:off x="6172200" y="1554480"/>
            <a:ext cx="2651760" cy="2926080"/>
          </a:xfrm>
          <a:prstGeom prst="roundRect">
            <a:avLst/>
          </a:prstGeom>
          <a:solidFill>
            <a:srgbClr val="E0F7F9"/>
          </a:solidFill>
          <a:ln w="12700">
            <a:solidFill>
              <a:srgbClr val="2EBF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554480"/>
            <a:ext cx="2651759" cy="2926079"/>
          </a:xfrm>
          <a:prstGeom prst="rect">
            <a:avLst/>
          </a:prstGeom>
          <a:noFill/>
        </p:spPr>
        <p:txBody>
          <a:bodyPr wrap="square">
            <a:spAutoFit/>
          </a:bodyPr>
          <a:lstStyle/>
          <a:p>
            <a:pPr>
              <a:lnSpc>
                <a:spcPts val="1560"/>
              </a:lnSpc>
              <a:spcAft>
                <a:spcPts val="400"/>
              </a:spcAft>
              <a:defRPr sz="1200">
                <a:solidFill>
                  <a:srgbClr val="3A3A3A"/>
                </a:solidFill>
                <a:latin typeface="Montserrat"/>
              </a:defRPr>
            </a:pPr>
            <a:r>
              <a:t>Continuous monitoring + scheduled</a:t>
            </a:r>
          </a:p>
          <a:p>
            <a:pPr>
              <a:lnSpc>
                <a:spcPts val="1560"/>
              </a:lnSpc>
              <a:spcAft>
                <a:spcPts val="400"/>
              </a:spcAft>
              <a:defRPr sz="1200">
                <a:solidFill>
                  <a:srgbClr val="3A3A3A"/>
                </a:solidFill>
                <a:latin typeface="Montserrat"/>
              </a:defRPr>
            </a:pPr>
            <a:r>
              <a:t>re-evaluation:</a:t>
            </a:r>
          </a:p>
          <a:p>
            <a:pPr>
              <a:lnSpc>
                <a:spcPts val="1560"/>
              </a:lnSpc>
              <a:spcAft>
                <a:spcPts val="400"/>
              </a:spcAft>
              <a:defRPr sz="1200">
                <a:solidFill>
                  <a:srgbClr val="3A3A3A"/>
                </a:solidFill>
                <a:latin typeface="Montserrat"/>
              </a:defRPr>
            </a:pPr>
          </a:p>
          <a:p>
            <a:pPr>
              <a:lnSpc>
                <a:spcPts val="1560"/>
              </a:lnSpc>
              <a:spcAft>
                <a:spcPts val="400"/>
              </a:spcAft>
              <a:defRPr sz="1200">
                <a:solidFill>
                  <a:srgbClr val="3A3A3A"/>
                </a:solidFill>
                <a:latin typeface="Montserrat"/>
              </a:defRPr>
            </a:pPr>
            <a:r>
              <a:t>• Groundedness/hallucination checks as</a:t>
            </a:r>
          </a:p>
          <a:p>
            <a:pPr>
              <a:lnSpc>
                <a:spcPts val="1560"/>
              </a:lnSpc>
              <a:spcAft>
                <a:spcPts val="400"/>
              </a:spcAft>
              <a:defRPr sz="1200">
                <a:solidFill>
                  <a:srgbClr val="3A3A3A"/>
                </a:solidFill>
                <a:latin typeface="Montserrat"/>
              </a:defRPr>
            </a:pPr>
            <a:r>
              <a:t>  a continuous signal, not pre-deploy only.</a:t>
            </a:r>
          </a:p>
          <a:p>
            <a:pPr>
              <a:lnSpc>
                <a:spcPts val="1560"/>
              </a:lnSpc>
              <a:spcAft>
                <a:spcPts val="400"/>
              </a:spcAft>
              <a:defRPr sz="1200">
                <a:solidFill>
                  <a:srgbClr val="3A3A3A"/>
                </a:solidFill>
                <a:latin typeface="Montserrat"/>
              </a:defRPr>
            </a:pPr>
            <a:r>
              <a:t>• Scheduled eval cadence: run same</a:t>
            </a:r>
          </a:p>
          <a:p>
            <a:pPr>
              <a:lnSpc>
                <a:spcPts val="1560"/>
              </a:lnSpc>
              <a:spcAft>
                <a:spcPts val="400"/>
              </a:spcAft>
              <a:defRPr sz="1200">
                <a:solidFill>
                  <a:srgbClr val="3A3A3A"/>
                </a:solidFill>
                <a:latin typeface="Montserrat"/>
              </a:defRPr>
            </a:pPr>
            <a:r>
              <a:t>  benchmark on fixed schedule.</a:t>
            </a:r>
          </a:p>
          <a:p>
            <a:pPr>
              <a:lnSpc>
                <a:spcPts val="1560"/>
              </a:lnSpc>
              <a:spcAft>
                <a:spcPts val="400"/>
              </a:spcAft>
              <a:defRPr sz="1200">
                <a:solidFill>
                  <a:srgbClr val="3A3A3A"/>
                </a:solidFill>
                <a:latin typeface="Montserrat"/>
              </a:defRPr>
            </a:pPr>
            <a:r>
              <a:t>• Monitor input/output distributions for</a:t>
            </a:r>
          </a:p>
          <a:p>
            <a:pPr>
              <a:lnSpc>
                <a:spcPts val="1560"/>
              </a:lnSpc>
              <a:spcAft>
                <a:spcPts val="400"/>
              </a:spcAft>
              <a:defRPr sz="1200">
                <a:solidFill>
                  <a:srgbClr val="3A3A3A"/>
                </a:solidFill>
                <a:latin typeface="Montserrat"/>
              </a:defRPr>
            </a:pPr>
            <a:r>
              <a:t>  statistical divergence.</a:t>
            </a:r>
          </a:p>
        </p:txBody>
      </p:sp>
      <p:sp>
        <p:nvSpPr>
          <p:cNvPr id="15" name="Rounded Rectangle 14"/>
          <p:cNvSpPr/>
          <p:nvPr/>
        </p:nvSpPr>
        <p:spPr>
          <a:xfrm>
            <a:off x="411480" y="4709160"/>
            <a:ext cx="8321040" cy="36576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36592"/>
            <a:ext cx="8046720" cy="320040"/>
          </a:xfrm>
          <a:prstGeom prst="rect">
            <a:avLst/>
          </a:prstGeom>
          <a:noFill/>
        </p:spPr>
        <p:txBody>
          <a:bodyPr wrap="square">
            <a:spAutoFit/>
          </a:bodyPr>
          <a:lstStyle/>
          <a:p>
            <a:pPr algn="l">
              <a:defRPr sz="1000" b="0">
                <a:solidFill>
                  <a:srgbClr val="3A3A3A"/>
                </a:solidFill>
                <a:latin typeface="Montserrat"/>
              </a:defRPr>
            </a:pPr>
            <a:r>
              <a:t>Key: Reliability is one dimension of trust — it interacts with the other five. Evaluating any single principle in isolation is a partial assessment.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Related Terms &amp; Concepts</a:t>
            </a:r>
          </a:p>
        </p:txBody>
      </p:sp>
      <p:sp>
        <p:nvSpPr>
          <p:cNvPr id="3" name="Rounded Rectangle 2"/>
          <p:cNvSpPr/>
          <p:nvPr/>
        </p:nvSpPr>
        <p:spPr>
          <a:xfrm>
            <a:off x="3657600" y="2834640"/>
            <a:ext cx="1828800" cy="731520"/>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Montserrat"/>
              </a:defRPr>
            </a:pPr>
            <a:r>
              <a:t>Core</a:t>
            </a:r>
            <a:br/>
            <a:r>
              <a:t>Principles</a:t>
            </a:r>
          </a:p>
        </p:txBody>
      </p:sp>
      <p:sp>
        <p:nvSpPr>
          <p:cNvPr id="4" name="Rounded Rectangle 3"/>
          <p:cNvSpPr/>
          <p:nvPr/>
        </p:nvSpPr>
        <p:spPr>
          <a:xfrm>
            <a:off x="4" y="1"/>
            <a:ext cx="914400" cy="54864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Montserrat"/>
              </a:defRPr>
            </a:pPr>
            <a:r>
              <a:t>Fairness</a:t>
            </a:r>
          </a:p>
        </p:txBody>
      </p:sp>
      <p:sp>
        <p:nvSpPr>
          <p:cNvPr id="5" name="Rounded Rectangle 4"/>
          <p:cNvSpPr/>
          <p:nvPr/>
        </p:nvSpPr>
        <p:spPr>
          <a:xfrm>
            <a:off x="6" y="2"/>
            <a:ext cx="914400" cy="548640"/>
          </a:xfrm>
          <a:prstGeom prst="roundRect">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Montserrat"/>
              </a:defRPr>
            </a:pPr>
            <a:r>
              <a:t>Transparency</a:t>
            </a:r>
          </a:p>
        </p:txBody>
      </p:sp>
      <p:sp>
        <p:nvSpPr>
          <p:cNvPr id="6" name="Rounded Rectangle 5"/>
          <p:cNvSpPr/>
          <p:nvPr/>
        </p:nvSpPr>
        <p:spPr>
          <a:xfrm>
            <a:off x="6" y="4"/>
            <a:ext cx="914400" cy="548640"/>
          </a:xfrm>
          <a:prstGeom prst="roundRect">
            <a:avLst/>
          </a:prstGeom>
          <a:solidFill>
            <a:srgbClr val="8BB76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Montserrat"/>
              </a:defRPr>
            </a:pPr>
            <a:r>
              <a:t>Accountability</a:t>
            </a:r>
          </a:p>
        </p:txBody>
      </p:sp>
      <p:sp>
        <p:nvSpPr>
          <p:cNvPr id="7" name="Rounded Rectangle 6"/>
          <p:cNvSpPr/>
          <p:nvPr/>
        </p:nvSpPr>
        <p:spPr>
          <a:xfrm>
            <a:off x="4" y="5"/>
            <a:ext cx="914400" cy="548640"/>
          </a:xfrm>
          <a:prstGeom prst="round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Montserrat"/>
              </a:defRPr>
            </a:pPr>
            <a:r>
              <a:t>Robustness</a:t>
            </a:r>
            <a:br/>
            <a:r>
              <a:t>/ Safety</a:t>
            </a:r>
          </a:p>
        </p:txBody>
      </p:sp>
      <p:sp>
        <p:nvSpPr>
          <p:cNvPr id="8" name="Rounded Rectangle 7"/>
          <p:cNvSpPr/>
          <p:nvPr/>
        </p:nvSpPr>
        <p:spPr>
          <a:xfrm>
            <a:off x="2" y="4"/>
            <a:ext cx="914400" cy="548640"/>
          </a:xfrm>
          <a:prstGeom prst="round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Montserrat"/>
              </a:defRPr>
            </a:pPr>
            <a:r>
              <a:t>Privacy</a:t>
            </a:r>
          </a:p>
        </p:txBody>
      </p:sp>
      <p:sp>
        <p:nvSpPr>
          <p:cNvPr id="9" name="Rounded Rectangle 8"/>
          <p:cNvSpPr/>
          <p:nvPr/>
        </p:nvSpPr>
        <p:spPr>
          <a:xfrm>
            <a:off x="2" y="2"/>
            <a:ext cx="914400" cy="54864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Montserrat"/>
              </a:defRPr>
            </a:pPr>
            <a:r>
              <a:t>Reliability</a:t>
            </a:r>
          </a:p>
        </p:txBody>
      </p:sp>
      <p:sp>
        <p:nvSpPr>
          <p:cNvPr id="10" name="Rounded Rectangle 9"/>
          <p:cNvSpPr/>
          <p:nvPr/>
        </p:nvSpPr>
        <p:spPr>
          <a:xfrm>
            <a:off x="0" y="1"/>
            <a:ext cx="2" cy="1"/>
          </a:xfrm>
          <a:prstGeom prst="roundRect">
            <a:avLst/>
          </a:prstGeom>
          <a:solidFill>
            <a:srgbClr val="FFFFFF"/>
          </a:solidFill>
          <a:ln w="25400">
            <a:solidFill>
              <a:srgbClr val="FDBA4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DBA4D"/>
                </a:solidFill>
                <a:latin typeface="Montserrat"/>
              </a:defRPr>
            </a:pPr>
            <a:r>
              <a:t>Adversarial</a:t>
            </a:r>
            <a:br/>
            <a:r>
              <a:t>Robustness</a:t>
            </a:r>
          </a:p>
          <a:p>
            <a:pPr algn="ctr">
              <a:lnSpc>
                <a:spcPts val="1200"/>
              </a:lnSpc>
              <a:defRPr sz="900">
                <a:solidFill>
                  <a:srgbClr val="4E4F50"/>
                </a:solidFill>
                <a:latin typeface="Montserrat"/>
              </a:defRPr>
            </a:pPr>
            <a:r>
              <a:t>Resistance to inputs crafted</a:t>
            </a:r>
            <a:br/>
            <a:r>
              <a:t>to cause failure: adversarial</a:t>
            </a:r>
            <a:br/>
            <a:r>
              <a:t>examples, prompt injection,</a:t>
            </a:r>
            <a:br/>
            <a:r>
              <a:t>jailbreaks.</a:t>
            </a:r>
          </a:p>
        </p:txBody>
      </p:sp>
      <p:sp>
        <p:nvSpPr>
          <p:cNvPr id="11" name="Rounded Rectangle 10"/>
          <p:cNvSpPr/>
          <p:nvPr/>
        </p:nvSpPr>
        <p:spPr>
          <a:xfrm>
            <a:off x="7" y="1"/>
            <a:ext cx="2" cy="1"/>
          </a:xfrm>
          <a:prstGeom prst="roundRect">
            <a:avLst/>
          </a:prstGeom>
          <a:solidFill>
            <a:srgbClr val="FFFFFF"/>
          </a:solidFill>
          <a:ln w="25400">
            <a:solidFill>
              <a:srgbClr val="6B46C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6B46C1"/>
                </a:solidFill>
                <a:latin typeface="Montserrat"/>
              </a:defRPr>
            </a:pPr>
            <a:r>
              <a:t>Model</a:t>
            </a:r>
            <a:br/>
            <a:r>
              <a:t>Auditing</a:t>
            </a:r>
          </a:p>
          <a:p>
            <a:pPr algn="ctr">
              <a:lnSpc>
                <a:spcPts val="1200"/>
              </a:lnSpc>
              <a:defRPr sz="900">
                <a:solidFill>
                  <a:srgbClr val="4E4F50"/>
                </a:solidFill>
                <a:latin typeface="Montserrat"/>
              </a:defRPr>
            </a:pPr>
            <a:r>
              <a:t>Independent review of data,</a:t>
            </a:r>
            <a:br/>
            <a:r>
              <a:t>training, and behavior against</a:t>
            </a:r>
            <a:br/>
            <a:r>
              <a:t>a standard — increasingly</a:t>
            </a:r>
            <a:br/>
            <a:r>
              <a:t>a regulatory requirement.</a:t>
            </a:r>
          </a:p>
        </p:txBody>
      </p:sp>
      <p:sp>
        <p:nvSpPr>
          <p:cNvPr id="12" name="Rounded Rectangle 11"/>
          <p:cNvSpPr/>
          <p:nvPr/>
        </p:nvSpPr>
        <p:spPr>
          <a:xfrm>
            <a:off x="0" y="3"/>
            <a:ext cx="2" cy="1"/>
          </a:xfrm>
          <a:prstGeom prst="roundRect">
            <a:avLst/>
          </a:prstGeom>
          <a:solidFill>
            <a:srgbClr val="FFFFFF"/>
          </a:solidFill>
          <a:ln w="25400">
            <a:solidFill>
              <a:srgbClr val="2EBFC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2EBFCA"/>
                </a:solidFill>
                <a:latin typeface="Montserrat"/>
              </a:defRPr>
            </a:pPr>
            <a:r>
              <a:t>Regulatory</a:t>
            </a:r>
            <a:br/>
            <a:r>
              <a:t>Frameworks</a:t>
            </a:r>
          </a:p>
          <a:p>
            <a:pPr algn="ctr">
              <a:lnSpc>
                <a:spcPts val="1200"/>
              </a:lnSpc>
              <a:defRPr sz="900">
                <a:solidFill>
                  <a:srgbClr val="4E4F50"/>
                </a:solidFill>
                <a:latin typeface="Montserrat"/>
              </a:defRPr>
            </a:pPr>
            <a:r>
              <a:t>NIST AI RMF (voluntary, 4 functions)</a:t>
            </a:r>
            <a:br/>
            <a:r>
              <a:t>+ EU AI Act (binding law, 4 risk</a:t>
            </a:r>
            <a:br/>
            <a:r>
              <a:t>tiers, effective Aug 2026).</a:t>
            </a:r>
            <a:br/>
            <a:r>
              <a:t>Complementary, not competing.</a:t>
            </a:r>
          </a:p>
        </p:txBody>
      </p:sp>
      <p:sp>
        <p:nvSpPr>
          <p:cNvPr id="13" name="Rounded Rectangle 12"/>
          <p:cNvSpPr/>
          <p:nvPr/>
        </p:nvSpPr>
        <p:spPr>
          <a:xfrm>
            <a:off x="7" y="3"/>
            <a:ext cx="2" cy="1"/>
          </a:xfrm>
          <a:prstGeom prst="roundRect">
            <a:avLst/>
          </a:prstGeom>
          <a:solidFill>
            <a:srgbClr val="FFFFFF"/>
          </a:solidFill>
          <a:ln w="25400">
            <a:solidFill>
              <a:srgbClr val="8BB76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8BB762"/>
                </a:solidFill>
                <a:latin typeface="Montserrat"/>
              </a:defRPr>
            </a:pPr>
            <a:r>
              <a:t>Ethical</a:t>
            </a:r>
            <a:br/>
            <a:r>
              <a:t>Considerations</a:t>
            </a:r>
          </a:p>
          <a:p>
            <a:pPr algn="ctr">
              <a:lnSpc>
                <a:spcPts val="1200"/>
              </a:lnSpc>
              <a:defRPr sz="900">
                <a:solidFill>
                  <a:srgbClr val="4E4F50"/>
                </a:solidFill>
                <a:latin typeface="Montserrat"/>
              </a:defRPr>
            </a:pPr>
            <a:r>
              <a:t>The normative layer: whose</a:t>
            </a:r>
            <a:br/>
            <a:r>
              <a:t>values are encoded, who bears</a:t>
            </a:r>
            <a:br/>
            <a:r>
              <a:t>risk vs. benefit, and what happens</a:t>
            </a:r>
            <a:br/>
            <a:r>
              <a:t>when a metric conflicts with</a:t>
            </a:r>
            <a:br/>
            <a:r>
              <a:t>stakeholders' actual fairness sense.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XAI × Causal AI: Association vs. Causation</a:t>
            </a:r>
          </a:p>
        </p:txBody>
      </p:sp>
      <p:sp>
        <p:nvSpPr>
          <p:cNvPr id="3" name="Rounded Rectangle 2"/>
          <p:cNvSpPr/>
          <p:nvPr/>
        </p:nvSpPr>
        <p:spPr>
          <a:xfrm>
            <a:off x="320040" y="1463040"/>
            <a:ext cx="3977639" cy="3017520"/>
          </a:xfrm>
          <a:prstGeom prst="roundRect">
            <a:avLst/>
          </a:prstGeom>
          <a:solidFill>
            <a:srgbClr val="FFFFFF"/>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463040"/>
            <a:ext cx="3977639" cy="457200"/>
          </a:xfrm>
          <a:prstGeom prst="roundRect">
            <a:avLst/>
          </a:prstGeom>
          <a:solidFill>
            <a:srgbClr val="E8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08760"/>
            <a:ext cx="3657600" cy="365760"/>
          </a:xfrm>
          <a:prstGeom prst="rect">
            <a:avLst/>
          </a:prstGeom>
          <a:noFill/>
        </p:spPr>
        <p:txBody>
          <a:bodyPr wrap="square">
            <a:spAutoFit/>
          </a:bodyPr>
          <a:lstStyle/>
          <a:p>
            <a:pPr algn="l">
              <a:defRPr sz="1300" b="1">
                <a:solidFill>
                  <a:srgbClr val="FFFFFF"/>
                </a:solidFill>
                <a:latin typeface="Montserrat"/>
              </a:defRPr>
            </a:pPr>
            <a:r>
              <a:t>What SHAP / LIME / Attention Gives You</a:t>
            </a:r>
          </a:p>
        </p:txBody>
      </p:sp>
      <p:sp>
        <p:nvSpPr>
          <p:cNvPr id="6" name="TextBox 5"/>
          <p:cNvSpPr txBox="1"/>
          <p:nvPr/>
        </p:nvSpPr>
        <p:spPr>
          <a:xfrm>
            <a:off x="457200" y="2057400"/>
            <a:ext cx="3657600" cy="2286000"/>
          </a:xfrm>
          <a:prstGeom prst="rect">
            <a:avLst/>
          </a:prstGeom>
          <a:noFill/>
        </p:spPr>
        <p:txBody>
          <a:bodyPr wrap="square">
            <a:spAutoFit/>
          </a:bodyPr>
          <a:lstStyle/>
          <a:p>
            <a:pPr>
              <a:lnSpc>
                <a:spcPts val="1620"/>
              </a:lnSpc>
              <a:spcAft>
                <a:spcPts val="400"/>
              </a:spcAft>
              <a:defRPr sz="1200">
                <a:solidFill>
                  <a:srgbClr val="3A3A3A"/>
                </a:solidFill>
                <a:latin typeface="Montserrat"/>
              </a:defRPr>
            </a:pPr>
            <a:r>
              <a:t>Correlational attribution:</a:t>
            </a:r>
          </a:p>
          <a:p>
            <a:pPr>
              <a:lnSpc>
                <a:spcPts val="1620"/>
              </a:lnSpc>
              <a:spcAft>
                <a:spcPts val="400"/>
              </a:spcAft>
              <a:defRPr sz="1200">
                <a:solidFill>
                  <a:srgbClr val="3A3A3A"/>
                </a:solidFill>
                <a:latin typeface="Montserrat"/>
              </a:defRPr>
            </a:pPr>
            <a:r>
              <a:t>"Feature X was associated with output Y"</a:t>
            </a:r>
          </a:p>
          <a:p>
            <a:pPr>
              <a:lnSpc>
                <a:spcPts val="1620"/>
              </a:lnSpc>
              <a:spcAft>
                <a:spcPts val="400"/>
              </a:spcAft>
              <a:defRPr sz="1200">
                <a:solidFill>
                  <a:srgbClr val="3A3A3A"/>
                </a:solidFill>
                <a:latin typeface="Montserrat"/>
              </a:defRPr>
            </a:pPr>
          </a:p>
          <a:p>
            <a:pPr>
              <a:lnSpc>
                <a:spcPts val="1620"/>
              </a:lnSpc>
              <a:spcAft>
                <a:spcPts val="400"/>
              </a:spcAft>
              <a:defRPr sz="1200">
                <a:solidFill>
                  <a:srgbClr val="3A3A3A"/>
                </a:solidFill>
                <a:latin typeface="Montserrat"/>
              </a:defRPr>
            </a:pPr>
            <a:r>
              <a:t>Locally faithful — correct for this one</a:t>
            </a:r>
          </a:p>
          <a:p>
            <a:pPr>
              <a:lnSpc>
                <a:spcPts val="1620"/>
              </a:lnSpc>
              <a:spcAft>
                <a:spcPts val="400"/>
              </a:spcAft>
              <a:defRPr sz="1200">
                <a:solidFill>
                  <a:srgbClr val="3A3A3A"/>
                </a:solidFill>
                <a:latin typeface="Montserrat"/>
              </a:defRPr>
            </a:pPr>
            <a:r>
              <a:t>prediction — but globally silent about</a:t>
            </a:r>
          </a:p>
          <a:p>
            <a:pPr>
              <a:lnSpc>
                <a:spcPts val="1620"/>
              </a:lnSpc>
              <a:spcAft>
                <a:spcPts val="400"/>
              </a:spcAft>
              <a:defRPr sz="1200">
                <a:solidFill>
                  <a:srgbClr val="3A3A3A"/>
                </a:solidFill>
                <a:latin typeface="Montserrat"/>
              </a:defRPr>
            </a:pPr>
            <a:r>
              <a:t>whether the model would fail under</a:t>
            </a:r>
          </a:p>
          <a:p>
            <a:pPr>
              <a:lnSpc>
                <a:spcPts val="1620"/>
              </a:lnSpc>
              <a:spcAft>
                <a:spcPts val="400"/>
              </a:spcAft>
              <a:defRPr sz="1200">
                <a:solidFill>
                  <a:srgbClr val="3A3A3A"/>
                </a:solidFill>
                <a:latin typeface="Montserrat"/>
              </a:defRPr>
            </a:pPr>
            <a:r>
              <a:t>distribution shift.</a:t>
            </a:r>
          </a:p>
          <a:p>
            <a:pPr>
              <a:lnSpc>
                <a:spcPts val="1620"/>
              </a:lnSpc>
              <a:spcAft>
                <a:spcPts val="400"/>
              </a:spcAft>
              <a:defRPr sz="1200">
                <a:solidFill>
                  <a:srgbClr val="3A3A3A"/>
                </a:solidFill>
                <a:latin typeface="Montserrat"/>
              </a:defRPr>
            </a:pPr>
          </a:p>
          <a:p>
            <a:pPr>
              <a:lnSpc>
                <a:spcPts val="1620"/>
              </a:lnSpc>
              <a:spcAft>
                <a:spcPts val="400"/>
              </a:spcAft>
              <a:defRPr sz="1200">
                <a:solidFill>
                  <a:srgbClr val="3A3A3A"/>
                </a:solidFill>
                <a:latin typeface="Montserrat"/>
              </a:defRPr>
            </a:pPr>
            <a:r>
              <a:t>A SHAP value can look reasonable while</a:t>
            </a:r>
          </a:p>
          <a:p>
            <a:pPr>
              <a:lnSpc>
                <a:spcPts val="1620"/>
              </a:lnSpc>
              <a:spcAft>
                <a:spcPts val="400"/>
              </a:spcAft>
              <a:defRPr sz="1200">
                <a:solidFill>
                  <a:srgbClr val="3A3A3A"/>
                </a:solidFill>
                <a:latin typeface="Montserrat"/>
              </a:defRPr>
            </a:pPr>
            <a:r>
              <a:t>the model is latched onto a spurious</a:t>
            </a:r>
          </a:p>
          <a:p>
            <a:pPr>
              <a:lnSpc>
                <a:spcPts val="1620"/>
              </a:lnSpc>
              <a:spcAft>
                <a:spcPts val="400"/>
              </a:spcAft>
              <a:defRPr sz="1200">
                <a:solidFill>
                  <a:srgbClr val="3A3A3A"/>
                </a:solidFill>
                <a:latin typeface="Montserrat"/>
              </a:defRPr>
            </a:pPr>
            <a:r>
              <a:t>correlate of a protected attribute.</a:t>
            </a:r>
          </a:p>
          <a:p>
            <a:pPr>
              <a:lnSpc>
                <a:spcPts val="1620"/>
              </a:lnSpc>
              <a:spcAft>
                <a:spcPts val="400"/>
              </a:spcAft>
              <a:defRPr sz="1200">
                <a:solidFill>
                  <a:srgbClr val="3A3A3A"/>
                </a:solidFill>
                <a:latin typeface="Montserrat"/>
              </a:defRPr>
            </a:pPr>
          </a:p>
          <a:p>
            <a:pPr>
              <a:lnSpc>
                <a:spcPts val="1620"/>
              </a:lnSpc>
              <a:spcAft>
                <a:spcPts val="400"/>
              </a:spcAft>
              <a:defRPr sz="1200">
                <a:solidFill>
                  <a:srgbClr val="3A3A3A"/>
                </a:solidFill>
                <a:latin typeface="Montserrat"/>
              </a:defRPr>
            </a:pPr>
            <a:r>
              <a:t>→ Right for the wrong reason.</a:t>
            </a:r>
          </a:p>
        </p:txBody>
      </p:sp>
      <p:sp>
        <p:nvSpPr>
          <p:cNvPr id="7" name="Rounded Rectangle 6"/>
          <p:cNvSpPr/>
          <p:nvPr/>
        </p:nvSpPr>
        <p:spPr>
          <a:xfrm>
            <a:off x="4617720" y="1463040"/>
            <a:ext cx="3977639" cy="3017520"/>
          </a:xfrm>
          <a:prstGeom prst="roundRect">
            <a:avLst/>
          </a:prstGeom>
          <a:solidFill>
            <a:srgbClr val="FFFFFF"/>
          </a:solidFill>
          <a:ln w="12700">
            <a:solidFill>
              <a:srgbClr val="2EBF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17720" y="1463040"/>
            <a:ext cx="3977639" cy="457200"/>
          </a:xfrm>
          <a:prstGeom prst="roundRect">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508760"/>
            <a:ext cx="3657600" cy="365760"/>
          </a:xfrm>
          <a:prstGeom prst="rect">
            <a:avLst/>
          </a:prstGeom>
          <a:noFill/>
        </p:spPr>
        <p:txBody>
          <a:bodyPr wrap="square">
            <a:spAutoFit/>
          </a:bodyPr>
          <a:lstStyle/>
          <a:p>
            <a:pPr algn="l">
              <a:defRPr sz="1300" b="1">
                <a:solidFill>
                  <a:srgbClr val="FFFFFF"/>
                </a:solidFill>
                <a:latin typeface="Montserrat"/>
              </a:defRPr>
            </a:pPr>
            <a:r>
              <a:t>What Causal Explanations Add</a:t>
            </a:r>
          </a:p>
        </p:txBody>
      </p:sp>
      <p:sp>
        <p:nvSpPr>
          <p:cNvPr id="10" name="TextBox 9"/>
          <p:cNvSpPr txBox="1"/>
          <p:nvPr/>
        </p:nvSpPr>
        <p:spPr>
          <a:xfrm>
            <a:off x="4754880" y="2057400"/>
            <a:ext cx="3657600" cy="2286000"/>
          </a:xfrm>
          <a:prstGeom prst="rect">
            <a:avLst/>
          </a:prstGeom>
          <a:noFill/>
        </p:spPr>
        <p:txBody>
          <a:bodyPr wrap="square">
            <a:spAutoFit/>
          </a:bodyPr>
          <a:lstStyle/>
          <a:p>
            <a:pPr>
              <a:lnSpc>
                <a:spcPts val="1620"/>
              </a:lnSpc>
              <a:spcAft>
                <a:spcPts val="400"/>
              </a:spcAft>
              <a:defRPr sz="1200">
                <a:solidFill>
                  <a:srgbClr val="3A3A3A"/>
                </a:solidFill>
                <a:latin typeface="Montserrat"/>
              </a:defRPr>
            </a:pPr>
            <a:r>
              <a:t>Counterfactual reasoning:</a:t>
            </a:r>
          </a:p>
          <a:p>
            <a:pPr>
              <a:lnSpc>
                <a:spcPts val="1620"/>
              </a:lnSpc>
              <a:spcAft>
                <a:spcPts val="400"/>
              </a:spcAft>
              <a:defRPr sz="1200">
                <a:solidFill>
                  <a:srgbClr val="3A3A3A"/>
                </a:solidFill>
                <a:latin typeface="Montserrat"/>
              </a:defRPr>
            </a:pPr>
            <a:r>
              <a:t>"If X had been different, would the</a:t>
            </a:r>
          </a:p>
          <a:p>
            <a:pPr>
              <a:lnSpc>
                <a:spcPts val="1620"/>
              </a:lnSpc>
              <a:spcAft>
                <a:spcPts val="400"/>
              </a:spcAft>
              <a:defRPr sz="1200">
                <a:solidFill>
                  <a:srgbClr val="3A3A3A"/>
                </a:solidFill>
                <a:latin typeface="Montserrat"/>
              </a:defRPr>
            </a:pPr>
            <a:r>
              <a:t>outcome have changed?"</a:t>
            </a:r>
          </a:p>
          <a:p>
            <a:pPr>
              <a:lnSpc>
                <a:spcPts val="1620"/>
              </a:lnSpc>
              <a:spcAft>
                <a:spcPts val="400"/>
              </a:spcAft>
              <a:defRPr sz="1200">
                <a:solidFill>
                  <a:srgbClr val="3A3A3A"/>
                </a:solidFill>
                <a:latin typeface="Montserrat"/>
              </a:defRPr>
            </a:pPr>
          </a:p>
          <a:p>
            <a:pPr>
              <a:lnSpc>
                <a:spcPts val="1620"/>
              </a:lnSpc>
              <a:spcAft>
                <a:spcPts val="400"/>
              </a:spcAft>
              <a:defRPr sz="1200">
                <a:solidFill>
                  <a:srgbClr val="3A3A3A"/>
                </a:solidFill>
                <a:latin typeface="Montserrat"/>
              </a:defRPr>
            </a:pPr>
            <a:r>
              <a:t>Causal graphs tie explanations to actual</a:t>
            </a:r>
          </a:p>
          <a:p>
            <a:pPr>
              <a:lnSpc>
                <a:spcPts val="1620"/>
              </a:lnSpc>
              <a:spcAft>
                <a:spcPts val="400"/>
              </a:spcAft>
              <a:defRPr sz="1200">
                <a:solidFill>
                  <a:srgbClr val="3A3A3A"/>
                </a:solidFill>
                <a:latin typeface="Montserrat"/>
              </a:defRPr>
            </a:pPr>
            <a:r>
              <a:t>mechanisms — far more robust to</a:t>
            </a:r>
          </a:p>
          <a:p>
            <a:pPr>
              <a:lnSpc>
                <a:spcPts val="1620"/>
              </a:lnSpc>
              <a:spcAft>
                <a:spcPts val="400"/>
              </a:spcAft>
              <a:defRPr sz="1200">
                <a:solidFill>
                  <a:srgbClr val="3A3A3A"/>
                </a:solidFill>
                <a:latin typeface="Montserrat"/>
              </a:defRPr>
            </a:pPr>
            <a:r>
              <a:t>distribution shift and harder to game.</a:t>
            </a:r>
          </a:p>
          <a:p>
            <a:pPr>
              <a:lnSpc>
                <a:spcPts val="1620"/>
              </a:lnSpc>
              <a:spcAft>
                <a:spcPts val="400"/>
              </a:spcAft>
              <a:defRPr sz="1200">
                <a:solidFill>
                  <a:srgbClr val="3A3A3A"/>
                </a:solidFill>
                <a:latin typeface="Montserrat"/>
              </a:defRPr>
            </a:pPr>
          </a:p>
          <a:p>
            <a:pPr>
              <a:lnSpc>
                <a:spcPts val="1620"/>
              </a:lnSpc>
              <a:spcAft>
                <a:spcPts val="400"/>
              </a:spcAft>
              <a:defRPr sz="1200">
                <a:solidFill>
                  <a:srgbClr val="3A3A3A"/>
                </a:solidFill>
                <a:latin typeface="Montserrat"/>
              </a:defRPr>
            </a:pPr>
            <a:r>
              <a:t>A causal explanation surviving a shift is</a:t>
            </a:r>
          </a:p>
          <a:p>
            <a:pPr>
              <a:lnSpc>
                <a:spcPts val="1620"/>
              </a:lnSpc>
              <a:spcAft>
                <a:spcPts val="400"/>
              </a:spcAft>
              <a:defRPr sz="1200">
                <a:solidFill>
                  <a:srgbClr val="3A3A3A"/>
                </a:solidFill>
                <a:latin typeface="Montserrat"/>
              </a:defRPr>
            </a:pPr>
            <a:r>
              <a:t>genuine evidence of trustworthiness; a</a:t>
            </a:r>
          </a:p>
          <a:p>
            <a:pPr>
              <a:lnSpc>
                <a:spcPts val="1620"/>
              </a:lnSpc>
              <a:spcAft>
                <a:spcPts val="400"/>
              </a:spcAft>
              <a:defRPr sz="1200">
                <a:solidFill>
                  <a:srgbClr val="3A3A3A"/>
                </a:solidFill>
                <a:latin typeface="Montserrat"/>
              </a:defRPr>
            </a:pPr>
            <a:r>
              <a:t>correlational one surviving is not</a:t>
            </a:r>
          </a:p>
          <a:p>
            <a:pPr>
              <a:lnSpc>
                <a:spcPts val="1620"/>
              </a:lnSpc>
              <a:spcAft>
                <a:spcPts val="400"/>
              </a:spcAft>
              <a:defRPr sz="1200">
                <a:solidFill>
                  <a:srgbClr val="3A3A3A"/>
                </a:solidFill>
                <a:latin typeface="Montserrat"/>
              </a:defRPr>
            </a:pPr>
            <a:r>
              <a:t>evidence either way.</a:t>
            </a:r>
          </a:p>
          <a:p>
            <a:pPr>
              <a:lnSpc>
                <a:spcPts val="1620"/>
              </a:lnSpc>
              <a:spcAft>
                <a:spcPts val="400"/>
              </a:spcAft>
              <a:defRPr sz="1200">
                <a:solidFill>
                  <a:srgbClr val="3A3A3A"/>
                </a:solidFill>
                <a:latin typeface="Montserrat"/>
              </a:defRPr>
            </a:pPr>
          </a:p>
          <a:p>
            <a:pPr>
              <a:lnSpc>
                <a:spcPts val="1620"/>
              </a:lnSpc>
              <a:spcAft>
                <a:spcPts val="400"/>
              </a:spcAft>
              <a:defRPr sz="1200">
                <a:solidFill>
                  <a:srgbClr val="3A3A3A"/>
                </a:solidFill>
                <a:latin typeface="Montserrat"/>
              </a:defRPr>
            </a:pPr>
            <a:r>
              <a:t>→ Right for the right reason.</a:t>
            </a:r>
          </a:p>
        </p:txBody>
      </p:sp>
      <p:sp>
        <p:nvSpPr>
          <p:cNvPr id="11" name="Rounded Rectangle 10"/>
          <p:cNvSpPr/>
          <p:nvPr/>
        </p:nvSpPr>
        <p:spPr>
          <a:xfrm>
            <a:off x="320040" y="4709160"/>
            <a:ext cx="8321040" cy="41148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736592"/>
            <a:ext cx="8046720" cy="320040"/>
          </a:xfrm>
          <a:prstGeom prst="rect">
            <a:avLst/>
          </a:prstGeom>
          <a:noFill/>
        </p:spPr>
        <p:txBody>
          <a:bodyPr wrap="square">
            <a:spAutoFit/>
          </a:bodyPr>
          <a:lstStyle/>
          <a:p>
            <a:pPr algn="l">
              <a:defRPr sz="1200" b="1">
                <a:solidFill>
                  <a:srgbClr val="3A3A3A"/>
                </a:solidFill>
                <a:latin typeface="Montserrat"/>
              </a:defRPr>
            </a:pPr>
            <a:r>
              <a:t>Practical takeaway: You don't need a full causal model. Ask "is this explanation counterfactually testable?" — that alone is a meaningfully more rigorous bar.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Putting It All Together</a:t>
            </a:r>
          </a:p>
        </p:txBody>
      </p:sp>
      <p:sp>
        <p:nvSpPr>
          <p:cNvPr id="3" name="Oval 2"/>
          <p:cNvSpPr/>
          <p:nvPr/>
        </p:nvSpPr>
        <p:spPr>
          <a:xfrm>
            <a:off x="502920" y="1737360"/>
            <a:ext cx="502920" cy="502920"/>
          </a:xfrm>
          <a:prstGeom prst="ellipse">
            <a:avLst/>
          </a:prstGeom>
          <a:solidFill>
            <a:srgbClr val="2EBFC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latin typeface="Montserrat"/>
              </a:defRPr>
            </a:pPr>
            <a:r>
              <a:t>1</a:t>
            </a:r>
          </a:p>
        </p:txBody>
      </p:sp>
      <p:sp>
        <p:nvSpPr>
          <p:cNvPr id="4" name="TextBox 3"/>
          <p:cNvSpPr txBox="1"/>
          <p:nvPr/>
        </p:nvSpPr>
        <p:spPr>
          <a:xfrm>
            <a:off x="1188720" y="1600200"/>
            <a:ext cx="3200400" cy="502920"/>
          </a:xfrm>
          <a:prstGeom prst="rect">
            <a:avLst/>
          </a:prstGeom>
          <a:noFill/>
        </p:spPr>
        <p:txBody>
          <a:bodyPr wrap="square">
            <a:spAutoFit/>
          </a:bodyPr>
          <a:lstStyle/>
          <a:p>
            <a:pPr algn="l">
              <a:defRPr sz="1600" b="1">
                <a:solidFill>
                  <a:srgbClr val="2EBFCA"/>
                </a:solidFill>
                <a:latin typeface="Montserrat"/>
              </a:defRPr>
            </a:pPr>
            <a:r>
              <a:t>Explainability</a:t>
            </a:r>
            <a:br/>
            <a:r>
              <a:t>is necessary</a:t>
            </a:r>
          </a:p>
        </p:txBody>
      </p:sp>
      <p:sp>
        <p:nvSpPr>
          <p:cNvPr id="5" name="TextBox 4"/>
          <p:cNvSpPr txBox="1"/>
          <p:nvPr/>
        </p:nvSpPr>
        <p:spPr>
          <a:xfrm>
            <a:off x="1188720" y="2148840"/>
            <a:ext cx="7498079" cy="502920"/>
          </a:xfrm>
          <a:prstGeom prst="rect">
            <a:avLst/>
          </a:prstGeom>
          <a:noFill/>
        </p:spPr>
        <p:txBody>
          <a:bodyPr wrap="square">
            <a:spAutoFit/>
          </a:bodyPr>
          <a:lstStyle/>
          <a:p>
            <a:pPr algn="l">
              <a:defRPr sz="1200" b="0">
                <a:solidFill>
                  <a:srgbClr val="3A3A3A"/>
                </a:solidFill>
                <a:latin typeface="Montserrat"/>
              </a:defRPr>
            </a:pPr>
            <a:r>
              <a:t>XAI methods give local, correlational explanations — useful for debugging, insufficient for trust. Explanations are inputs to trust judgments, not the judgment itself.</a:t>
            </a:r>
          </a:p>
        </p:txBody>
      </p:sp>
      <p:sp>
        <p:nvSpPr>
          <p:cNvPr id="6" name="Oval 5"/>
          <p:cNvSpPr/>
          <p:nvPr/>
        </p:nvSpPr>
        <p:spPr>
          <a:xfrm>
            <a:off x="502920" y="2926080"/>
            <a:ext cx="502920" cy="502920"/>
          </a:xfrm>
          <a:prstGeom prst="ellipse">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latin typeface="Montserrat"/>
              </a:defRPr>
            </a:pPr>
            <a:r>
              <a:t>2</a:t>
            </a:r>
          </a:p>
        </p:txBody>
      </p:sp>
      <p:sp>
        <p:nvSpPr>
          <p:cNvPr id="7" name="TextBox 6"/>
          <p:cNvSpPr txBox="1"/>
          <p:nvPr/>
        </p:nvSpPr>
        <p:spPr>
          <a:xfrm>
            <a:off x="1188720" y="2788920"/>
            <a:ext cx="3200400" cy="502920"/>
          </a:xfrm>
          <a:prstGeom prst="rect">
            <a:avLst/>
          </a:prstGeom>
          <a:noFill/>
        </p:spPr>
        <p:txBody>
          <a:bodyPr wrap="square">
            <a:spAutoFit/>
          </a:bodyPr>
          <a:lstStyle/>
          <a:p>
            <a:pPr algn="l">
              <a:defRPr sz="1600" b="1">
                <a:solidFill>
                  <a:srgbClr val="FDBA4D"/>
                </a:solidFill>
                <a:latin typeface="Montserrat"/>
              </a:defRPr>
            </a:pPr>
            <a:r>
              <a:t>Causal reasoning</a:t>
            </a:r>
            <a:br/>
            <a:r>
              <a:t>is the upgrade</a:t>
            </a:r>
          </a:p>
        </p:txBody>
      </p:sp>
      <p:sp>
        <p:nvSpPr>
          <p:cNvPr id="8" name="TextBox 7"/>
          <p:cNvSpPr txBox="1"/>
          <p:nvPr/>
        </p:nvSpPr>
        <p:spPr>
          <a:xfrm>
            <a:off x="1188720" y="3337560"/>
            <a:ext cx="7498079" cy="502920"/>
          </a:xfrm>
          <a:prstGeom prst="rect">
            <a:avLst/>
          </a:prstGeom>
          <a:noFill/>
        </p:spPr>
        <p:txBody>
          <a:bodyPr wrap="square">
            <a:spAutoFit/>
          </a:bodyPr>
          <a:lstStyle/>
          <a:p>
            <a:pPr algn="l">
              <a:defRPr sz="1200" b="0">
                <a:solidFill>
                  <a:srgbClr val="3A3A3A"/>
                </a:solidFill>
                <a:latin typeface="Montserrat"/>
              </a:defRPr>
            </a:pPr>
            <a:r>
              <a:t>Counterfactual reasoning and causal graphs give explanations tied to mechanisms — more robust to shift. Even asking 'is this counterfactually testable?' raises the bar.</a:t>
            </a:r>
          </a:p>
        </p:txBody>
      </p:sp>
      <p:sp>
        <p:nvSpPr>
          <p:cNvPr id="9" name="Oval 8"/>
          <p:cNvSpPr/>
          <p:nvPr/>
        </p:nvSpPr>
        <p:spPr>
          <a:xfrm>
            <a:off x="502920" y="4114800"/>
            <a:ext cx="502920" cy="502920"/>
          </a:xfrm>
          <a:prstGeom prst="ellipse">
            <a:avLst/>
          </a:prstGeom>
          <a:solidFill>
            <a:srgbClr val="2074B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latin typeface="Montserrat"/>
              </a:defRPr>
            </a:pPr>
            <a:r>
              <a:t>3</a:t>
            </a:r>
          </a:p>
        </p:txBody>
      </p:sp>
      <p:sp>
        <p:nvSpPr>
          <p:cNvPr id="10" name="TextBox 9"/>
          <p:cNvSpPr txBox="1"/>
          <p:nvPr/>
        </p:nvSpPr>
        <p:spPr>
          <a:xfrm>
            <a:off x="1188720" y="3977639"/>
            <a:ext cx="3200400" cy="502920"/>
          </a:xfrm>
          <a:prstGeom prst="rect">
            <a:avLst/>
          </a:prstGeom>
          <a:noFill/>
        </p:spPr>
        <p:txBody>
          <a:bodyPr wrap="square">
            <a:spAutoFit/>
          </a:bodyPr>
          <a:lstStyle/>
          <a:p>
            <a:pPr algn="l">
              <a:defRPr sz="1600" b="1">
                <a:solidFill>
                  <a:srgbClr val="2074B9"/>
                </a:solidFill>
                <a:latin typeface="Montserrat"/>
              </a:defRPr>
            </a:pPr>
            <a:r>
              <a:t>System-level trust</a:t>
            </a:r>
            <a:br/>
            <a:r>
              <a:t>is the answer</a:t>
            </a:r>
          </a:p>
        </p:txBody>
      </p:sp>
      <p:sp>
        <p:nvSpPr>
          <p:cNvPr id="11" name="TextBox 10"/>
          <p:cNvSpPr txBox="1"/>
          <p:nvPr/>
        </p:nvSpPr>
        <p:spPr>
          <a:xfrm>
            <a:off x="1188720" y="4526280"/>
            <a:ext cx="7498079" cy="502920"/>
          </a:xfrm>
          <a:prstGeom prst="rect">
            <a:avLst/>
          </a:prstGeom>
          <a:noFill/>
        </p:spPr>
        <p:txBody>
          <a:bodyPr wrap="square">
            <a:spAutoFit/>
          </a:bodyPr>
          <a:lstStyle/>
          <a:p>
            <a:pPr algn="l">
              <a:defRPr sz="1200" b="0">
                <a:solidFill>
                  <a:srgbClr val="3A3A3A"/>
                </a:solidFill>
                <a:latin typeface="Montserrat"/>
              </a:defRPr>
            </a:pPr>
            <a:r>
              <a:t>Trustworthiness isn't one property you measure once. It's a system-level property verified continuously across all seven NIST characteristics — and the next section shows how.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Resources &amp; Further Reading</a:t>
            </a:r>
          </a:p>
        </p:txBody>
      </p:sp>
      <p:sp>
        <p:nvSpPr>
          <p:cNvPr id="3" name="TextBox 2"/>
          <p:cNvSpPr txBox="1"/>
          <p:nvPr/>
        </p:nvSpPr>
        <p:spPr>
          <a:xfrm>
            <a:off x="457200" y="1417320"/>
            <a:ext cx="8229600" cy="201168"/>
          </a:xfrm>
          <a:prstGeom prst="rect">
            <a:avLst/>
          </a:prstGeom>
          <a:noFill/>
        </p:spPr>
        <p:txBody>
          <a:bodyPr wrap="square">
            <a:spAutoFit/>
          </a:bodyPr>
          <a:lstStyle/>
          <a:p>
            <a:pPr algn="l">
              <a:defRPr sz="1100" b="1">
                <a:solidFill>
                  <a:srgbClr val="3A3A3A"/>
                </a:solidFill>
                <a:latin typeface="Montserrat"/>
              </a:defRPr>
            </a:pPr>
            <a:r>
              <a:t>NIST AI Risk Management Framework (AI RMF 1.0)</a:t>
            </a:r>
          </a:p>
        </p:txBody>
      </p:sp>
      <p:sp>
        <p:nvSpPr>
          <p:cNvPr id="4" name="TextBox 3"/>
          <p:cNvSpPr txBox="1"/>
          <p:nvPr/>
        </p:nvSpPr>
        <p:spPr>
          <a:xfrm>
            <a:off x="457200" y="1600200"/>
            <a:ext cx="8229600" cy="256032"/>
          </a:xfrm>
          <a:prstGeom prst="rect">
            <a:avLst/>
          </a:prstGeom>
          <a:noFill/>
        </p:spPr>
        <p:txBody>
          <a:bodyPr wrap="square">
            <a:spAutoFit/>
          </a:bodyPr>
          <a:lstStyle/>
          <a:p>
            <a:pPr algn="l">
              <a:defRPr sz="900" b="0">
                <a:solidFill>
                  <a:srgbClr val="4E4F50"/>
                </a:solidFill>
                <a:latin typeface="Montserrat"/>
              </a:defRPr>
            </a:pPr>
            <a:r>
              <a:t>Four-function core (Govern/Map/Measure/Manage) + Generative AI Profile (NIST AI 600-1) for LLM/agentic risks. nist.gov</a:t>
            </a:r>
          </a:p>
        </p:txBody>
      </p:sp>
      <p:sp>
        <p:nvSpPr>
          <p:cNvPr id="5" name="Rectangle 4"/>
          <p:cNvSpPr/>
          <p:nvPr/>
        </p:nvSpPr>
        <p:spPr>
          <a:xfrm>
            <a:off x="457200" y="1874519"/>
            <a:ext cx="8229600" cy="457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856231"/>
            <a:ext cx="8229600" cy="201168"/>
          </a:xfrm>
          <a:prstGeom prst="rect">
            <a:avLst/>
          </a:prstGeom>
          <a:noFill/>
        </p:spPr>
        <p:txBody>
          <a:bodyPr wrap="square">
            <a:spAutoFit/>
          </a:bodyPr>
          <a:lstStyle/>
          <a:p>
            <a:pPr algn="l">
              <a:defRPr sz="1100" b="1">
                <a:solidFill>
                  <a:srgbClr val="3A3A3A"/>
                </a:solidFill>
                <a:latin typeface="Montserrat"/>
              </a:defRPr>
            </a:pPr>
            <a:r>
              <a:t>Christoph Molnar — Interpretable Machine Learning</a:t>
            </a:r>
          </a:p>
        </p:txBody>
      </p:sp>
      <p:sp>
        <p:nvSpPr>
          <p:cNvPr id="7" name="TextBox 6"/>
          <p:cNvSpPr txBox="1"/>
          <p:nvPr/>
        </p:nvSpPr>
        <p:spPr>
          <a:xfrm>
            <a:off x="457200" y="2039112"/>
            <a:ext cx="8229600" cy="256032"/>
          </a:xfrm>
          <a:prstGeom prst="rect">
            <a:avLst/>
          </a:prstGeom>
          <a:noFill/>
        </p:spPr>
        <p:txBody>
          <a:bodyPr wrap="square">
            <a:spAutoFit/>
          </a:bodyPr>
          <a:lstStyle/>
          <a:p>
            <a:pPr algn="l">
              <a:defRPr sz="900" b="0">
                <a:solidFill>
                  <a:srgbClr val="4E4F50"/>
                </a:solidFill>
                <a:latin typeface="Montserrat"/>
              </a:defRPr>
            </a:pPr>
            <a:r>
              <a:t>Free online book; standard reference for XAI methods (LIME, SHAP, permutation importance). christophm.github.io/interpretable-ml-book</a:t>
            </a:r>
          </a:p>
        </p:txBody>
      </p:sp>
      <p:sp>
        <p:nvSpPr>
          <p:cNvPr id="8" name="Rectangle 7"/>
          <p:cNvSpPr/>
          <p:nvPr/>
        </p:nvSpPr>
        <p:spPr>
          <a:xfrm>
            <a:off x="457200" y="2313432"/>
            <a:ext cx="8229600" cy="457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95144"/>
            <a:ext cx="8229600" cy="201168"/>
          </a:xfrm>
          <a:prstGeom prst="rect">
            <a:avLst/>
          </a:prstGeom>
          <a:noFill/>
        </p:spPr>
        <p:txBody>
          <a:bodyPr wrap="square">
            <a:spAutoFit/>
          </a:bodyPr>
          <a:lstStyle/>
          <a:p>
            <a:pPr algn="l">
              <a:defRPr sz="1100" b="1">
                <a:solidFill>
                  <a:srgbClr val="3A3A3A"/>
                </a:solidFill>
                <a:latin typeface="Montserrat"/>
              </a:defRPr>
            </a:pPr>
            <a:r>
              <a:t>Samek et al. — Explainable AI (2019)</a:t>
            </a:r>
          </a:p>
        </p:txBody>
      </p:sp>
      <p:sp>
        <p:nvSpPr>
          <p:cNvPr id="10" name="TextBox 9"/>
          <p:cNvSpPr txBox="1"/>
          <p:nvPr/>
        </p:nvSpPr>
        <p:spPr>
          <a:xfrm>
            <a:off x="457200" y="2478024"/>
            <a:ext cx="8229600" cy="256032"/>
          </a:xfrm>
          <a:prstGeom prst="rect">
            <a:avLst/>
          </a:prstGeom>
          <a:noFill/>
        </p:spPr>
        <p:txBody>
          <a:bodyPr wrap="square">
            <a:spAutoFit/>
          </a:bodyPr>
          <a:lstStyle/>
          <a:p>
            <a:pPr algn="l">
              <a:defRPr sz="900" b="0">
                <a:solidFill>
                  <a:srgbClr val="4E4F50"/>
                </a:solidFill>
                <a:latin typeface="Montserrat"/>
              </a:defRPr>
            </a:pPr>
            <a:r>
              <a:t>Deeper technical grounding on XAI specifically for deep learning. Springer LNCS vol. 11700.</a:t>
            </a:r>
          </a:p>
        </p:txBody>
      </p:sp>
      <p:sp>
        <p:nvSpPr>
          <p:cNvPr id="11" name="Rectangle 10"/>
          <p:cNvSpPr/>
          <p:nvPr/>
        </p:nvSpPr>
        <p:spPr>
          <a:xfrm>
            <a:off x="457200" y="2752344"/>
            <a:ext cx="8229600" cy="457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734056"/>
            <a:ext cx="8229600" cy="201168"/>
          </a:xfrm>
          <a:prstGeom prst="rect">
            <a:avLst/>
          </a:prstGeom>
          <a:noFill/>
        </p:spPr>
        <p:txBody>
          <a:bodyPr wrap="square">
            <a:spAutoFit/>
          </a:bodyPr>
          <a:lstStyle/>
          <a:p>
            <a:pPr algn="l">
              <a:defRPr sz="1100" b="1">
                <a:solidFill>
                  <a:srgbClr val="3A3A3A"/>
                </a:solidFill>
                <a:latin typeface="Montserrat"/>
              </a:defRPr>
            </a:pPr>
            <a:r>
              <a:t>EU AI Act — Official Text</a:t>
            </a:r>
          </a:p>
        </p:txBody>
      </p:sp>
      <p:sp>
        <p:nvSpPr>
          <p:cNvPr id="13" name="TextBox 12"/>
          <p:cNvSpPr txBox="1"/>
          <p:nvPr/>
        </p:nvSpPr>
        <p:spPr>
          <a:xfrm>
            <a:off x="457200" y="2916936"/>
            <a:ext cx="8229600" cy="256032"/>
          </a:xfrm>
          <a:prstGeom prst="rect">
            <a:avLst/>
          </a:prstGeom>
          <a:noFill/>
        </p:spPr>
        <p:txBody>
          <a:bodyPr wrap="square">
            <a:spAutoFit/>
          </a:bodyPr>
          <a:lstStyle/>
          <a:p>
            <a:pPr algn="l">
              <a:defRPr sz="900" b="0">
                <a:solidFill>
                  <a:srgbClr val="4E4F50"/>
                </a:solidFill>
                <a:latin typeface="Montserrat"/>
              </a:defRPr>
            </a:pPr>
            <a:r>
              <a:t>Binding EU law with four risk tiers, effective August 2026. artificialintelligenceact.eu</a:t>
            </a:r>
          </a:p>
        </p:txBody>
      </p:sp>
      <p:sp>
        <p:nvSpPr>
          <p:cNvPr id="14" name="Rectangle 13"/>
          <p:cNvSpPr/>
          <p:nvPr/>
        </p:nvSpPr>
        <p:spPr>
          <a:xfrm>
            <a:off x="457200" y="3191256"/>
            <a:ext cx="8229600" cy="457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172968"/>
            <a:ext cx="8229600" cy="201168"/>
          </a:xfrm>
          <a:prstGeom prst="rect">
            <a:avLst/>
          </a:prstGeom>
          <a:noFill/>
        </p:spPr>
        <p:txBody>
          <a:bodyPr wrap="square">
            <a:spAutoFit/>
          </a:bodyPr>
          <a:lstStyle/>
          <a:p>
            <a:pPr algn="l">
              <a:defRPr sz="1100" b="1">
                <a:solidFill>
                  <a:srgbClr val="3A3A3A"/>
                </a:solidFill>
                <a:latin typeface="Montserrat"/>
              </a:defRPr>
            </a:pPr>
            <a:r>
              <a:t>Dwork &amp; Roth — Algorithmic Foundations of Differential Privacy (2014)</a:t>
            </a:r>
          </a:p>
        </p:txBody>
      </p:sp>
      <p:sp>
        <p:nvSpPr>
          <p:cNvPr id="16" name="TextBox 15"/>
          <p:cNvSpPr txBox="1"/>
          <p:nvPr/>
        </p:nvSpPr>
        <p:spPr>
          <a:xfrm>
            <a:off x="457200" y="3355848"/>
            <a:ext cx="8229600" cy="256032"/>
          </a:xfrm>
          <a:prstGeom prst="rect">
            <a:avLst/>
          </a:prstGeom>
          <a:noFill/>
        </p:spPr>
        <p:txBody>
          <a:bodyPr wrap="square">
            <a:spAutoFit/>
          </a:bodyPr>
          <a:lstStyle/>
          <a:p>
            <a:pPr algn="l">
              <a:defRPr sz="900" b="0">
                <a:solidFill>
                  <a:srgbClr val="4E4F50"/>
                </a:solidFill>
                <a:latin typeface="Montserrat"/>
              </a:defRPr>
            </a:pPr>
            <a:r>
              <a:t>The foundational text on formal privacy guarantees via calibrated noise.</a:t>
            </a:r>
          </a:p>
        </p:txBody>
      </p:sp>
      <p:sp>
        <p:nvSpPr>
          <p:cNvPr id="17" name="Rectangle 16"/>
          <p:cNvSpPr/>
          <p:nvPr/>
        </p:nvSpPr>
        <p:spPr>
          <a:xfrm>
            <a:off x="457200" y="3630168"/>
            <a:ext cx="8229600" cy="457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611880"/>
            <a:ext cx="8229600" cy="201168"/>
          </a:xfrm>
          <a:prstGeom prst="rect">
            <a:avLst/>
          </a:prstGeom>
          <a:noFill/>
        </p:spPr>
        <p:txBody>
          <a:bodyPr wrap="square">
            <a:spAutoFit/>
          </a:bodyPr>
          <a:lstStyle/>
          <a:p>
            <a:pPr algn="l">
              <a:defRPr sz="1100" b="1">
                <a:solidFill>
                  <a:srgbClr val="3A3A3A"/>
                </a:solidFill>
                <a:latin typeface="Montserrat"/>
              </a:defRPr>
            </a:pPr>
            <a:r>
              <a:t>Mitchell et al. — Model Cards for Model Reporting (2019)</a:t>
            </a:r>
          </a:p>
        </p:txBody>
      </p:sp>
      <p:sp>
        <p:nvSpPr>
          <p:cNvPr id="19" name="TextBox 18"/>
          <p:cNvSpPr txBox="1"/>
          <p:nvPr/>
        </p:nvSpPr>
        <p:spPr>
          <a:xfrm>
            <a:off x="457200" y="3794760"/>
            <a:ext cx="8229600" cy="256032"/>
          </a:xfrm>
          <a:prstGeom prst="rect">
            <a:avLst/>
          </a:prstGeom>
          <a:noFill/>
        </p:spPr>
        <p:txBody>
          <a:bodyPr wrap="square">
            <a:spAutoFit/>
          </a:bodyPr>
          <a:lstStyle/>
          <a:p>
            <a:pPr algn="l">
              <a:defRPr sz="900" b="0">
                <a:solidFill>
                  <a:srgbClr val="4E4F50"/>
                </a:solidFill>
                <a:latin typeface="Montserrat"/>
              </a:defRPr>
            </a:pPr>
            <a:r>
              <a:t>Standardized framework for transparent model documentation. FAccT 2019.</a:t>
            </a:r>
          </a:p>
        </p:txBody>
      </p:sp>
      <p:sp>
        <p:nvSpPr>
          <p:cNvPr id="20" name="Rectangle 19"/>
          <p:cNvSpPr/>
          <p:nvPr/>
        </p:nvSpPr>
        <p:spPr>
          <a:xfrm>
            <a:off x="457200" y="4069080"/>
            <a:ext cx="8229600" cy="457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050791"/>
            <a:ext cx="8229600" cy="201168"/>
          </a:xfrm>
          <a:prstGeom prst="rect">
            <a:avLst/>
          </a:prstGeom>
          <a:noFill/>
        </p:spPr>
        <p:txBody>
          <a:bodyPr wrap="square">
            <a:spAutoFit/>
          </a:bodyPr>
          <a:lstStyle/>
          <a:p>
            <a:pPr algn="l">
              <a:defRPr sz="1100" b="1">
                <a:solidFill>
                  <a:srgbClr val="3A3A3A"/>
                </a:solidFill>
                <a:latin typeface="Montserrat"/>
              </a:defRPr>
            </a:pPr>
            <a:r>
              <a:t>Gebru et al. — Datasheets for Datasets (2018)</a:t>
            </a:r>
          </a:p>
        </p:txBody>
      </p:sp>
      <p:sp>
        <p:nvSpPr>
          <p:cNvPr id="22" name="TextBox 21"/>
          <p:cNvSpPr txBox="1"/>
          <p:nvPr/>
        </p:nvSpPr>
        <p:spPr>
          <a:xfrm>
            <a:off x="457200" y="4233672"/>
            <a:ext cx="8229600" cy="256032"/>
          </a:xfrm>
          <a:prstGeom prst="rect">
            <a:avLst/>
          </a:prstGeom>
          <a:noFill/>
        </p:spPr>
        <p:txBody>
          <a:bodyPr wrap="square">
            <a:spAutoFit/>
          </a:bodyPr>
          <a:lstStyle/>
          <a:p>
            <a:pPr algn="l">
              <a:defRPr sz="900" b="0">
                <a:solidFill>
                  <a:srgbClr val="4E4F50"/>
                </a:solidFill>
                <a:latin typeface="Montserrat"/>
              </a:defRPr>
            </a:pPr>
            <a:r>
              <a:t>Standardized dataset documentation: motivation, composition, collection. Communications of the ACM, 2021.</a:t>
            </a:r>
          </a:p>
        </p:txBody>
      </p:sp>
      <p:sp>
        <p:nvSpPr>
          <p:cNvPr id="23" name="TextBox 22"/>
          <p:cNvSpPr txBox="1"/>
          <p:nvPr/>
        </p:nvSpPr>
        <p:spPr>
          <a:xfrm>
            <a:off x="457200" y="4572000"/>
            <a:ext cx="8229600" cy="182880"/>
          </a:xfrm>
          <a:prstGeom prst="rect">
            <a:avLst/>
          </a:prstGeom>
          <a:noFill/>
        </p:spPr>
        <p:txBody>
          <a:bodyPr wrap="square">
            <a:spAutoFit/>
          </a:bodyPr>
          <a:lstStyle/>
          <a:p>
            <a:pPr algn="l">
              <a:defRPr sz="1000" b="0">
                <a:solidFill>
                  <a:srgbClr val="4E4F50"/>
                </a:solidFill>
                <a:latin typeface="Montserrat"/>
              </a:defRPr>
            </a:pPr>
            <a:r>
              <a:t>This slide is designed to be screenshotted — all citations in one place.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311700" y="286500"/>
            <a:ext cx="8520600" cy="572700"/>
          </a:xfrm>
          <a:prstGeom prst="rect">
            <a:avLst/>
          </a:prstGeom>
          <a:ln>
            <a:noFill/>
          </a:ln>
        </p:spPr>
        <p:txBody>
          <a:bodyPr spcFirstLastPara="1" wrap="square" lIns="91425" tIns="91425" rIns="91425" bIns="91425" anchor="ctr" anchorCtr="0">
            <a:noAutofit/>
          </a:bodyPr>
          <a:lstStyle/>
          <a:p>
            <a:r>
              <a:t>Codebase → Framework Mapping</a:t>
            </a:r>
          </a:p>
        </p:txBody>
      </p:sp>
      <p:graphicFrame>
        <p:nvGraphicFramePr>
          <p:cNvPr id="227" name="Table 226"/>
          <p:cNvGraphicFramePr>
            <a:graphicFrameLocks noGrp="1"/>
          </p:cNvGraphicFramePr>
          <p:nvPr/>
        </p:nvGraphicFramePr>
        <p:xfrm>
          <a:off x="952500" y="1681950"/>
          <a:ext cx="3000000" cy="3000000"/>
        </p:xfrm>
        <a:graphic>
          <a:graphicData uri="http://schemas.openxmlformats.org/drawingml/2006/table">
            <a:tbl>
              <a:tblPr firstRow="1" bandRow="1">
                <a:tableStyleId>{5C22544A-7EE6-4342-B048-85BDC9FD1C3A}</a:tableStyleId>
              </a:tblPr>
              <a:tblGrid>
                <a:gridCol w="1350000"/>
                <a:gridCol w="1650000"/>
              </a:tblGrid>
              <a:tr h="333333">
                <a:tc>
                  <a:txBody>
                    <a:bodyPr/>
                    <a:lstStyle/>
                    <a:p>
                      <a:pPr>
                        <a:defRPr sz="1400" b="1">
                          <a:solidFill>
                            <a:srgbClr val="FFFFFF"/>
                          </a:solidFill>
                          <a:latin typeface="Montserrat"/>
                        </a:defRPr>
                      </a:pPr>
                      <a:r>
                        <a:t>Principle / Concept</a:t>
                      </a:r>
                    </a:p>
                  </a:txBody>
                  <a:tcPr marT="36576" marB="36576">
                    <a:solidFill>
                      <a:srgbClr val="2074B9"/>
                    </a:solidFill>
                  </a:tcPr>
                </a:tc>
                <a:tc>
                  <a:txBody>
                    <a:bodyPr/>
                    <a:lstStyle/>
                    <a:p>
                      <a:pPr>
                        <a:defRPr sz="1400" b="1">
                          <a:solidFill>
                            <a:srgbClr val="FFFFFF"/>
                          </a:solidFill>
                          <a:latin typeface="Montserrat"/>
                        </a:defRPr>
                      </a:pPr>
                      <a:r>
                        <a:t>What We Built</a:t>
                      </a:r>
                    </a:p>
                  </a:txBody>
                  <a:tcPr marT="36576" marB="36576">
                    <a:solidFill>
                      <a:srgbClr val="2074B9"/>
                    </a:solidFill>
                  </a:tcPr>
                </a:tc>
              </a:tr>
              <a:tr h="333333">
                <a:tc>
                  <a:txBody>
                    <a:bodyPr/>
                    <a:lstStyle/>
                    <a:p>
                      <a:pPr>
                        <a:defRPr sz="1200" b="0">
                          <a:latin typeface="Montserrat"/>
                        </a:defRPr>
                      </a:pPr>
                      <a:r>
                        <a:t>Fairness (bias detection)</a:t>
                      </a:r>
                    </a:p>
                  </a:txBody>
                  <a:tcPr marT="36576" marB="36576">
                    <a:solidFill>
                      <a:srgbClr val="FFFFFF"/>
                    </a:solidFill>
                  </a:tcPr>
                </a:tc>
                <a:tc>
                  <a:txBody>
                    <a:bodyPr/>
                    <a:lstStyle/>
                    <a:p>
                      <a:pPr>
                        <a:defRPr sz="1200" b="0">
                          <a:latin typeface="Montserrat"/>
                        </a:defRPr>
                      </a:pPr>
                      <a:r>
                        <a:t>Counterfactual test suite — same technique described in Core Principles</a:t>
                      </a:r>
                    </a:p>
                  </a:txBody>
                  <a:tcPr marT="36576" marB="36576">
                    <a:solidFill>
                      <a:srgbClr val="FFFFFF"/>
                    </a:solidFill>
                  </a:tcPr>
                </a:tc>
              </a:tr>
              <a:tr h="333333">
                <a:tc>
                  <a:txBody>
                    <a:bodyPr/>
                    <a:lstStyle/>
                    <a:p>
                      <a:pPr>
                        <a:defRPr sz="1200" b="0">
                          <a:latin typeface="Montserrat"/>
                        </a:defRPr>
                      </a:pPr>
                      <a:r>
                        <a:t>Transparency / Accountability</a:t>
                      </a:r>
                    </a:p>
                  </a:txBody>
                  <a:tcPr marT="36576" marB="36576">
                    <a:solidFill>
                      <a:srgbClr val="F0F2F5"/>
                    </a:solidFill>
                  </a:tcPr>
                </a:tc>
                <a:tc>
                  <a:txBody>
                    <a:bodyPr/>
                    <a:lstStyle/>
                    <a:p>
                      <a:pPr>
                        <a:defRPr sz="1200" b="0">
                          <a:latin typeface="Montserrat"/>
                        </a:defRPr>
                      </a:pPr>
                      <a:r>
                        <a:t>Governance plane, append-only audit log, policy-versioned constitution document</a:t>
                      </a:r>
                    </a:p>
                  </a:txBody>
                  <a:tcPr marT="36576" marB="36576">
                    <a:solidFill>
                      <a:srgbClr val="F0F2F5"/>
                    </a:solidFill>
                  </a:tcPr>
                </a:tc>
              </a:tr>
              <a:tr h="333333">
                <a:tc>
                  <a:txBody>
                    <a:bodyPr/>
                    <a:lstStyle/>
                    <a:p>
                      <a:pPr>
                        <a:defRPr sz="1200" b="0">
                          <a:latin typeface="Montserrat"/>
                        </a:defRPr>
                      </a:pPr>
                      <a:r>
                        <a:t>Robustness / Safety (adversarial)</a:t>
                      </a:r>
                    </a:p>
                  </a:txBody>
                  <a:tcPr marT="36576" marB="36576">
                    <a:solidFill>
                      <a:srgbClr val="FFFFFF"/>
                    </a:solidFill>
                  </a:tcPr>
                </a:tc>
                <a:tc>
                  <a:txBody>
                    <a:bodyPr/>
                    <a:lstStyle/>
                    <a:p>
                      <a:pPr>
                        <a:defRPr sz="1200" b="0">
                          <a:latin typeface="Montserrat"/>
                        </a:defRPr>
                      </a:pPr>
                      <a:r>
                        <a:t>Red-team harness (Garak / PyRIT), prompt injection defenses, input sanitization</a:t>
                      </a:r>
                    </a:p>
                  </a:txBody>
                  <a:tcPr marT="36576" marB="36576">
                    <a:solidFill>
                      <a:srgbClr val="FFFFFF"/>
                    </a:solidFill>
                  </a:tcPr>
                </a:tc>
              </a:tr>
              <a:tr h="333333">
                <a:tc>
                  <a:txBody>
                    <a:bodyPr/>
                    <a:lstStyle/>
                    <a:p>
                      <a:pPr>
                        <a:defRPr sz="1200" b="0">
                          <a:latin typeface="Montserrat"/>
                        </a:defRPr>
                      </a:pPr>
                      <a:r>
                        <a:t>Privacy</a:t>
                      </a:r>
                    </a:p>
                  </a:txBody>
                  <a:tcPr marT="36576" marB="36576">
                    <a:solidFill>
                      <a:srgbClr val="F0F2F5"/>
                    </a:solidFill>
                  </a:tcPr>
                </a:tc>
                <a:tc>
                  <a:txBody>
                    <a:bodyPr/>
                    <a:lstStyle/>
                    <a:p>
                      <a:pPr>
                        <a:defRPr sz="1200" b="0">
                          <a:latin typeface="Montserrat"/>
                        </a:defRPr>
                      </a:pPr>
                      <a:r>
                        <a:t>PII detection/redaction pipeline (Presidio-based). ⚠ Honest note: this is redaction/tokenization, not differential privacy.</a:t>
                      </a:r>
                    </a:p>
                  </a:txBody>
                  <a:tcPr marT="36576" marB="36576">
                    <a:solidFill>
                      <a:srgbClr val="F0F2F5"/>
                    </a:solidFill>
                  </a:tcPr>
                </a:tc>
              </a:tr>
              <a:tr h="333333">
                <a:tc>
                  <a:txBody>
                    <a:bodyPr/>
                    <a:lstStyle/>
                    <a:p>
                      <a:pPr>
                        <a:defRPr sz="1200" b="0">
                          <a:latin typeface="Montserrat"/>
                        </a:defRPr>
                      </a:pPr>
                      <a:r>
                        <a:t>Reliability</a:t>
                      </a:r>
                    </a:p>
                  </a:txBody>
                  <a:tcPr marT="36576" marB="36576">
                    <a:solidFill>
                      <a:srgbClr val="FFFFFF"/>
                    </a:solidFill>
                  </a:tcPr>
                </a:tc>
                <a:tc>
                  <a:txBody>
                    <a:bodyPr/>
                    <a:lstStyle/>
                    <a:p>
                      <a:pPr>
                        <a:defRPr sz="1200" b="0">
                          <a:latin typeface="Montserrat"/>
                        </a:defRPr>
                      </a:pPr>
                      <a:r>
                        <a:t>Groundedness / hallucination checks, scheduled eval cadence, drift monitoring</a:t>
                      </a:r>
                    </a:p>
                  </a:txBody>
                  <a:tcPr marT="36576" marB="36576">
                    <a:solidFill>
                      <a:srgbClr val="FFFFFF"/>
                    </a:solidFill>
                  </a:tcPr>
                </a:tc>
              </a:tr>
              <a:tr h="333333">
                <a:tc>
                  <a:txBody>
                    <a:bodyPr/>
                    <a:lstStyle/>
                    <a:p>
                      <a:pPr>
                        <a:defRPr sz="1200" b="0">
                          <a:latin typeface="Montserrat"/>
                        </a:defRPr>
                      </a:pPr>
                      <a:r>
                        <a:t>Human-AI collaboration</a:t>
                      </a:r>
                    </a:p>
                  </a:txBody>
                  <a:tcPr marT="36576" marB="36576">
                    <a:solidFill>
                      <a:srgbClr val="F0F2F5"/>
                    </a:solidFill>
                  </a:tcPr>
                </a:tc>
                <a:tc>
                  <a:txBody>
                    <a:bodyPr/>
                    <a:lstStyle/>
                    <a:p>
                      <a:pPr>
                        <a:defRPr sz="1200" b="0">
                          <a:latin typeface="Montserrat"/>
                        </a:defRPr>
                      </a:pPr>
                      <a:r>
                        <a:t>HITL approval queue surfacing model reasoning vs. action divergence</a:t>
                      </a:r>
                    </a:p>
                  </a:txBody>
                  <a:tcPr marT="36576" marB="36576">
                    <a:solidFill>
                      <a:srgbClr val="F0F2F5"/>
                    </a:solidFill>
                  </a:tcPr>
                </a:tc>
              </a:tr>
              <a:tr h="333333">
                <a:tc>
                  <a:txBody>
                    <a:bodyPr/>
                    <a:lstStyle/>
                    <a:p>
                      <a:pPr>
                        <a:defRPr sz="1200" b="0">
                          <a:latin typeface="Montserrat"/>
                        </a:defRPr>
                      </a:pPr>
                      <a:r>
                        <a:t>Regulatory (NIST functions)</a:t>
                      </a:r>
                    </a:p>
                  </a:txBody>
                  <a:tcPr marT="36576" marB="36576">
                    <a:solidFill>
                      <a:srgbClr val="FFFFFF"/>
                    </a:solidFill>
                  </a:tcPr>
                </a:tc>
                <a:tc>
                  <a:txBody>
                    <a:bodyPr/>
                    <a:lstStyle/>
                    <a:p>
                      <a:pPr>
                        <a:defRPr sz="1200" b="0">
                          <a:latin typeface="Montserrat"/>
                        </a:defRPr>
                      </a:pPr>
                      <a:r>
                        <a:t>Govern → policy docs; Map → data classification tiers; Measure → eval suite; Manage → incident review loop</a:t>
                      </a:r>
                    </a:p>
                  </a:txBody>
                  <a:tcPr marT="36576" marB="36576">
                    <a:solidFill>
                      <a:srgbClr val="FFFFFF"/>
                    </a:solidFill>
                  </a:tcPr>
                </a:tc>
              </a:tr>
              <a:tr h="333336">
                <a:tc>
                  <a:txBody>
                    <a:bodyPr/>
                    <a:lstStyle/>
                    <a:p>
                      <a:pPr>
                        <a:defRPr sz="1200" b="0">
                          <a:latin typeface="Montserrat"/>
                        </a:defRPr>
                      </a:pPr>
                      <a:r>
                        <a:t>Explainability vs. trustworthiness</a:t>
                      </a:r>
                    </a:p>
                  </a:txBody>
                  <a:tcPr marT="36576" marB="36576">
                    <a:solidFill>
                      <a:srgbClr val="F0F2F5"/>
                    </a:solidFill>
                  </a:tcPr>
                </a:tc>
                <a:tc>
                  <a:txBody>
                    <a:bodyPr/>
                    <a:lstStyle/>
                    <a:p>
                      <a:pPr>
                        <a:defRPr sz="1200" b="0">
                          <a:latin typeface="Montserrat"/>
                        </a:defRPr>
                      </a:pPr>
                      <a:r>
                        <a:t>What we do NOT do: model-internals interpretability. Guardrails and governance, not SHAP/LIME integration.</a:t>
                      </a:r>
                    </a:p>
                  </a:txBody>
                  <a:tcPr marT="36576" marB="36576">
                    <a:solidFill>
                      <a:srgbClr val="F0F2F5"/>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What We Don't Do (Yet)</a:t>
            </a:r>
          </a:p>
        </p:txBody>
      </p:sp>
      <p:sp>
        <p:nvSpPr>
          <p:cNvPr id="3" name="Rectangle 2"/>
          <p:cNvSpPr/>
          <p:nvPr/>
        </p:nvSpPr>
        <p:spPr>
          <a:xfrm>
            <a:off x="457200" y="1645920"/>
            <a:ext cx="54864" cy="822960"/>
          </a:xfrm>
          <a:prstGeom prst="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7772400" cy="274320"/>
          </a:xfrm>
          <a:prstGeom prst="rect">
            <a:avLst/>
          </a:prstGeom>
          <a:noFill/>
        </p:spPr>
        <p:txBody>
          <a:bodyPr wrap="square">
            <a:spAutoFit/>
          </a:bodyPr>
          <a:lstStyle/>
          <a:p>
            <a:pPr algn="l">
              <a:defRPr sz="1600" b="1">
                <a:solidFill>
                  <a:srgbClr val="3A3A3A"/>
                </a:solidFill>
                <a:latin typeface="Montserrat"/>
              </a:defRPr>
            </a:pPr>
            <a:r>
              <a:t>No model-internals interpretability</a:t>
            </a:r>
          </a:p>
        </p:txBody>
      </p:sp>
      <p:sp>
        <p:nvSpPr>
          <p:cNvPr id="5" name="TextBox 4"/>
          <p:cNvSpPr txBox="1"/>
          <p:nvPr/>
        </p:nvSpPr>
        <p:spPr>
          <a:xfrm>
            <a:off x="685800" y="1938528"/>
            <a:ext cx="7772400" cy="502920"/>
          </a:xfrm>
          <a:prstGeom prst="rect">
            <a:avLst/>
          </a:prstGeom>
          <a:noFill/>
        </p:spPr>
        <p:txBody>
          <a:bodyPr wrap="square">
            <a:spAutoFit/>
          </a:bodyPr>
          <a:lstStyle/>
          <a:p>
            <a:pPr algn="l">
              <a:lnSpc>
                <a:spcPts val="1620"/>
              </a:lnSpc>
              <a:defRPr sz="1200" b="0">
                <a:solidFill>
                  <a:srgbClr val="4E4F50"/>
                </a:solidFill>
                <a:latin typeface="Montserrat"/>
              </a:defRPr>
            </a:pPr>
            <a:r>
              <a:t>We have guardrails and governance — not SHAP/LIME integration or attention visualization. Our trustworthiness comes from system-level controls, not from peering inside the model. This is a legitimate architectural choice, but it's worth naming explicitly.</a:t>
            </a:r>
          </a:p>
        </p:txBody>
      </p:sp>
      <p:sp>
        <p:nvSpPr>
          <p:cNvPr id="6" name="Rectangle 5"/>
          <p:cNvSpPr/>
          <p:nvPr/>
        </p:nvSpPr>
        <p:spPr>
          <a:xfrm>
            <a:off x="457200" y="2834640"/>
            <a:ext cx="54864" cy="822960"/>
          </a:xfrm>
          <a:prstGeom prst="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834640"/>
            <a:ext cx="7772400" cy="274320"/>
          </a:xfrm>
          <a:prstGeom prst="rect">
            <a:avLst/>
          </a:prstGeom>
          <a:noFill/>
        </p:spPr>
        <p:txBody>
          <a:bodyPr wrap="square">
            <a:spAutoFit/>
          </a:bodyPr>
          <a:lstStyle/>
          <a:p>
            <a:pPr algn="l">
              <a:defRPr sz="1600" b="1">
                <a:solidFill>
                  <a:srgbClr val="3A3A3A"/>
                </a:solidFill>
                <a:latin typeface="Montserrat"/>
              </a:defRPr>
            </a:pPr>
            <a:r>
              <a:t>Redaction ≠ Differential Privacy</a:t>
            </a:r>
          </a:p>
        </p:txBody>
      </p:sp>
      <p:sp>
        <p:nvSpPr>
          <p:cNvPr id="8" name="TextBox 7"/>
          <p:cNvSpPr txBox="1"/>
          <p:nvPr/>
        </p:nvSpPr>
        <p:spPr>
          <a:xfrm>
            <a:off x="685800" y="3127248"/>
            <a:ext cx="7772400" cy="502920"/>
          </a:xfrm>
          <a:prstGeom prst="rect">
            <a:avLst/>
          </a:prstGeom>
          <a:noFill/>
        </p:spPr>
        <p:txBody>
          <a:bodyPr wrap="square">
            <a:spAutoFit/>
          </a:bodyPr>
          <a:lstStyle/>
          <a:p>
            <a:pPr algn="l">
              <a:lnSpc>
                <a:spcPts val="1620"/>
              </a:lnSpc>
              <a:defRPr sz="1200" b="0">
                <a:solidFill>
                  <a:srgbClr val="4E4F50"/>
                </a:solidFill>
                <a:latin typeface="Montserrat"/>
              </a:defRPr>
            </a:pPr>
            <a:r>
              <a:t>Our PII pipeline (Presidio) does detection and redaction/tokenization — it prevents PII in model inputs and outputs. It does NOT provide the formal mathematical guarantee of differential privacy. Different tools for different threat models; honesty is in not conflating them.</a:t>
            </a:r>
          </a:p>
        </p:txBody>
      </p:sp>
      <p:sp>
        <p:nvSpPr>
          <p:cNvPr id="9" name="Rectangle 8"/>
          <p:cNvSpPr/>
          <p:nvPr/>
        </p:nvSpPr>
        <p:spPr>
          <a:xfrm>
            <a:off x="457200" y="4023360"/>
            <a:ext cx="54864" cy="822960"/>
          </a:xfrm>
          <a:prstGeom prst="rect">
            <a:avLst/>
          </a:prstGeom>
          <a:solidFill>
            <a:srgbClr val="FDB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023360"/>
            <a:ext cx="7772400" cy="274320"/>
          </a:xfrm>
          <a:prstGeom prst="rect">
            <a:avLst/>
          </a:prstGeom>
          <a:noFill/>
        </p:spPr>
        <p:txBody>
          <a:bodyPr wrap="square">
            <a:spAutoFit/>
          </a:bodyPr>
          <a:lstStyle/>
          <a:p>
            <a:pPr algn="l">
              <a:defRPr sz="1600" b="1">
                <a:solidFill>
                  <a:srgbClr val="3A3A3A"/>
                </a:solidFill>
                <a:latin typeface="Montserrat"/>
              </a:defRPr>
            </a:pPr>
            <a:r>
              <a:t>Causal explanations are aspirational</a:t>
            </a:r>
          </a:p>
        </p:txBody>
      </p:sp>
      <p:sp>
        <p:nvSpPr>
          <p:cNvPr id="11" name="TextBox 10"/>
          <p:cNvSpPr txBox="1"/>
          <p:nvPr/>
        </p:nvSpPr>
        <p:spPr>
          <a:xfrm>
            <a:off x="685800" y="4315968"/>
            <a:ext cx="7772400" cy="502920"/>
          </a:xfrm>
          <a:prstGeom prst="rect">
            <a:avLst/>
          </a:prstGeom>
          <a:noFill/>
        </p:spPr>
        <p:txBody>
          <a:bodyPr wrap="square">
            <a:spAutoFit/>
          </a:bodyPr>
          <a:lstStyle/>
          <a:p>
            <a:pPr algn="l">
              <a:lnSpc>
                <a:spcPts val="1620"/>
              </a:lnSpc>
              <a:defRPr sz="1200" b="0">
                <a:solidFill>
                  <a:srgbClr val="4E4F50"/>
                </a:solidFill>
                <a:latin typeface="Montserrat"/>
              </a:defRPr>
            </a:pPr>
            <a:r>
              <a:t>The XAI × Causal AI section described where the field is going. Our current system does not implement counterfactual explanation generation or causal graph-based reasoning. The practical takeaway — ask whether an explanation is counterfactually testable — is a review discipline we can adopt today.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Which of These Seven Characteristics</a:t>
            </a:r>
            <a:br/>
            <a:r>
              <a:t>Is Hardest to Verify in Your Team's Systems Today — and Why?</a:t>
            </a:r>
          </a:p>
        </p:txBody>
      </p:sp>
      <p:sp>
        <p:nvSpPr>
          <p:cNvPr id="3" name="TextBox 2"/>
          <p:cNvSpPr txBox="1"/>
          <p:nvPr/>
        </p:nvSpPr>
        <p:spPr>
          <a:xfrm>
            <a:off x="502920" y="3474720"/>
            <a:ext cx="7315200" cy="457200"/>
          </a:xfrm>
          <a:prstGeom prst="rect">
            <a:avLst/>
          </a:prstGeom>
          <a:noFill/>
        </p:spPr>
        <p:txBody>
          <a:bodyPr wrap="square">
            <a:spAutoFit/>
          </a:bodyPr>
          <a:lstStyle/>
          <a:p>
            <a:pPr algn="l">
              <a:defRPr sz="1400" b="0">
                <a:solidFill>
                  <a:srgbClr val="4E4F50"/>
                </a:solidFill>
                <a:latin typeface="Montserrat"/>
              </a:defRPr>
            </a:pPr>
            <a:r>
              <a:t>(No wrong answers — the goal is to surface where the gaps are,</a:t>
            </a:r>
            <a:br/>
            <a:r>
              <a:t>not to pretend every dimension is equally well-covered.)</a:t>
            </a:r>
          </a:p>
        </p:txBody>
      </p:sp>
      <p:sp>
        <p:nvSpPr>
          <p:cNvPr id="4" name="TextBox 3"/>
          <p:cNvSpPr txBox="1"/>
          <p:nvPr/>
        </p:nvSpPr>
        <p:spPr>
          <a:xfrm>
            <a:off x="502920" y="4389120"/>
            <a:ext cx="7315200" cy="365760"/>
          </a:xfrm>
          <a:prstGeom prst="rect">
            <a:avLst/>
          </a:prstGeom>
          <a:noFill/>
        </p:spPr>
        <p:txBody>
          <a:bodyPr wrap="square">
            <a:spAutoFit/>
          </a:bodyPr>
          <a:lstStyle/>
          <a:p>
            <a:pPr algn="l">
              <a:defRPr sz="1300" b="0">
                <a:solidFill>
                  <a:srgbClr val="4E4F50"/>
                </a:solidFill>
                <a:latin typeface="Montserrat"/>
              </a:defRPr>
            </a:pPr>
            <a:r>
              <a:t>Thank you. Questions, challenges, and pushback welcome.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3A3A3A"/>
      </a:dk2>
      <a:lt2>
        <a:srgbClr val="4E4F50"/>
      </a:lt2>
      <a:accent1>
        <a:srgbClr val="2074B9"/>
      </a:accent1>
      <a:accent2>
        <a:srgbClr val="58A4E2"/>
      </a:accent2>
      <a:accent3>
        <a:srgbClr val="2EBFCA"/>
      </a:accent3>
      <a:accent4>
        <a:srgbClr val="FDBA4D"/>
      </a:accent4>
      <a:accent5>
        <a:srgbClr val="8BB762"/>
      </a:accent5>
      <a:accent6>
        <a:srgbClr val="E85B5B"/>
      </a:accent6>
      <a:hlink>
        <a:srgbClr val="2071B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16781</Words>
  <Application>WPS Presentation</Application>
  <PresentationFormat/>
  <Paragraphs>613</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24</vt:i4>
      </vt:variant>
    </vt:vector>
  </HeadingPairs>
  <TitlesOfParts>
    <vt:vector size="34" baseType="lpstr">
      <vt:lpstr>Arial</vt:lpstr>
      <vt:lpstr>SimSun</vt:lpstr>
      <vt:lpstr>Wingdings</vt:lpstr>
      <vt:lpstr>Arial</vt:lpstr>
      <vt:lpstr>Montserrat</vt:lpstr>
      <vt:lpstr>Calibri</vt:lpstr>
      <vt:lpstr>Microsoft YaHei</vt:lpstr>
      <vt:lpstr>Arial Unicode MS</vt:lpstr>
      <vt:lpstr>Simple Light</vt:lpstr>
      <vt:lpstr>Simple Light</vt:lpstr>
      <vt:lpstr>PowerPoint 演示文稿</vt:lpstr>
      <vt:lpstr>PowerPoint 演示文稿</vt:lpstr>
      <vt:lpstr>PowerPoint 演示文稿</vt:lpstr>
      <vt:lpstr>What Is Trustworthy AI?</vt:lpstr>
      <vt:lpstr>Three Ways AI Systems Fail</vt:lpstr>
      <vt:lpstr>Why Do We Need Trustworthy AI?</vt:lpstr>
      <vt:lpstr>Regulatory Reality: Trustworthiness Is No Longer Optional</vt:lpstr>
      <vt:lpstr>The Explainability Trap</vt:lpstr>
      <vt:lpstr>Five Reasons "Explainable" ≠ "Trustworthy"</vt:lpstr>
      <vt:lpstr>Two Harder Problems</vt:lpstr>
      <vt:lpstr>Explainability Is an Input to Trust, Not the Output</vt:lpstr>
      <vt:lpstr>Core Principle: Fairness</vt:lpstr>
      <vt:lpstr>Core Principle: Transparency</vt:lpstr>
      <vt:lpstr>Core Principle: Accountability</vt:lpstr>
      <vt:lpstr>Core Principle: Robustness / Safety</vt:lpstr>
      <vt:lpstr>Core Principle: Privacy</vt:lpstr>
      <vt:lpstr>Core Principle: Reliability</vt:lpstr>
      <vt:lpstr>Related Terms &amp; Concepts</vt:lpstr>
      <vt:lpstr>XAI × Causal AI: Association vs. Causation</vt:lpstr>
      <vt:lpstr>Putting It All Together</vt:lpstr>
      <vt:lpstr>Resources &amp; Further Reading</vt:lpstr>
      <vt:lpstr>Codebase → Framework Mapping</vt:lpstr>
      <vt:lpstr>What We Don't Do (Yet)</vt:lpstr>
      <vt:lpstr>Which of These Seven Characteristics Is Hardest to Verify in Your Team's Systems Today — and Why?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Aashish Pokharel</cp:lastModifiedBy>
  <cp:revision>2</cp:revision>
  <dcterms:created xsi:type="dcterms:W3CDTF">2026-07-22T16:35:57Z</dcterms:created>
  <dcterms:modified xsi:type="dcterms:W3CDTF">2026-07-22T16:36:07Z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298D0C7A34DC4F17952AB7C7C402C46B_12</vt:lpwstr>
  </property>
  <property fmtid="{D5CDD505-2E9C-101B-9397-08002B2CF9AE}" pid="3" name="KSOProductBuildVer">
    <vt:lpwstr>1033-12.1.0.27458</vt:lpwstr>
  </property>
</Properties>
</file>